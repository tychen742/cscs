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Lst>
  <p:notesMasterIdLst>
    <p:notesMasterId r:id="rId6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23: Advanced Searching and Sorting.
Existing 110-minute chapter allocation: 40 minutes search boundaries;40 minutes sort invariants;30 minutes workload comparison. Supporting parts are selected separately.
Part 23.1: Duplicate-Aware Search Contracts, starting slide 2.
Part 23.2: Elementary Sort Invariants, starting slide 17.
Part 23.3: Comparing Complete Search and Sort Workloads, starting slide 32.
Part 23.4: Shell Sort and Gap Families, starting slide 47.
Part 23.5: Quicksort and Partitioning, starting slide 57.
Each core part is a reading unit; follow the current three-meeting allocation rather than add one meeting per part. Supporting parts are explicitly optional. Quick-check and Your turn answers remain in these instructor notes; the student HTML omits them. All complete C# examples are standalone and recorded in the code verification manifest.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addresses specify first, any, and all-match results, trace half-open lower and upper bounds, make ordering and equality compatible. Read 2301_searching.html with the worked examples. Use the selected trace and nearby practice within the chapter's existing meeting allocation; this part is a reading unit, not an extra required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these goals to the chapter objectives before starting. The running case is: A supplier report contains several equal totals. Any-match search cannot identify the whole group by itself. Ask learners to predict one result before execution. Revisit the same contract at the recap rather than introducing an unrelated API tour.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result the stakeholder actually needs. Lower bound is the first key at least the target. A faster program is useful only when it still answers that question. Ask students to name one input or policy that would change the answer, then introduce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obligation in the running case. The interval always shrinks. Returning Length is a valid boundary result, but it is not a valid element index. Separate what clients can rely on from representation details. Ask what a missing, empty, tied, or invalid input means before moving to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rows in order and pause before revealing the next state on screen. Target two occupies [1,3). In the table, target three has equal insertion boundaries but no occurrences; a zero-length matching interval represents absence without inventing an array element. The table records a logical trace; distinguish any sorted presentation view from physical storage layout. Ask a learner to justify one transition using the stated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every step to a state change in the preceding trace. The interval always shrinks. Returning Length is a valid boundary result, but it is not a valid element index. Ask which step would fail if omitted or moved. The complete implementation stays in the lesson so the slide can focus on the algorithm's own progress rather than long support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exact program point where this statement applies. Contrast initialization, one update, and the exit condition. Do not call a printed success message a proof. Use the verification slide later to distinguish a check on a few examples from the general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running, ask learners to predict the complete output. Run this standalone cell in a fresh C# application; it requires no previous cell. Target two occupies [1,3). In the table, target three has equal insertion boundaries but no occurrences; a zero-length matching interval represents absence without inventing an array element. If the demo environment fails, read the verified output and continue with the trace rather than spending the meeting on tool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connect the output to the contract, not just read the numbers aloud. The interval always shrinks. Returning Length is a valid boundary result, but it is not a valid element index. Invite one controlled input change and predict its effect first. The worked output is evidence for this instance; the invariant and assumptions explain the broader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30 seconds individually, then compare with a neighbor. Answer: B. Boundary positions still exist even when no key matches. Never index at Length without a separate range check. Ask for the reason, not only the letter. If a common wrong choice dominates, replay the contract or trace before proceeding.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one boundary and ask for an independently expected result. Use a scan with the identical equality policy as the oracle. Distinguish a legal empty result from an invalid input. Do not silently change the contract to make a failing test disappear.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for a prediction before revealing any explanation. Answer: B. Decode the complement under the library contract. A custom first-match scan may separately use minus one as its sentinel. Link the distinction to the business case. Use a brief counterexample when a learner treats an assumption as a universal guarantee.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three to five minutes in pairs. This practice is drawn from the section's actual exercise; it does not create a new assessment ID. Answer and debrief: Upper bound excludes equal midpoints by advancing low. Lower bound keeps an equal midpoint as a candidate by reducing high. Reference counts of less-than and less-than-or-equal items verify both positions. Ask learners to show their trace or checks before consulting the lesson solution. Assess reasoning as well as printed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separate implementation checks, model assumptions, and performance claims. B. Decode the complement under the library contract. A custom first-match scan may separately use minus one as its sentinel. Relate the requested evidence to the chapter lab/homework without changing their stable identities or making supporting readings silently compulsory.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a learner to explain one goal using the worked case. Target two occupies [1,3). In the table, target three has equal insertion boundaries but no occurrences; a zero-length matching interval represents absence without inventing an array element. Exit question: what input, representation, or contract change would require a new argument? Use the current assignment route and chapter schedule to select follow-up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addresses explain selection, insertion, and bubble progress, relate strict inversions to insertion shifts, test stability and every retained occurrence. Read 2302_sorting.html with the worked examples. Use the selected trace and nearby practice within the chapter's existing meeting allocation; this part is a reading unit, not an extra required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these goals to the chapter objectives before starting. The running case is: A nightly invoice report may already be nearly ordered. Compare what each elementary sort actually does instead of labeling them all identically slow. Ask learners to predict one result before execution. Revisit the same contract at the recap rather than introducing an unrelated API tour.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result the stakeholder actually needs. Selection fixes the next smallest prefix position. A faster program is useful only when it still answers that question. Ask students to name one input or policy that would change the answer, then introduce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obligation in the running case. Every sorting step preserves the occurrence multiset. The ordered prefix or settled suffix grows under the algorithm's own invariant. Separate what clients can rely on from representation details. Ask what a missing, empty, tied, or invalid input means before moving to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rows in order and pause before revealing the next state on screen. The original arrival array is unchanged. Four shifts correspond to four strict inversions in the original sequence. The table records a logical trace; distinguish any sorted presentation view from physical storage layout. Ask a learner to justify one transition using the stated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every step to a state change in the preceding trace. Every sorting step preserves the occurrence multiset. The ordered prefix or settled suffix grows under the algorithm's own invariant. Ask which step would fail if omitted or moved. The complete implementation stays in the lesson so the slide can focus on the algorithm's own progress rather than long support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exact program point where this statement applies. Contrast initialization, one update, and the exit condition. Do not call a printed success message a proof. Use the verification slide later to distinguish a check on a few examples from the general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running, ask learners to predict the complete output. Run this standalone cell in a fresh C# application; it requires no previous cell. The original arrival array is unchanged. Four shifts correspond to four strict inversions in the original sequence. If the demo environment fails, read the verified output and continue with the trace rather than spending the meeting on tool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connect the output to the contract, not just read the numbers aloud. Every sorting step preserves the occurrence multiset. The ordered prefix or settled suffix grows under the algorithm's own invariant. Invite one controlled input change and predict its effect first. The worked output is evidence for this instance; the invariant and assumptions explain the broader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30 seconds individually, then compare with a neighbor. Answer: A. Equal elements should not be shifted past one another under the stable insertion contract. Ask for the reason, not only the letter. If a common wrong choice dominates, replay the contract or trace before proceeding.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one boundary and ask for an independently expected result. Check full sorted permutations, not sets alone. Distinguish a legal empty result from an invalid input. Do not silently change the contract to make a failing test disappear.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for a prediction before revealing any explanation. Answer: B. Each pass scans all remaining candidates regardless of initial order. Actual swaps may be fewer and should be counted separately. Link the distinction to the business case. Use a brief counterexample when a learner treats an assumption as a universal guarantee.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three to five minutes in pairs. This practice is drawn from the section's actual exercise; it does not create a new assessment ID. Answer and debrief: A sorted four-item input has zero shifts. A reversed distinct four-item input has six strict inversions and six shifts. Comparison counts depend on whether failed key tests are counted; state the convention consistently. Ask learners to show their trace or checks before consulting the lesson solution. Assess reasoning as well as printed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separate implementation checks, model assumptions, and performance claims. B. Each pass scans all remaining candidates regardless of initial order. Actual swaps may be fewer and should be counted separately. Relate the requested evidence to the chapter lab/homework without changing their stable identities or making supporting readings silently compulsory.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a learner to explain one goal using the worked case. The original arrival array is unchanged. Four shifts correspond to four strict inversions in the original sequence. Exit question: what input, representation, or contract change would require a new argument? Use the current assignment route and chapter schedule to select follow-up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addresses compare identical result contracts, include preparation, queries, updates, and storage, keep measured counts separate from lower-bound proofs. Read 2303_comparison_lab.html with the worked examples. Use the selected trace and nearby practice within the chapter's existing meeting allocation; this part is a reading unit, not an extra required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these goals to the chapter objectives before starting. The running case is: An analyst compares repeated scans with sorting once and binary-searching each query. The recommendation changes when query frequency changes. Ask learners to predict one result before execution. Revisit the same contract at the recap rather than introducing an unrelated API tour.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result the stakeholder actually needs. Both methods must answer the same membership question. A faster program is useful only when it still answers that question. Ask students to name one input or policy that would change the answer, then introduce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obligation in the running case. The small arithmetic model illustrates a decision under stated counts. It is not a universal item-count threshold or elapsed-time measurement. Separate what clients can rely on from representation details. Ask what a missing, empty, tied, or invalid input means before moving to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rows in order and pause before revealing the next state on screen. Twenty queries justify preparation in this model, while one query does not. Changing update frequency or actual input shape can change the recommendation. The table records a logical trace; distinguish any sorted presentation view from physical storage layout. Ask a learner to justify one transition using the stated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every step to a state change in the preceding trace. The small arithmetic model illustrates a decision under stated counts. It is not a universal item-count threshold or elapsed-time measurement. Ask which step would fail if omitted or moved. The complete implementation stays in the lesson so the slide can focus on the algorithm's own progress rather than long support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exact program point where this statement applies. Contrast initialization, one update, and the exit condition. Do not call a printed success message a proof. Use the verification slide later to distinguish a check on a few examples from the general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running, ask learners to predict the complete output. Run this standalone cell in a fresh C# application; it requires no previous cell. Twenty queries justify preparation in this model, while one query does not. Changing update frequency or actual input shape can change the recommendation. If the demo environment fails, read the verified output and continue with the trace rather than spending the meeting on tool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connect the output to the contract, not just read the numbers aloud. The small arithmetic model illustrates a decision under stated counts. It is not a universal item-count threshold or elapsed-time measurement. Invite one controlled input change and predict its effect first. The worked output is evidence for this instance; the invariant and assumptions explain the broader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30 seconds individually, then compare with a neighbor. Answer: B. A faster answer to a weaker question does not meet the requested contract. Preserve invoice identity and original arrival policy. Ask for the reason, not only the letter. If a common wrong choice dominates, replay the contract or trace before proceeding.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one boundary and ask for an independently expected result. Consume and verify search results before timing. Distinguish a legal empty result from an invalid input. Do not silently change the contract to make a failing test disappear.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for a prediction before revealing any explanation. Answer: B. The proof counts distinguishable orderings under a model. Non-comparison algorithms or additional key assumptions require separate reasoning. Link the distinction to the business case. Use a brief counterexample when a learner treats an assumption as a universal guarantee.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three to five minutes in pairs. This practice is drawn from the section's actual exercise; it does not create a new assessment ID. Answer and debrief: The expected counts are 0,0,1,3,6,10,15. Ordinary selection scans the remaining suffix even when input is already sorted, so sorted and reversed arrays have the same key-comparison count. Ask learners to show their trace or checks before consulting the lesson solution. Assess reasoning as well as printed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separate implementation checks, model assumptions, and performance claims. B. The proof counts distinguishable orderings under a model. Non-comparison algorithms or additional key assumptions require separate reasoning. Relate the requested evidence to the chapter lab/homework without changing their stable identities or making supporting readings silently compulsory.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a learner to explain one goal using the worked case. Twenty queries justify preparation in this model, while one query does not. Changing update frequency or actual input shape can change the recommendation. Exit question: what input, representation, or contract change would require a new argument? Use the current assignment route and chapter schedule to select follow-up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optional part complements the core contract/invariant/workload sequence. Select when gap-based and non-comparison alternatives fit course goals. Keep the standard assessments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how this algorithm differs from elementary sorting before asking students to run it. A gap pass insertion-sorts interleaved subsequences. The final gap must be one; different gaps change work, not the required sorted-permutation contract. The complete standalone implementation is in the linked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small instance next rather than presenting a long recursive implementation at classroom font sizes. Contrast this mechanism with insertion sort and merge sort already taught.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predict each intermediate state. Gap three swaps 8 with 7 and 3 with 2, giving [7,5,2,8,6,3]. Gap one completes ordinary insertion sorting. Counts depend on actual inputs and gaps. Distinguish local progress from the final postcondition.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 Earlier passes order only interleaved subsequences; they do not by themselves establish global order. Ask for a concrete boundary or duplicate counterexample, then reconnect to the progress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Sorting a mutated input twice can make the second algorithm appear better. Correctness and result identity are preconditions for a comparison. Use the lesson's complete code and preserved labels when stability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Compare identical copies, correctness, several input shapes, and the same counted operations. Connect the response to the explicit algorithm and workload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a short trace first, then use the complete lesson program for execution. Answer: Gap three swaps 8 with 7 and 3 with 2, giving [7,5,2,8,6,3]. Gap one completes ordinary insertion sorting. Counts depend on actual inputs and gaps. This is supporting practice; any selected course assessment must retain its existing identity and declared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quicksort, discuss pivot choice, worst-case recursion, and smaller-side recursion as taught in the lesson. For Shell sort, discuss gap-family dependence; the additional bin/radix material requires suitable key assumptions. Timing belongs to the separately labeled optional empirical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compare this algorithm's progress argument with the core elementary sorts. The point is a justified representation/algorithm choice, not extending the required chapter into another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optional part complements the core contract/invariant/workload sequence. Recommended for an algorithms route alongside Chapter 22 merge sort. Keep the standard assessments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how this algorithm differs from elementary sorting before asking students to run it. Two scans seek values on the wrong side of a chosen pivot. Partition establishes a boundary, then recursive calls process strictly smaller ranges. Equal-pivot values still need progress. The complete standalone implementation is in the linked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small instance next rather than presenting a long recursive implementation at classroom font sizes. Contrast this mechanism with insertion sort and merge sort already taught.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predict each intermediate state. Advance the scans under the stated equality policy, preserve the pivot value, and recurse only on the resulting smaller intervals. Verify the full sorted permutation; a boundary alone is not a complete sort. Distinguish local progress from the final postcondition.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 A partition that repeats unchanged scan positions can fail to terminate on duplicates. Ask for a concrete boundary or duplicate counterexample, then reconnect to the progress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Sorting a mutated input twice can make the second algorithm appear better. Correctness and result identity are preconditions for a comparison. Use the lesson's complete code and preserved labels when stability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The subranges still need sorting. Poor pivot balance can produce quadratic time and deep recursion. Connect the response to the explicit algorithm and workload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a short trace first, then use the complete lesson program for execution. Answer: Advance the scans under the stated equality policy, preserve the pivot value, and recurse only on the resulting smaller intervals. Verify the full sorted permutation; a boundary alone is not a complete sort. This is supporting practice; any selected course assessment must retain its existing identity and declared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quicksort, discuss pivot choice, worst-case recursion, and smaller-side recursion as taught in the lesson. For Shell sort, discuss gap-family dependence; the additional bin/radix material requires suitable key assumptions. Timing belongs to the separately labeled optional empirical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compare this algorithm's progress argument with the core elementary sorts. The point is a justified representation/algorithm choice, not extending the required chapter into another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P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indent="0" marL="0">
              <a:buNone/>
              <a:defRPr lang="en-US" sz="3600" b="1" dirty="0">
                <a:solidFill>
                  <a:srgbClr val="2A6B37"/>
                </a:solidFill>
                <a:latin typeface="Cambria" pitchFamily="34" charset="0"/>
                <a:ea typeface="Cambria" pitchFamily="34" charset="-122"/>
                <a:cs typeface="Cambria" pitchFamily="34" charset="-120"/>
              </a:defRPr>
            </a:lvl1pPr>
          </a:lstStyle>
          <a:p>
            <a:pPr indent="0" marL="0">
              <a:buNone/>
            </a:pPr>
            <a:endParaRPr lang="en-US" sz="3600" dirty="0"/>
          </a:p>
        </p:txBody>
      </p:sp>
      <p:sp>
        <p:nvSpPr>
          <p:cNvPr id="3" name="Text 0"/>
          <p:cNvSpPr/>
          <p:nvPr/>
        </p:nvSpPr>
        <p:spPr>
          <a:xfrm>
            <a:off x="548640" y="6400800"/>
            <a:ext cx="8229600" cy="320040"/>
          </a:xfrm>
          <a:prstGeom prst="rect">
            <a:avLst/>
          </a:prstGeom>
          <a:noFill/>
          <a:ln/>
        </p:spPr>
        <p:txBody>
          <a:bodyPr wrap="square" lIns="0" tIns="0" rIns="0" bIns="0" rtlCol="0" anchor="ctr"/>
          <a:lstStyle/>
          <a:p>
            <a:pPr indent="0" marL="0">
              <a:buNone/>
            </a:pPr>
            <a:r>
              <a:rPr lang="en-US" sz="1100" dirty="0">
                <a:solidFill>
                  <a:srgbClr val="59636E"/>
                </a:solidFill>
                <a:latin typeface="Calibri" pitchFamily="34" charset="0"/>
                <a:ea typeface="Calibri" pitchFamily="34" charset="-122"/>
                <a:cs typeface="Calibri" pitchFamily="34" charset="-120"/>
              </a:rPr>
              <a:t>Computer Science in C#  ·  Chapter 23</a:t>
            </a:r>
            <a:endParaRPr lang="en-US" sz="11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P_DARK">
    <p:bg>
      <p:bgPr>
        <a:solidFill>
          <a:srgbClr val="2A6B37"/>
        </a:solidFill>
      </p:bgPr>
    </p:bg>
    <p:spTree>
      <p:nvGrpSpPr>
        <p:cNvPr id="1" name=""/>
        <p:cNvGrpSpPr/>
        <p:nvPr/>
      </p:nvGrpSpPr>
      <p:grpSpPr>
        <a:xfrm>
          <a:off x="0" y="0"/>
          <a:ext cx="0" cy="0"/>
          <a:chOff x="0" y="0"/>
          <a:chExt cx="0" cy="0"/>
        </a:xfrm>
      </p:grpSpPr>
      <p:sp>
        <p:nvSpPr>
          <p:cNvPr id="2" name="Text 0"/>
          <p:cNvSpPr/>
          <p:nvPr/>
        </p:nvSpPr>
        <p:spPr>
          <a:xfrm>
            <a:off x="548640" y="6400800"/>
            <a:ext cx="8229600" cy="320040"/>
          </a:xfrm>
          <a:prstGeom prst="rect">
            <a:avLst/>
          </a:prstGeom>
          <a:noFill/>
          <a:ln/>
        </p:spPr>
        <p:txBody>
          <a:bodyPr wrap="square" lIns="0" tIns="0" rIns="0" bIns="0" rtlCol="0" anchor="ctr"/>
          <a:lstStyle/>
          <a:p>
            <a:pPr indent="0" marL="0">
              <a:buNone/>
            </a:pPr>
            <a:r>
              <a:rPr lang="en-US" sz="1100" dirty="0">
                <a:solidFill>
                  <a:srgbClr val="DFEEE2"/>
                </a:solidFill>
                <a:latin typeface="Calibri" pitchFamily="34" charset="0"/>
                <a:ea typeface="Calibri" pitchFamily="34" charset="-122"/>
                <a:cs typeface="Calibri" pitchFamily="34" charset="-120"/>
              </a:rPr>
              <a:t>Computer Science in C#  ·  Chapter 23</a:t>
            </a: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cscs.thinkpress.org/chapters/23_searching_sorting/2301_searching.html" TargetMode="Externa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cscs.thinkpress.org/chapters/23_searching_sorting/2301_searching.html" TargetMode="Externa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cscs.thinkpress.org/chapters/23_searching_sorting/2302_sorting.html" TargetMode="External"/><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hyperlink" Target="https://cscs.thinkpress.org/chapters/23_searching_sorting/2302_sorting.html" TargetMode="External"/><Relationship Id="rId2" Type="http://schemas.openxmlformats.org/officeDocument/2006/relationships/slideLayout" Target="../slideLayouts/slideLayout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hyperlink" Target="https://cscs.thinkpress.org/chapters/23_searching_sorting/2303_comparison_lab.html" TargetMode="External"/><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hyperlink" Target="https://cscs.thinkpress.org/chapters/23_searching_sorting/2303_comparison_lab.html" TargetMode="External"/><Relationship Id="rId2" Type="http://schemas.openxmlformats.org/officeDocument/2006/relationships/slideLayout" Target="../slideLayouts/slideLayout3.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hyperlink" Target="https://cscs.thinkpress.org/chapters/23_searching_sorting/2304_advanced_sorts.html" TargetMode="External"/><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hyperlink" Target="https://cscs.thinkpress.org/chapters/23_searching_sorting/2303_comparison_lab.html" TargetMode="External"/><Relationship Id="rId2" Type="http://schemas.openxmlformats.org/officeDocument/2006/relationships/slideLayout" Target="../slideLayouts/slideLayout3.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hyperlink" Target="https://cscs.thinkpress.org/chapters/23_searching_sorting/2305_quicksort.html" TargetMode="External"/><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hyperlink" Target="https://cscs.thinkpress.org/chapters/23_searching_sorting/2303_comparison_lab.html" TargetMode="External"/><Relationship Id="rId2" Type="http://schemas.openxmlformats.org/officeDocument/2006/relationships/slideLayout" Target="../slideLayouts/slideLayout3.xml"/><Relationship Id="rId3" Type="http://schemas.openxmlformats.org/officeDocument/2006/relationships/notesSlide" Target="../notesSlides/notesSlide6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800" b="1" dirty="0">
                <a:solidFill>
                  <a:srgbClr val="FFFFFF"/>
                </a:solidFill>
                <a:latin typeface="Cambria" pitchFamily="34" charset="0"/>
                <a:ea typeface="Cambria" pitchFamily="34" charset="-122"/>
                <a:cs typeface="Cambria" pitchFamily="34" charset="-120"/>
              </a:rPr>
              <a:t>23. Advanced Searching and Sorting</a:t>
            </a:r>
            <a:endParaRPr lang="en-US" sz="48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Contracts, worked traces, practice, and verified examples.</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23.1. Duplicate-Aware Search Contracts</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this part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Specify first, any, and all-match results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Trace half-open lower and upper bounds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Make ordering and equality compatible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the business question</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supplier report contains several equal totals. Any-match search cannot identify the whole group by itself.</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Make the contract explicit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Lower bound is the first key at least the target.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Upper bound is the first key greater than the target.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The matching group occupies [lower,upper).</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small instance</a:t>
            </a:r>
            <a:endParaRPr lang="en-US" sz="3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698138"/>
                <a:gridCol w="3698138"/>
                <a:gridCol w="369813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Sorted keys [1,2,2,4]</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Lower</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Upper</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Target 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Target 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Target 9</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4</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4</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Follow the mechanism</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Maintain candidates in [low,high).</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Move low past a proved excluded midpoint.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Keep high at midpoint when that position may be the first boundary.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Keep the invariant in view</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The interval always shrinks. Returning Length is a valid boundary result, but it is not a valid element index.</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small model</a:t>
            </a:r>
            <a:endParaRPr lang="en-US" sz="3600" dirty="0"/>
          </a:p>
        </p:txBody>
      </p:sp>
      <p:sp>
        <p:nvSpPr>
          <p:cNvPr id="3" name="Text 1"/>
          <p:cNvSpPr txBox="1"/>
          <p:nvPr/>
        </p:nvSpPr>
        <p:spPr>
          <a:xfrm>
            <a:off x="548640" y="1280160"/>
            <a:ext cx="11094415" cy="313182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a = { 1, 2, 2, 4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Bound(bool upper) { int low = 0, high = a.Length;</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while (low &lt; high)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int mid = low + (high - low) / 2;</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if (a[mid] &lt; 2 || (upper &amp;&amp; a[mid] == 2)) low = mid + 1;</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else high = mid;</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 return low;</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Console.WriteLine($"{Bound(false)},{Bound(true)}");</a:t>
            </a:r>
            <a:endParaRPr lang="en-US" sz="1800" dirty="0"/>
          </a:p>
        </p:txBody>
      </p:sp>
      <p:sp>
        <p:nvSpPr>
          <p:cNvPr id="4" name="Text 2"/>
          <p:cNvSpPr txBox="1"/>
          <p:nvPr/>
        </p:nvSpPr>
        <p:spPr>
          <a:xfrm>
            <a:off x="548640" y="4594860"/>
            <a:ext cx="11094415" cy="5600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1,3</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Explain the observed result</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Target two occupies [1,3). In the table, target three has equal insertion boundaries but no occurrences; a zero-length matching interval represents absence without inventing an array element.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What does [lower,upper) contain when the target is absent?</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One arbitrary neighbor</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No elements because lower equals upper</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Every larger element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Boundaries are part of the model</a:t>
            </a:r>
            <a:endParaRPr lang="en-US" sz="3600" dirty="0"/>
          </a:p>
        </p:txBody>
      </p:sp>
      <p:sp>
        <p:nvSpPr>
          <p:cNvPr id="3" name="Text 1"/>
          <p:cNvSpPr txBox="1"/>
          <p:nvPr/>
        </p:nvSpPr>
        <p:spPr>
          <a:xfrm>
            <a:off x="548640" y="1280160"/>
            <a:ext cx="11094415" cy="1834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Empty input returns both boundaries zero.</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Below-range and above-range targets test endpoint logic.</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Case-sensitive and case-insensitive policies can produce different groups.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Does a negative Array.BinarySearch result mean exactly minus one?</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Yes</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No; it encodes an insertion position</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Only for string arrays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 Exercise: Complete the Upper Bound</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Trace low/high/mid for a duplicate-heavy array.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Change the equality branch for upper bound.</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 the interval against a separate scan.</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section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Verify before recommending</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Use a scan with the identical equality policy as the oracle.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Include absent interior keys and tied groups.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Count returned group output in addition to logarithmic boundary work.</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Specify first, any, and all-match results</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Trace half-open lower and upper bounds</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Make ordering and equality compatible</a:t>
            </a:r>
            <a:endParaRPr lang="en-US" sz="2400" dirty="0"/>
          </a:p>
          <a:p>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Continue with the lesson and exercises</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23.2. Elementary Sort Invariants</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this part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Explain selection, insertion, and bubble progress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Relate strict inversions to insertion shifts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Test stability and every retained occurrence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the business question</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nightly invoice report may already be nearly ordered. Compare what each elementary sort actually does instead of labeling them all identically slow.</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Make the contract explicit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Selection fixes the next smallest prefix position.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Insertion shifts strictly greater predecessors.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Optimized bubble settles a suffix and stops on a no-swap pass.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small instance</a:t>
            </a:r>
            <a:endParaRPr lang="en-US" sz="36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698138"/>
                <a:gridCol w="3698138"/>
                <a:gridCol w="369813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Insert next value in [3,1,2,1]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Sorted prefix</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Added shifts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First 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[1,2,3]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Last 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[1,1,2,3]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Follow the mechanism</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Save the item before shifting its predecessors.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Use strict greater-than to preserve equal-key arrival order.</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Clone the input before mutating a report copy.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Keep the invariant in view</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Every sorting step preserves the occurrence multiset. The ordered prefix or settled suffix grows under the algorithm's own invariant.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small model</a:t>
            </a:r>
            <a:endParaRPr lang="en-US" sz="3600" dirty="0"/>
          </a:p>
        </p:txBody>
      </p:sp>
      <p:sp>
        <p:nvSpPr>
          <p:cNvPr id="3" name="Text 1"/>
          <p:cNvSpPr txBox="1"/>
          <p:nvPr/>
        </p:nvSpPr>
        <p:spPr>
          <a:xfrm>
            <a:off x="548640" y="1280160"/>
            <a:ext cx="11094415" cy="313182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arrival = { 3, 1, 2, 1 }; int[] a = (int[])arrival.Clone(); int shifts = 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for (int i = 1; i &lt; a.Length; i++)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int saved = a[i], j = i;</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while (j &gt; 0 &amp;&amp; a[j - 1] &gt; saved) { a[j] = a[j - 1]; j--; shifts++;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a[j] = saved;</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Console.WriteLine(string.Join(",", a));</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Console.WriteLine(string.Join(",", arrival));</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Console.WriteLine(shifts);</a:t>
            </a:r>
            <a:endParaRPr lang="en-US" sz="1800" dirty="0"/>
          </a:p>
        </p:txBody>
      </p:sp>
      <p:sp>
        <p:nvSpPr>
          <p:cNvPr id="4" name="Text 2"/>
          <p:cNvSpPr txBox="1"/>
          <p:nvPr/>
        </p:nvSpPr>
        <p:spPr>
          <a:xfrm>
            <a:off x="548640" y="4594860"/>
            <a:ext cx="11094415" cy="11315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1,1,2,3</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3,1,2,1</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4</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Explain the observed result</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The original arrival array is unchanged. Four shifts correspond to four strict inversions in the original sequence.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What happens if insertion shifts predecessors greater than or equal to the saved item?</a:t>
            </a:r>
            <a:endParaRPr lang="en-US" sz="2400" dirty="0"/>
          </a:p>
        </p:txBody>
      </p:sp>
      <p:sp>
        <p:nvSpPr>
          <p:cNvPr id="4" name="Choice A"/>
          <p:cNvSpPr txBox="1"/>
          <p:nvPr/>
        </p:nvSpPr>
        <p:spPr>
          <a:xfrm>
            <a:off x="548640" y="2362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It can reverse equal-key arrival order</a:t>
            </a:r>
            <a:endParaRPr lang="en-US" sz="2400" dirty="0"/>
          </a:p>
        </p:txBody>
      </p:sp>
      <p:sp>
        <p:nvSpPr>
          <p:cNvPr id="5" name="Choice B"/>
          <p:cNvSpPr txBox="1"/>
          <p:nvPr/>
        </p:nvSpPr>
        <p:spPr>
          <a:xfrm>
            <a:off x="548640" y="3185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It becomes a binary search</a:t>
            </a:r>
            <a:endParaRPr lang="en-US" sz="2400" dirty="0"/>
          </a:p>
        </p:txBody>
      </p:sp>
      <p:sp>
        <p:nvSpPr>
          <p:cNvPr id="6" name="Choice C"/>
          <p:cNvSpPr txBox="1"/>
          <p:nvPr/>
        </p:nvSpPr>
        <p:spPr>
          <a:xfrm>
            <a:off x="548640" y="4008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It proves stable selection sort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Boundaries are part of the model</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Empty and singleton inputs need no repair.</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Selection still compares all remaining candidates on sorted data.</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no-swap bubble pass allows early exit.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How many key comparisons does ordinary selection sort make on n items?</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n-1 for every input</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n(n-1)/2</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Exactly the inversion count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 Exercise: Shifts and Inversions</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Run insertion sort on sorted and reversed length-four arrays.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Print key comparisons and shifts separately.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Relate shifts to strict inversions.</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section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Verify before recommending</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 full sorted permutations, not sets alone.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Run sorted, reverse, and duplicate-heavy inputs.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Count comparisons, swaps, and shifts as separate operations.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Explain selection, insertion, and bubble progress</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Relate strict inversions to insertion shifts</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Test stability and every retained occurrence</a:t>
            </a:r>
            <a:endParaRPr lang="en-US" sz="2400" dirty="0"/>
          </a:p>
          <a:p>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Continue with the lesson and exercises</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23.3. Comparing Complete Search and Sort Workloads</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this part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Compare identical result contracts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Include preparation, queries, updates, and storage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Keep measured counts separate from lower-bound proofs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the business question</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An analyst compares repeated scans with sorting once and binary-searching each query. The recommendation changes when query frequency changes.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Make the contract explicit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Both methods must answer the same membership question.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Preparation is paid before sorted queries.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data update may invalidate a sorted snapshot.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small instance</a:t>
            </a:r>
            <a:endParaRPr lang="en-US" sz="36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698138"/>
                <a:gridCol w="3698138"/>
                <a:gridCol w="369813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Illustrative counted model</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One query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Twenty queries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Scan: 8 per query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8</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160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Prepare 28 + query 3 each</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31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88</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Meaning</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Scan cheaper here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Preparation amortized here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Follow the mechanism</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 every answer before comparing work.</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Separate preparation and query counters.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Describe input order, updates, storage, and output requirements.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Keep the invariant in view</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The small arithmetic model illustrates a decision under stated counts. It is not a universal item-count threshold or elapsed-time measurement.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small model</a:t>
            </a:r>
            <a:endParaRPr lang="en-US" sz="3600" dirty="0"/>
          </a:p>
        </p:txBody>
      </p:sp>
      <p:sp>
        <p:nvSpPr>
          <p:cNvPr id="3" name="Text 1"/>
          <p:cNvSpPr txBox="1"/>
          <p:nvPr/>
        </p:nvSpPr>
        <p:spPr>
          <a:xfrm>
            <a:off x="548640" y="1280160"/>
            <a:ext cx="11094415" cy="227457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preparation = 28, scanPerQuery = 8, binaryPerQuery = 3;</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foreach (int queries in new[] { 1, 20 })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int scan = queries * scanPerQuery;</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int prepared = preparation + queries * binaryPerQuery;</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Console.WriteLine($"{queries}: scan={scan}, prepared={prepared}");</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p:txBody>
      </p:sp>
      <p:sp>
        <p:nvSpPr>
          <p:cNvPr id="4" name="Text 2"/>
          <p:cNvSpPr txBox="1"/>
          <p:nvPr/>
        </p:nvSpPr>
        <p:spPr>
          <a:xfrm>
            <a:off x="548640" y="3737610"/>
            <a:ext cx="11094415" cy="84582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1: scan=8, prepared=31</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20: scan=160, prepared=88</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Explain the observed result</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Twenty queries justify preparation in this model, while one query does not. Changing update frequency or actual input shape can change the recommendation.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Can a first-match scan be compared directly with an any-match search when first arrival matters?</a:t>
            </a:r>
            <a:endParaRPr lang="en-US" sz="2400" dirty="0"/>
          </a:p>
        </p:txBody>
      </p:sp>
      <p:sp>
        <p:nvSpPr>
          <p:cNvPr id="4" name="Choice A"/>
          <p:cNvSpPr txBox="1"/>
          <p:nvPr/>
        </p:nvSpPr>
        <p:spPr>
          <a:xfrm>
            <a:off x="548640" y="2362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Yes, because both return an index</a:t>
            </a:r>
            <a:endParaRPr lang="en-US" sz="2400" dirty="0"/>
          </a:p>
        </p:txBody>
      </p:sp>
      <p:sp>
        <p:nvSpPr>
          <p:cNvPr id="5" name="Choice B"/>
          <p:cNvSpPr txBox="1"/>
          <p:nvPr/>
        </p:nvSpPr>
        <p:spPr>
          <a:xfrm>
            <a:off x="548640" y="3185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No; their result guarantees differ</a:t>
            </a:r>
            <a:endParaRPr lang="en-US" sz="2400" dirty="0"/>
          </a:p>
        </p:txBody>
      </p:sp>
      <p:sp>
        <p:nvSpPr>
          <p:cNvPr id="6" name="Choice C"/>
          <p:cNvSpPr txBox="1"/>
          <p:nvPr/>
        </p:nvSpPr>
        <p:spPr>
          <a:xfrm>
            <a:off x="548640" y="4008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Only if the timer reports equal times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Boundaries are part of the model</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Include missing targets, not only successful lookups.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stable report may need a copied array.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Timing repeated delegates includes call overhead and machine effects.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What does a comparison-sorting lower bound concern?</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One slow observed execution</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All algorithms in the stated comparison model</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Every program using integers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 Exercise: Check Selection Counts</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 sizes zero through six.</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Compare sorted and reversed inputs.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Verify n(n-1)/2 without confusing counts with timings.</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section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Verify before recommending</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Consume and verify search results before timing.</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Keep raw durations, units, sizes, and seeds in optional experiments.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Include construction and updates in a production recommendation.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Compare identical result contracts</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Include preparation, queries, updates, and storage</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Keep measured counts separate from lower-bound proofs</a:t>
            </a:r>
            <a:endParaRPr lang="en-US" sz="2400" dirty="0"/>
          </a:p>
          <a:p>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Continue with the lesson and exercises</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23.4. Shell Sort and Gap Families</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Supporting reading: selected depth, not an extra required meeting.</a:t>
            </a:r>
            <a:endParaRPr lang="en-US" sz="2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the supporting reading</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Trace the algorithm's own progress.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Preserve all input occurrences.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Qualify cost and memory claims.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The algorithmic idea</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gap pass insertion-sorts interleaved subsequences. The final gap must be one; different gaps change work, not the required sorted-permutation contract.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Work the transformation</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Gap on [8,5,3,7,6,2]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Interleaved positions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(0,3), (1,4), (2,5)</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After gap 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[7,5,2,8,6,3]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Final gap 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[2,3,5,6,7,8]</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Why must a sorting gap sequence end with one?</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To establish complete neighboring order</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To remove all duplicates</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To make every gap prime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Keep the experiment fair</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Use a fresh identical input for each algorithm.</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 order and every occurrence before counting.</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Include nearly sorted, reversed, and tied inputs.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Does one fast trial prove a gap family always best?</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Yes</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No; input shape and counting policy matter</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Only with a larger stopwatch</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150876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Trace the gap-three pairs, then a gap-one insertion pass. Compare the retained 2h+1 and 3h+1 gap families in the lesson.</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supporting reading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What would change the recommendation?</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Different input shapes or key representations.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Required stability or memory limits.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Preparation, updates, and repeated queries.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Supporting-reading recap</a:t>
            </a:r>
            <a:endParaRPr lang="en-US" dirty="0"/>
          </a:p>
        </p:txBody>
      </p:sp>
      <p:sp>
        <p:nvSpPr>
          <p:cNvPr id="3" name="Text 1"/>
          <p:cNvSpPr txBox="1"/>
          <p:nvPr/>
        </p:nvSpPr>
        <p:spPr>
          <a:xfrm>
            <a:off x="548640" y="1280160"/>
            <a:ext cx="11094415" cy="1889760"/>
          </a:xfrm>
          <a:prstGeom prst="rect">
            <a:avLst/>
          </a:prstGeom>
          <a:noFill/>
          <a:ln/>
        </p:spPr>
        <p:txBody>
          <a:bodyPr wrap="square" lIns="0" tIns="0" rIns="0" bIns="0" rtlCol="0" anchor="t"/>
          <a:lstStyle/>
          <a:p>
            <a:pPr indent="0" marL="0">
              <a:spcAft>
                <a:spcPts val="1000"/>
              </a:spcAft>
              <a:buNone/>
            </a:pPr>
            <a:r>
              <a:rPr lang="en-US" sz="2400" dirty="0">
                <a:solidFill>
                  <a:srgbClr val="FFFFFF"/>
                </a:solidFill>
                <a:latin typeface="Calibri" pitchFamily="34" charset="0"/>
                <a:ea typeface="Calibri" pitchFamily="34" charset="-122"/>
                <a:cs typeface="Calibri" pitchFamily="34" charset="-120"/>
              </a:rPr>
              <a:t>A gap pass insertion-sorts interleaved subsequences. The final gap must be one; different gaps change work, not the required sorted-permutation contract.</a:t>
            </a:r>
            <a:endParaRPr lang="en-US" sz="2400" dirty="0"/>
          </a:p>
          <a:p>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Return to the complete-workload comparison</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Supporting-reading recap</a:t>
            </a:r>
            <a:endParaRPr lang="en-US" sz="36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23.5. Quicksort and Partitioning</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Supporting reading: selected depth, not an extra required meeting.</a:t>
            </a:r>
            <a:endParaRPr lang="en-US" sz="24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the supporting reading</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Trace the algorithm's own progress.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Preserve all input occurrences.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Qualify cost and memory claims.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The algorithmic idea</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Two scans seek values on the wrong side of a chosen pivot. Partition establishes a boundary, then recursive calls process strictly smaller ranges. Equal-pivot values still need progress.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Work the transformation</a:t>
            </a:r>
            <a:endParaRPr lang="en-US" sz="36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Values [3,1,4,2], pivot 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State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Left stops at 4; right at 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Swap those misplaced values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After swap</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[3,1,2,4]</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Scans cross; place pivot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[2,1,3,4]</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Recursive subranges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[2,1] and [4]</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What must move after swapping equal-pivot values?</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The scans must still make progress</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Only the printed label</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The pivot must be discarded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Keep the experiment fair</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Use a fresh identical input for each algorithm.</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 order and every occurrence before counting.</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Include nearly sorted, reversed, and tied inputs.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What does a partition guarantee?</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The whole array is fully sorted</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The pivot boundary separates the requested ordering regions</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Every partition is balanced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188976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Use the section partition trace and repair the incomplete two-scan partition. Test duplicates and a small interior subrange before running the complete sort.</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supporting reading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What would change the recommendation?</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Different input shapes or key representations.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Required stability or memory limits.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Preparation, updates, and repeated queries.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Supporting-reading recap</a:t>
            </a:r>
            <a:endParaRPr lang="en-US" dirty="0"/>
          </a:p>
        </p:txBody>
      </p:sp>
      <p:sp>
        <p:nvSpPr>
          <p:cNvPr id="3" name="Text 1"/>
          <p:cNvSpPr txBox="1"/>
          <p:nvPr/>
        </p:nvSpPr>
        <p:spPr>
          <a:xfrm>
            <a:off x="548640" y="1280160"/>
            <a:ext cx="11094415" cy="1889760"/>
          </a:xfrm>
          <a:prstGeom prst="rect">
            <a:avLst/>
          </a:prstGeom>
          <a:noFill/>
          <a:ln/>
        </p:spPr>
        <p:txBody>
          <a:bodyPr wrap="square" lIns="0" tIns="0" rIns="0" bIns="0" rtlCol="0" anchor="t"/>
          <a:lstStyle/>
          <a:p>
            <a:pPr indent="0" marL="0">
              <a:spcAft>
                <a:spcPts val="1000"/>
              </a:spcAft>
              <a:buNone/>
            </a:pPr>
            <a:r>
              <a:rPr lang="en-US" sz="2400" dirty="0">
                <a:solidFill>
                  <a:srgbClr val="FFFFFF"/>
                </a:solidFill>
                <a:latin typeface="Calibri" pitchFamily="34" charset="0"/>
                <a:ea typeface="Calibri" pitchFamily="34" charset="-122"/>
                <a:cs typeface="Calibri" pitchFamily="34" charset="-120"/>
              </a:rPr>
              <a:t>Two scans seek values on the wrong side of a chosen pivot. Partition establishes a boundary, then recursive calls process strictly smaller ranges. Equal-pivot values still need progress.</a:t>
            </a:r>
            <a:endParaRPr lang="en-US" sz="2400" dirty="0"/>
          </a:p>
          <a:p>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Return to the complete-workload comparison</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Supporting-reading recap</a:t>
            </a:r>
            <a:endParaRPr lang="en-US" sz="3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66</Slides>
  <Notes>66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66</vt:i4>
      </vt:variant>
    </vt:vector>
  </HeadingPairs>
  <TitlesOfParts>
    <vt:vector size="6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23: Advanced Searching and Sorting</dc:title>
  <dc:subject>PptxGenJS Presentation</dc:subject>
  <dc:creator>ThinkPress</dc:creator>
  <cp:lastModifiedBy>ThinkPress</cp:lastModifiedBy>
  <cp:revision>1</cp:revision>
  <dcterms:created xsi:type="dcterms:W3CDTF">2026-10-21T20:22:52Z</dcterms:created>
  <dcterms:modified xsi:type="dcterms:W3CDTF">2026-10-21T20:22:52Z</dcterms:modified>
</cp:coreProperties>
</file>