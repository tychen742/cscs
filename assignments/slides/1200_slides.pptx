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12.1: Inheritance and Substitution, starts on slide 2.
Part 12.2: Runtime Polymorphism and Abstract Classes, starts on slide 17.
Part 12.3: Interfaces and Interchangeable Components, starts on slide 32.
Part 12.4: OOP Examples and Variations, starts on slide 47.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checkout expects a nonnegative final amount no larger than its subtotal. A discount subtype must honor that expectation for every valid input.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Validate configuration at construction and subtotal at the operation boundary. A fixed discount larger than the subtotal must stop at zero.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checkout expects a nonnegative final amount no larger than its subtotal. A discount subtype must honor that expectation for every valid input.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is-a relationship promises usable substitution. Shared field names or the desire to reuse code do not establish that promise.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configuration at construction and subtotal at the operation boundary. A fixed discount larger than the subtotal must stop at zero.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0. Connect each observation to the contract: Validate configuration at construction and subtotal at the operation boundary. A fixed discount larger than the subtotal must stop at zero.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Subtotal: Reduction: Valid result. 20: 5: 15. 3: 5: 0. 0: 5: 0. Negative: Any: Reject before computing.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Compile-time type compatibility does not prove that the operation preserves the client's promised behavior.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Decision question. Inheritance: Can every subtype preserve this client contract?. Composition: Does the client have a replaceable collaborator?. Coincidental fields: Insufficient evidence for either design. Validate configuration at construction and subtotal at the operation boundary. A fixed discount larger than the subtotal must stop at zero.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Bypassing base validation lets a derived method accept inputs the shared contract rejects. Calling base can preserve the check when that behavior is intended.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A configured policy should begin valid. Per-call subtotal checks still belong at the operation boundary.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Zero, not negative five. The fixed policy's result stays in the documented range even at the boundary.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Reject a negative configured reduction; call the base validation for subtotal; subtract the configured amount and return Math.Max(0m, result). Test a larger-than-subtotal reduction. Watch for this defect: Bypassing base validation lets a derived method accept inputs the shared contract rejects. Calling base can preserve the check when that behavior is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zero, an ordinary subtotal, a full reduction, an oversized reduction, and negative subtotal/configuration cases.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configuration at construction and subtotal at the operation boundary. A fixed discount larger than the subtotal must stop at zero.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 manager prints a list of reports through one general Report variable. Each concrete report supplies its own title without a client type test.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An abstract class cannot be constructed directly. Concrete derived classes must supply the required abstract behavior while preserving the shared contract.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manager prints a list of reports through one general Report variable. Each concrete report supplies its own title without a client type test.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dispatch selects an override from the actual object. Overloading instead selects among parameter lists; it is not the same mechanism.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abstract class cannot be constructed directly. Concrete derived classes must supply the required abstract behavior while preserving the shared contract.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Sales; Stock. Connect each observation to the contract: An abstract class cannot be constructed directly. Concrete derived classes must supply the required abstract behavior while preserving the shared contract.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Variable type: Actual object: Title call. Report: SalesReport: Sales. Report: StockReport: Stock. Report: SalesReport again: Sales. Client loop: Unchanged: No typeof branch needed.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The same base-type call dispatches to the concrete object's override. The variable name and position are irrelevant.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Mechanism: Distinguishing feature. Override: Replace inherited virtual/abstract behavior. Overload: Same name, different parameter list. Abstract member: Concrete derived type supplies implementation. An abstract class cannot be constructed directly. Concrete derived classes must supply the required abstract behavior while preserving the shared contract.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that switches on every concrete type defeats the replaceable behavior the base contract was meant to provide.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The abstract declaration prevents direct construction. A concrete derived report supplies the missing operation.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Add the new object to the input collection; the existing base-type loop and Title call remain unchanged.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Use a base-type collection and one assertion function. Include a percentage discount that removes everything and a fixed discount exceeding the subtotal; both must return zero rather than a negative amount. Watch for this defect: A client that switches on every concrete type defeats the replaceable behavior the base contract was meant to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all implementations with the same valid-input and result-range expectations. Do not weaken the test to accommodate a bad subtype.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abstract class cannot be constructed directly. Concrete derived classes must supply the required abstract behavior while preserving the shared contract.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Checkout needs a discount capability, not one particular discount class. A controlled replacement can record whether Checkout delegated the correct subtotal.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The client delegates to the supplied policy once and returns its result. Interchangeable implementations must agree on success and failure behavior.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Checkout needs a discount capability, not one particular discount class. A controlled replacement can record whether Checkout delegated the correct subtotal.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interface names a capability contract. Constructor injection supplies the collaborator; it does not require a framework.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delegates to the supplied policy once and returns its result. Interchangeable implementations must agree on success and failure behavior.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20. Connect each observation to the contract: The client delegates to the supplied policy once and returns its result. Interchangeable implementations must agree on success and failure behavior.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Call: Expected collaboration. Construct checkout: Retain supplied policy. Quote 20: Call Apply with 20. Recording policy returns 17: Quote returns 17. Replace policy: Client source remains unchanged.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interface exposes the behavior the client needs without naming every implementation or its storage.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Collaborator: Purpose. Production policy: Calculate an approved rule. Recording double: Observe call count and argument. Client: Delegate and preserve the promised result. The client delegates to the supplied policy once and returns its result. Interchangeable implementations must agree on success and failure behavior.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Hard-coding a new policy inside Quote ignores the constructor-supplied collaborator and makes the recording test fail.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Verify call count, argument, and returned value. A call occurring somewhere is not enough.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Compose an exporter with a destination capability, so changes to one dimension do not multiply subclasses.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NoDiscount returns a valid subtotal unchanged and rejects negative input. The client continues to use the supplied interface without concrete type tests. Watch for this defect: Hard-coding a new policy inside Quote ignores the constructor-supplied collaborator and makes the recording test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a recording implementation with a distinctive return value, and verify one call with the exact subtotal and the same returned result.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delegates to the supplied policy once and returns its result. Interchangeable implementations must agree on success and failure behavior.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supporting material, not an extra required meeting or an automatic assessment prerequisite. Goal: OOP variations without another meeting. The instructor selects its depth according to course policy and available time. A variable can select a hidden nonvirtual member by its declared type, while a virtual call dispatches through the runtime object. Keep these mechanisms distinct.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can select a hidden nonvirtual member by its declared type, while a virtual call dispatches through the runtime object. Keep these mechanisms distinct. An overload changes the parameter list; an override replaces virtual/abstract inherited behavior. Sealing an override prevents another derived replacement. Connect this extension to the core contract rather than introducing it as a prerequisite for the standard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No; hiding and overloading differ. B: Yes; implementing multiple capabilities does not imply multiple class inheritance. Ask students to justify each answer using the stated contract. These checks are optional review, not a change to existing assessment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existing exercise only if this supporting reading was selected. Answer: Extend the vehicle behavior only through its intended contract. For a sealed override, the attempted further override is a compile-time diagnostic; retain the valid hierarchy rather than removing validation. Retain the original exercise identity and do not require unsupported syntax in a core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the vehicle behavior only through its intended contract. For a sealed override, the attempted further override is a compile-time diagnostic; retain the valid hierarchy rather than removing validation. The core chapter remains complete without an extra meeting. Keep these notes available for students taking the recommended extension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12</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12</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2_oop/1201_inheritance.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2_oop/1202_polymorphism.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2_oop/1203_interface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cscs.thinkpress.org/chapters/12_oop/1204_oop_examples.html" TargetMode="Externa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Inheritance, Interfaces, and Polymorphism</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12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Inheritance and Substitution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12.1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inheritance as a behavioral promise.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base validation.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Implement a bounded override.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checkout expects a nonnegative final amount no larger than its subtotal. A discount subtype must honor that expectation for every valid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is-a relationship promises usable substitution. Shared field names or the desire to reuse code do not establish that promise.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Validate configuration at construction and subtotal at the operation boundary. A fixed discount larger than the subtotal must stop at zero.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12.1</a:t>
            </a:r>
            <a:endParaRPr lang="en-US" sz="3600" dirty="0"/>
          </a:p>
        </p:txBody>
      </p:sp>
      <p:sp>
        <p:nvSpPr>
          <p:cNvPr id="3" name="Text 1"/>
          <p:cNvSpPr txBox="1"/>
          <p:nvPr/>
        </p:nvSpPr>
        <p:spPr>
          <a:xfrm>
            <a:off x="548640" y="1280160"/>
            <a:ext cx="11094415" cy="3703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Discount policy = new FixedDiscount();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Console.WriteLine(policy.Apply(3m));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Discount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virtual decimal Apply(decimal x)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(x &lt; 0) throw new ArgumentOutOfRangeException();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x;</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FixedDiscount : Discount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override decimal Apply(decimal x) { return Math.Max(0m, base.Apply(x) - 5m);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5166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Subtotal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Reduction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Valid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Negative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Any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before computing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override returns -2 for a valid subtotal. Is it a good substitute?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because it compiles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it breaks the result range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if its field names match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Relationship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Decision question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Inheritance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Can every subtype preserve this client contract?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Does the client have a replaceable collaborator?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Coincidental fields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Insufficient evidence for either design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Bypassing base validation lets a derived method accept inputs the shared contract rejects. Calling base can preserve the check when that behavior is intended.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Where does constructor validation belong?</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in the final report</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At construction of invalid configuration</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After storing an invalid amount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reduction of five applies to zero. What should the client observe?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Preserve the Discount Contract: configure a valid fixed reduction, retain the base input check, and cap the result at zero.</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zero, an ordinary subtotal, a full reduction, an oversized reduction, and negative subtotal/configuration cases.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inheritance as a behavioral promise.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Preserve base validation.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Implement a bounded override.</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Runtime Polymorphism and Abstract Classes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12.2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dispatch through a base reference.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overload from override.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Implement an abstract operation.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manager prints a list of reports through one general Report variable. Each concrete report supplies its own title without a client type test.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Runtime dispatch selects an override from the actual object. Overloading instead selects among parameter lists; it is not the same mechanism.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abstract class cannot be constructed directly. Concrete derived classes must supply the required abstract behavior while preserving the shared contract.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12.2</a:t>
            </a:r>
            <a:endParaRPr lang="en-US" sz="3600" dirty="0"/>
          </a:p>
        </p:txBody>
      </p:sp>
      <p:sp>
        <p:nvSpPr>
          <p:cNvPr id="3" name="Text 1"/>
          <p:cNvSpPr txBox="1"/>
          <p:nvPr/>
        </p:nvSpPr>
        <p:spPr>
          <a:xfrm>
            <a:off x="548640" y="1280160"/>
            <a:ext cx="11094415" cy="1988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Report[] reports = { new SalesReport(), new StockReport()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foreach (Report report in reports) Console.WriteLine(report.Title());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abstract class Report { public abstract string Title();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SalesReport : Report { public override string Title() =&gt; "Sales";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StockReport : Report { public override string Title() =&gt; "Stock"; }</a:t>
            </a:r>
            <a:endParaRPr lang="en-US" sz="1800" dirty="0"/>
          </a:p>
        </p:txBody>
      </p:sp>
      <p:sp>
        <p:nvSpPr>
          <p:cNvPr id="4" name="Text 2"/>
          <p:cNvSpPr txBox="1"/>
          <p:nvPr/>
        </p:nvSpPr>
        <p:spPr>
          <a:xfrm>
            <a:off x="548640" y="3451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Sales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Stock</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Variable type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Actual object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Title 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SalesReport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Sales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StockReport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Report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SalesReport again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Sales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 loop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Unchanged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typeof branch needed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selects the Title override?</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report object's actual type</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local variable's spelling</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Its index in the array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Mechanism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Distinguishing feature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Override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Replace inherited virtual/abstract behavior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Overload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name, different parameter list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Abstract member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Concrete derived type supplies implementation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client that switches on every concrete type defeats the replaceable behavior the base contract was meant to provide.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Can new Report() succeed for this abstract type?</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if Title is never called</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in a loop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Add a weekly report implementation. Which client line must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Test Through the Base Type: run the same result-range check through all supplied discount policies.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all implementations with the same valid-input and result-range expectations. Do not weaken the test to accommodate a bad subtype.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dispatch through a base reference.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overload from override.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Implement an abstract operation.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Interfaces and Interchangeable Components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12.3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Express a small capability with an interface.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Supply a collaborator through a constructor.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Observe delegation with a test double.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Checkout needs a discount capability, not one particular discount class. A controlled replacement can record whether Checkout delegated the correct subtotal.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interface names a capability contract. Constructor injection supplies the collaborator; it does not require a framework.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client delegates to the supplied policy once and returns its result. Interchangeable implementations must agree on success and failure behavior.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12.3</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var checkout = new Checkout(new NoDiscount());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Console.WriteLine(checkout.Quote(20m));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interface IDiscount { decimal Apply(decimal amount);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NoDiscount : IDiscount { public decimal Apply(decimal x)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(x &lt; 0) throw new ArgumentOutOfRangeException();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x;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Checkout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private readonly IDiscount policy;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Checkout(IDiscount policy) { this.policy = policy;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decimal Quote(decimal amount) =&gt; policy.Apply(amount);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8806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20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Expected collaboration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Construct checkout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Retain supplied policy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Quote 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Call Apply with 20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Recording policy returns 17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Quote returns 17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Replace policy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 source remains unchanged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should Checkout depend on?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Every concrete policy class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required IDiscount capability</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policy's private fields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Collaborator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Purpose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Production policy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Calculate an approved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Recording double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Observe call count and argument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Client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Delegate and preserve the promised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Hard-coding a new policy inside Quote ignores the constructor-supplied collaborator and makes the recording test fail.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double returns 17 but Quote returns 20. What should the test detect?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Correct delegation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An unrelated formatting error</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client ignored or altered the collaborator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exporters each need a replaceable destination. Inherit every combination?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Replace a Component Without Changing Its Client: implement NoDiscount under the existing checkout contract.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a recording implementation with a distinctive return value, and verify one call with the exact subtotal and the same returned result.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Express a small capability with an interface.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Supply a collaborator through a constructor.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Observe delegation with a test double.</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OOP Examples and Variations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12.4 · Supporting / optional reference</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Selected depth; no additional required meeting.</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OOP variations without another meeting</a:t>
            </a:r>
            <a:endParaRPr lang="en-US" sz="3600" dirty="0"/>
          </a:p>
        </p:txBody>
      </p:sp>
      <p:sp>
        <p:nvSpPr>
          <p:cNvPr id="3" name="Text 1"/>
          <p:cNvSpPr txBox="1"/>
          <p:nvPr/>
        </p:nvSpPr>
        <p:spPr>
          <a:xfrm>
            <a:off x="548640" y="1280160"/>
            <a:ext cx="11094415" cy="2651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variable can select a hidden nonvirtual member by its declared type, while a virtual call dispatches through the runtime object. Keep these mechanisms distinct.</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overload changes the parameter list; an override replaces virtual/abstract inherited behavior. Sealing an override prevents another derived replacement.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Two quick checks</a:t>
            </a:r>
            <a:endParaRPr lang="en-US" sz="3600" dirty="0"/>
          </a:p>
        </p:txBody>
      </p:sp>
      <p:sp>
        <p:nvSpPr>
          <p:cNvPr id="3" name="Text 1"/>
          <p:cNvSpPr txBox="1"/>
          <p:nvPr/>
        </p:nvSpPr>
        <p:spPr>
          <a:xfrm>
            <a:off x="548640" y="1280160"/>
            <a:ext cx="11094415" cy="1127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Is a same-name method always an override?</a:t>
            </a: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B: Can a class implement more than one interface?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selected practice</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Add a Truck and Diagnose the Forbidden Override in the supporting examples.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supporting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Reference recap</a:t>
            </a:r>
            <a:endParaRPr lang="en-US" dirty="0"/>
          </a:p>
        </p:txBody>
      </p:sp>
      <p:sp>
        <p:nvSpPr>
          <p:cNvPr id="3" name="Text 1"/>
          <p:cNvSpPr txBox="1"/>
          <p:nvPr/>
        </p:nvSpPr>
        <p:spPr>
          <a:xfrm>
            <a:off x="548640" y="1280160"/>
            <a:ext cx="11094415" cy="1761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An overload changes the parameter list; an override replaces virtual/abstract inherited behavior. Sealing an override prevents another derived replacement.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to the core sequence when this reference question is resolved.</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Reference 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 Interfaces, and Polymorphism</dc:title>
  <dc:subject>PptxGenJS Presentation</dc:subject>
  <dc:creator>ThinkPress</dc:creator>
  <cp:lastModifiedBy>ThinkPress</cp:lastModifiedBy>
  <cp:revision>1</cp:revision>
  <dcterms:created xsi:type="dcterms:W3CDTF">2026-10-21T20:22:40Z</dcterms:created>
  <dcterms:modified xsi:type="dcterms:W3CDTF">2026-10-21T20:22:40Z</dcterms:modified>
</cp:coreProperties>
</file>