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8.1 Collection Families and Selection: slide 2; 8.2 Collection Operations and Behavior: slide 18; 8.3 Lists: slide 34; 8.4 Dictionaries: slide 50; 8.5 Optional Reading: Lambdas and LINQ: slide 66. Meeting 1: 8.1 and shared operation syntax in 8.2, 35 minutes; meeting 2: lists in 8.3 and shared references in 8.2, 40 minutes; meeting 3: dictionaries in 8.4, 35 minutes. Total 110 minutes. Query reading 8.5 is optional.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8.1 and shared operation syntax in 8.2, 35 minutes; meeting 2: lists in 8.3 and shared references in 8.2, 40 minutes; meeting 3: dictionaries in 8.4, 35 minutes. Total 110 minutes. Query reading 8.5 is optional. This part belongs to that allocation; slides are teaching choices, not separate timed lectures. Introduce the business question before syntax. A shop has an ordered basket, stock by product code, unique customer codes and waiting orders. These are different access questions even when every stored value is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8.1 and shared operation syntax in 8.2, 35 minutes; meeting 2: lists in 8.3 and shared references in 8.2, 40 minutes; meeting 3: dictionaries in 8.4, 35 minutes. Total 110 minutes. Query reading 8.5 is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 has an ordered basket, stock by product code, unique customer codes and waiting orders. These are different access questions even when every stored value is text.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bookstore handles many groups of values: the quantities sold during a week, the items in a customer's basket, stock quantities indexed by product code, and orders waiting for collection. Each group contains several values, but the program does different work with each one. Finding Tuesday's sales, looking up a product code, and selecting the next order are different questions. The way you organize the values should support the question you need to answer. A **collection** groups values and provides operations for working with them. Arrays are the first collection type we studied: {doc}`Chapter 7 ` introduced fixed-length, indexed sequences. Keeping that chapter separate gave us time to practice indexing, traversal, and multidimensional data. It did not put arrays outside the collection category. This chapter broadens our choices to other ready-made collection types in the .NET standard library. These classes are often called **built-in collections** because they come with .NET, although they are library types used by C#, rather than separate C# language features. Arrays have direct C# language syntax, such as `int[]`; collection classes such as `List` are library types. Both belong in our collection-family comparison. The runtime agrees. A one-dimensional array implements the same collection interfaces as `List`, including `IEnumerable`, `ICollection`, and `IList`, which is why `foreach` works on an array and why a method that accepts a collection accepts an array.[^0801_collections-array-interfaces] What an array cannot do is change its length; {ref}`a run-time check ` in the Collection Operations section shows the difference. This section introduces the big ideas before the detailed syntax: what a collection promises, how values can be accessed, and how to choose among collection families. You will see eight useful families and small demonstrations of their behavior. The next two sections develop `List` and `Dictionary` in depth. For the other families, your goal here is to recognize the need they address and predict their basic behavior, not to memorize every method or implement a data structure.  Teaching cue: explain why each step matters in this specific business case, then have a student restate the rule before the worked trace. Do not choose a family only because its name sounds familiar. Ask what information is used for access and what order or uniqueness rule must hold. Linked-list, set, stack, queue and priority-queue implementations are developed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path:** First explain the access question, compare the families, and connect their operations. Work through arrays/lists, dictionaries, and shared references before the order-summary exercise. Use the linked-list, set, stack/queue, and priority-queue demonstrations to recognize their policies; their implementations and detailed APIs belong to later chapters. The operation tables are references to revisit, not a list of signatures to memorize in one sitting.  Teaching cue: explain why each step matters in this specific business case, then have a student restate the rule before the worked trace. Do not choose a family only because its name sounds familiar. Ask what information is used for access and what order or uniqueness rule must hold. Linked-list, set, stack, queue and priority-queue implementations are developed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choose a family only because its name sounds familiar. Ask what information is used for access and what order or uniqueness rule must hold. Linked-list, set, stack, queue and priority-queue implementations are developed later.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'Basket entries: 2\nProduct codes: 1\nPEN stock: 12\n'. Do not choose a family only because its name sounds familiar. Ask what information is used for access and what order or uniqueness rule must hold. Linked-list, set, stack, queue and priority-queue implementations are developed later.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The meaningful key identifies the associated quantity; an index is only a sequence position.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**element** is one item stored in a collection. An array of sales quantities has numbers as its elements; a list of product codes has strings. A dictionary stores entries that associate a key with a value. The surrounding collection gives these items an organization and a set of supported actions. Several operations recur across collection families: | Operation | Question it answers | Bookstore example | | --- | --- | --- | | Add or insert | How does a new item enter the group? | Add a product code to the current basket. | | Retrieve | How do you obtain a particular item? | Find the stock quantity associated with a product code. | | Update | How does stored information change? | Replace a recorded quantity after a stock check. | | Remove | How does an item leave the group? | Remove a canceled item from a basket. | | Membership test | Is this item or key present? | Check whether a customer has already used a promotion. | | Traverse | How do you visit the stored items? | Print every item on an order. | | Inspect size | How many items are stored? | Count the orders waiting for collection. | Not every collection offers every operation, and the method names differ. A stack deliberately limits which item you retrieve next. An array lets you replace an element but does not let you add a new position to that same array. The operations and their rules form a collection's **contract**: the behavior a programmer can rely on. A **data structure** is an organization of stored information that supports operations. A library collection gives you an already implemented data structure through a public interface of methods and properties. You can use a list before you know how its storage grows, just as you can call `Math.Round` before implementing a rounding algorithm. Later chapters examine the implementation choices behind these operations. Keep the question of behavior separate from the question of storage. A queue promises a first-in, first-out processing rule. That rule does not require you to know whether a particular implementation uses an array or linked nodes. Conversely, the fact that two collections both store strings does not mean that their access rules are interchangeable.  Do not choose a family only because its name sounds familiar. Ask what information is used for access and what order or uniqueness rule must hold. Linked-list, set, stack, queue and priority-queue implementations are developed later.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arrivals A then B, a stack removes B while a queue removes A. A lower numeric priority is selected first by .NET PriorityQueue’s default comparer. These are recognition examples; implementation and full API details belong to later data-structure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A queue’s first-in-first-out rule preserves arrival processing; a stack would process the newest first. The trace provides an independent explanation of the ordinary case. Do not choose a family only because its name sounds familiar. Ask what information is used for access and what order or uniqueness rule must hold. Linked-list, set, stack, queue and priority-queue implementations are developed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queue’s first-in-first-out rule preserves arrival processing; a stack would process the newest first.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Retain all existing cscs-collections-transfer assessment IDs. Strong reasoning distinguishes position from key, duplicate entries from uniqueness, and FIFO from LIFO. Do not require later implementation details or the optional LINQ reading.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Do not choose a family only because its name sounds familiar. Ask what information is used for access and what order or uniqueness rule must hold. Linked-list, set, stack, queue and priority-queue implementations are developed later. For the Your Turn activity, the instructor answer is: Retain all existing cscs-collections-transfer assessment IDs. Strong reasoning distinguishes position from key, duplicate entries from uniqueness, and FIFO from LIFO. Do not require later implementation details or the optional LINQ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a collection from its access question; Compare sequence, association, uniqueness and processing-order policies; Separate recognizing a family from implementing it.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Do not choose a family only because its name sounds familiar. Ask what information is used for access and what order or uniqueness rule must hold. Linked-list, set, stack, queue and priority-queue implementations are developed later. Use the existing lab for connected practice and homework for independent transfer. Assessment IDs remain unchanged. Meeting 1: 8.1 and shared operation syntax in 8.2, 35 minutes; meeting 2: lists in 8.3 and shared references in 8.2, 40 minutes; meeting 3: dictionaries in 8.4, 35 minutes. Total 110 minutes. Query reading 8.5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8.1 and shared operation syntax in 8.2, 35 minutes; meeting 2: lists in 8.3 and shared references in 8.2, 40 minutes; meeting 3: dictionaries in 8.4, 35 minutes. Total 110 minutes. Query reading 8.5 is optional. This part belongs to that allocation; slides are teaching choices, not separate timed lectures. Introduce the business question before syntax. An order stores quantities 2,1 and 3 in  a list and saves the total under order code ORD-101. The sequence and the keyed summary serve different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8.1 and shared operation syntax in 8.2, 35 minutes; meeting 2: lists in 8.3 and shared references in 8.2, 40 minutes; meeting 3: dictionaries in 8.4, 35 minutes. Total 110 minutes. Query reading 8.5 is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stores quantities 2,1 and 3 in  a list and saves the total under order code ORD-101. The sequence and the keyed summary serve different roles.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map tells you which question a collection can answer. Now describe an operation with three parts: what must already be true, what changes, and what result the caller receives. This makes the cross-family tables below more useful than a list of names to memorize. Consider the sequence of product codes PEN, PAD, PEN. Removing by value selects an occurrence matching a value; removing by index selects a position. Popping a stack or dequeuing a queue selects according to processing order instead. Even when each operation reduces a count by one, it need not select the same element. Compare the selection rule before comparing the method spelling. | Intended action | Information supplied | Question to ask before calling | | --- | --- | --- | | Remove a known product code from a list | Value | Which matching occurrence is removed? | | Remove the third list position | Index 2 | Does that position exist now? | | Take the next queued request | No identifying key | Is the queue nonempty? | | Find stock for a product code | Key | What happens when that key is absent? | Returning a value and mutating a collection are independent possibilities. A lookup can return a result without removing anything. A removal can both change storage and report success. A Try-style operation supplies a Boolean success signal so that an absent result can be distinguished from a legitimate default value. Read both the success flag and the output value under the documented contract. Traversal is also an operation with a contract. Foreach provides a shared language form, but it does not make the collection families share one universal order. A sequence has positional order; a work queue has a service policy; a keyed collection has its own enumeration guarantees. If a report requires sorted product codes, request or construct that order explicitly instead of assuming that lookup storage supplies it. Guided comparison: there are two PEN entries. Explain how Remove("PEN"), RemoveAt(2), and a queue Dequeue could affect a three-item group differently. Draw the before/after contents and identify the selected item. Then explain why the original array cannot shrink merely because an element has been set to an empty string. Replacing a value is not changing the length of the same array. For related explanation, see the further reading below.[^development-reading]  Teaching cue: explain why each step matters in this specific business case, then have a student restate the rule before the worked trace. The list count is three but its sum is six; they answer different questions. The dictionary has one entry for one saved order. Keep those three counts distinct when reading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concrete list and dictionary comparison next: a list selects a position, while a dictionary selects a key. Read each operation as a state change plus a result. Then use the shared tables to recognize the corresponding rules in other families. Their detailed implementations are developed in later chapters; the current examples give an early exposure to those policies.  Teaching cue: explain why each step matters in this specific business case, then have a student restate the rule before the worked trace. The list count is three but its sum is six; they answer different questions. The dictionary has one entry for one saved order. Keep those three counts distinct when reading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count is three but its sum is six; they answer different questions. The dictionary has one entry for one saved order. Keep those three counts distinct when reading output.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'Line items: 3\nSaved total: 6\n'. The list count is three but its sum is six; they answer different questions. The dictionary has one entry for one saved order. Keep those three counts distinct when reading output.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Count measures elements, while the accumulator sums their values. The saved dictionary has one order entry.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collection's **family** tells you how it organizes access. Its **element type** tells you what values it stores. These are separate choices: a list of integers and a list of strings use the same sequence operations, but they store different kinds of values. A **generic type** is defined using one or more **type parameters**, which are placeholders for types. In documentation, `List` means a list whose element type is represented by `T`. When you write `List`, `string` is the **type argument** you have supplied for that parameter. The library provides the reusable class; you choose its type arguments when declaring the collection. | Library notation | Example in a program | Meaning of the type arguments | | --- | --- | --- | | `List` | `List` | Each element is a string. | | `HashSet` | `HashSet` | Each distinct element is an integer. | | `Dictionary` | `Dictionary` | Keys are strings; values are integers. | | `PriorityQueue` | `PriorityQueue` | Elements are strings; priorities are integers. | Generic collections provide **type safety**: the compiler checks whether supplied values can be used as the declared types. A `List` accepts integers; it will not accept the string `"twelve"`. This catches a mismatch before the program runs. It does not establish that every integer is appropriate: a negative stock quantity is still an integer, so business validation remains your responsibility.  The list count is three but its sum is six; they answer different questions. The dictionary has one entry for one saved order. Keep those three counts distinct when reading output.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basket initially contain NOTEBOOK; sameBasket=basket and snapshot=new List(basket). Adding PEN through sameBasket changes basket and sameBasket to two entries, while snapshot remains one. That is a copy of the outer sequence; future mutable-object elements require the Chapter11reference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Assignment shares the list reference. Constructing a new outer List is a different operation. The trace provides an independent explanation of the ordinary case. The list count is three but its sum is six; they answer different questions. The dictionary has one entry for one saved order. Keep those three counts distinct when reading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Assignment shares the list reference. Constructing a new outer List is a different operation.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exercise cell collection-summary-question. Expected original lines: Line items: 3 and Saved total: 6. Empty input gives line-item count 0 and  saved total 0; one order-summary entry can still be stored. Do not confuse the dictionary entry count with the list count.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list count is three but its sum is six; they answer different questions. The dictionary has one entry for one saved order. Keep those three counts distinct when reading output. For the Your Turn activity, the instructor answer is: Existing exercise cell collection-summary-question. Expected original lines: Line items: 3 and Saved total: 6. Empty input gives line-item count 0 and  saved total 0; one order-summary entry can still be stored. Do not confuse the dictionary entry count with the list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Read an operation as a result and a state change; Use generic list/dictionary operations; Explain shared references and explicit outer copies.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list count is three but its sum is six; they answer different questions. The dictionary has one entry for one saved order. Keep those three counts distinct when reading output. Use the existing lab for connected practice and homework for independent transfer. Assessment IDs remain unchanged. Meeting 1: 8.1 and shared operation syntax in 8.2, 35 minutes; meeting 2: lists in 8.3 and shared references in 8.2, 40 minutes; meeting 3: dictionaries in 8.4, 35 minutes. Total 110 minutes. Query reading 8.5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8.1 and shared operation syntax in 8.2, 35 minutes; meeting 2: lists in 8.3 and shared references in 8.2, 40 minutes; meeting 3: dictionaries in 8.4, 35 minutes. Total 110 minutes. Query reading 8.5 is optional. This part belongs to that allocation; slides are teaching choices, not separate timed lectures. Introduce the business question before syntax. A desk stores request codes in a growing sequence. Removing one request closes the gap, so positions later in the list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8.1 and shared operation syntax in 8.2, 35 minutes; meeting 2: lists in 8.3 and shared references in 8.2, 40 minutes; meeting 3: dictionaries in 8.4, 35 minutes. Total 110 minutes. Query reading 8.5 is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desk stores request codes in a growing sequence. Removing one request closes the gap, so positions later in the list change.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 are fine if you know ahead of time how long your sequence of items is. Then you create your array with that length, and you are all set. If you want a variable sized container, you are likely to want a `List`. List is a type of collection that is used when the number of elements is unknown. As with arrays, you might want a collection of any particular type. Unfortunately, you cannot use the simple notation of arrays to specify the type of element in a `List`. Array syntax is *built into* the language. Lists are handled in the *library* of types provided by C# from .NET. There are many situations where one general operation should work with different element types.  Teaching cue: explain why each step matters in this specific business case, then have a student restate the rule before the worked trace. The first insertion shifts the suffix right; removal closes the gap and shifts later elements left. Removing a missing value returns false and leaves the list unchanged. No element at index Count is available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bookstore basket starts empty and changes as a customer selects or cancels items. We need the indexed access and traversal learned with arrays, but we cannot predict the final number of items. The big idea is a **resizable ordered sequence**: `List` provides indexed positions while managing changes in size. Follow one distinction throughout this lesson: changing a value at an existing position is an update; inserting or removing an item changes the sequence and can change later positions. Use the operation comparison in {ref}`collection-operation-syntax` as a map while learning these calls. The library operation contracts are documented in the .NET API reference.[^0802_list-list-api]  Teaching cue: explain why each step matters in this specific business case, then have a student restate the rule before the worked trace. The first insertion shifts the suffix right; removal closes the gap and shifts later elements left. Removing a missing value returns false and leaves the list unchanged. No element at index Count is available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insertion shifts the suffix right; removal closes the gap and shifts later elements left. Removing a missing value returns false and leaves the list unchanged. No element at index Count is available to read.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'True\n7, 2, 9\n2, 7, 9\n'. The first insertion shifts the suffix right; removal closes the gap and shifts later elements left. Removing a missing value returns false and leaves the list unchanged. No element at index Count is available to read.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Value removal selects the first match. RemoveAt(2) instead selects the third element, which happens also to hold2 in  this example.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collection types use *generics*: a type in angle brackets after a class name tells the compiler what element type the collection holds. The generic collection types live in the `System.Collections.Generic` namespace, which some project templates import through implicit usings. Include `using System.Collections.Generic;` when those imports are not enabled. The generic list syntax is: To create a list, supply a type argument for the elements it will store: The first insertion shifts the suffix right; removal closes the gap and shifts later elements left. Removing a missing value returns false and leaves the list unchanged. No element at index Count is available to read.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For1,2,4,5, a naive forward index loop can remove2and then skip the4that shifts left. A reverse scan checks from the last index down and removes even entries without invalidating future lower indexes. A foreach over the same list must not be structurally mutated.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C. Reserved capacity does not create eight stored elements; only indexes 0,1,2 are  currently valid. The trace provides an independent explanation of the ordinary case. The first insertion shifts the suffix right; removal closes the gap and shifts later elements left. Removing a missing value returns false and leaves the list unchanged. No element at index Count is available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C. Reserved capacity does not create eight stored elements; only indexes 0,1,2 are  currently valid.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Code-comment assessment ID ch08-list-generics and cell ch8-e76194c4 remain unchanged. Original qualifying values are 85,91,100 in  order. Filtering output does not mutate the source list. Include80 exactly ; no qualifying values should produce no score lines.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first insertion shifts the suffix right; removal closes the gap and shifts later elements left. Removing a missing value returns false and leaves the list unchanged. No element at index Count is available to read. For the Your Turn activity, the instructor answer is: Code-comment assessment ID ch08-list-generics and cell ch8-e76194c4 remain unchanged. Original qualifying values are 85,91,100 in  order. Filtering output does not mutate the source list. Include80 exactly ; no qualifying values should produce no score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Use list insertion, removal, indexing and Count; Distinguish removal by value from removal by position; Traverse safely when structure may change.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first insertion shifts the suffix right; removal closes the gap and shifts later elements left. Removing a missing value returns false and leaves the list unchanged. No element at index Count is available to read. Use the existing lab for connected practice and homework for independent transfer. Assessment IDs remain unchanged. Meeting 1: 8.1 and shared operation syntax in 8.2, 35 minutes; meeting 2: lists in 8.3 and shared references in 8.2, 40 minutes; meeting 3: dictionaries in 8.4, 35 minutes. Total 110 minutes. Query reading 8.5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8.1 and shared operation syntax in 8.2, 35 minutes; meeting 2: lists in 8.3 and shared references in 8.2, 40 minutes; meeting 3: dictionaries in 8.4, 35 minutes. Total 110 minutes. Query reading 8.5 is optional. This part belongs to that allocation; slides are teaching choices, not separate timed lectures. Introduce the business question before syntax. The stock desk contains PEN→12 and  BOOK→0. BOOK is present but sold out; BAG is absent. A lookup must preserve that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8.1 and shared operation syntax in 8.2, 35 minutes; meeting 2: lists in 8.3 and shared references in 8.2, 40 minutes; meeting 3: dictionaries in 8.4, 35 minutes. Total 110 minutes. Query reading 8.5 is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stock desk contains PEN→12 and  BOOK→0. BOOK is present but sold out; BAG is absent. A lookup must preserve that distinction.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explored several ways of storing a collection of the same type of data: - arrays: built-in syntax, unchanging size of the collection - List: generic class type, allows the size of the collection to grow Both approaches allow reference to data elements using a numerical index between square brackets, as in `words[i]`. The index provides an order for the elements, but there is no meaning to the index beyond the sequence order. Sometimes, we want to look up data based on a more meaningful key, as in a dictionary: given a word, you can look up the definition. C# uses the type name [Dictionary](https://learn.microsoft.com/en-us/dotnet/api/system.collections.generic.dictionary-2?view=net-8.0), but with greater generality than in nontechnical use. In a regular dictionary, you start with a word, and look up the definition. The generalization is to have some piece of data that leads you to (or *maps* to) another piece of data. The computer science jargon is that a **key** leads you to a **value**. In a normal dictionary, these are both likely to be strings, but in the C# generalization, the possible types of key and value are much more extensive. Hence the generic `Dictionary` type requires you to specify *both a type for the key and a type for the value*.  Teaching cue: explain why each step matters in this specific business case, then have a student restate the rule before the worked trace. A dictionary miss still assigns the default integer to the out variable. Branch on found, not quantity !=0. Updating PEN from12 to 15keeps the dictionary entry count unchanged; assigning BAG would insert a new key, which the exercise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stock clerk knows a product code, not its position in a list. Searching for that code and coordinating a separate quantity list is unnecessary work when the program can directly associate the code with its quantity. The big idea is a **key-to-value association**. Retrieval, updating stock, and counting repeated requests all reuse that association. Keep three questions separate: Is the key present? What value belongs to it? Does this operation insert a new entry or update an existing one? Keys identify entries; they are not sequence positions. The examples below retain the translation dictionary, then transfer the same pattern to counting. Follow the arrow from key to value. The diagram does not promise enumeration order or any physical storage layout. The library operation contracts are documented in the .NET API reference.[^0803_dictionary-dictionary-api]  Teaching cue: explain why each step matters in this specific business case, then have a student restate the rule before the worked trace. A dictionary miss still assigns the default integer to the out variable. Branch on found, not quantity !=0. Updating PEN from12 to 15keeps the dictionary entry count unchanged; assigning BAG would insert a new key, which the exercise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miss still assigns the default integer to the out variable. Branch on found, not quantity !=0. Updating PEN from12 to 15keeps the dictionary entry count unchanged; assigning BAG would insert a new key, which the exercise forbids.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'True\n0\nFalse\n0\n'. A dictionary miss still assigns the default integer to the out variable. Branch on found, not quantity !=0. Updating PEN from12 to 15keeps the dictionary entry count unchanged; assigning BAG would insert a new key, which the exercise forbids.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Presence comes from the Boolean result, not whether the associated integer happens to be zero.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quite a mouthful! The C# `var` keyword (implicitly-typed local variable) syntax is handy to shorten it as you do not have to repeat the type name:  A dictionary miss still assigns the default integer to the out variable. Branch on found, not quantity !=0. Updating PEN from12 to 15keeps the dictionary entry count unchanged; assigning BAG would insert a new key, which the exercise forbids.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normalizes The pen, pen and book!, ignores articles/conjunctions/empty tokens and reports book1then pen2. Hash lookup is expected constant time under suitable assumptions, not an unconditional guarantee independent of key/hash behavior. Dictionary traversal is not the report ordering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Make report ordering explicit. Dictionary lookup is keyed; its enumeration is not an alphabetical-order contract. The trace provides an independent explanation of the ordinary case. A dictionary miss still assigns the default integer to the out variable. Branch on found, not quantity !=0. Updating PEN from12 to 15keeps the dictionary entry count unchanged; assigning BAG would insert a new key, which the exercise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Make report ordering explicit. Dictionary lookup is keyed; its enumeration is not an alphabetical-order contract.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exercise cell ch8-a21164ba. PEN 12 plus 3 must  print PEN: 15; BAGmust print Unknown product without insertion; BOOK 0 plus 3 is  a valid update to 3. Branch on TryGetValue success rather than a nonzero quantity test.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 dictionary miss still assigns the default integer to the out variable. Branch on found, not quantity !=0. Updating PEN from12 to 15keeps the dictionary entry count unchanged; assigning BAG would insert a new key, which the exercise forbids. For the Your Turn activity, the instructor answer is: Existing exercise cell ch8-a21164ba. PEN 12 plus 3 must  print PEN: 15; BAGmust print Unknown product without insertion; BOOK 0 plus 3 is  a valid update to 3. Branch on TryGetValue success rather than a nonzero quantity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Create and update key-to-value associations; Distinguish a missing key from a valid zero value; Count words using an explicit normalization and report-order policy.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 dictionary miss still assigns the default integer to the out variable. Branch on found, not quantity !=0. Updating PEN from12 to 15keeps the dictionary entry count unchanged; assigning BAG would insert a new key, which the exercise forbids. Use the existing lab for connected practice and homework for independent transfer. Assessment IDs remain unchanged. Meeting 1: 8.1 and shared operation syntax in 8.2, 35 minutes; meeting 2: lists in 8.3 and shared references in 8.2, 40 minutes; meeting 3: dictionaries in 8.4, 35 minutes. Total 110 minutes. Query reading 8.5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8.1 and shared operation syntax in 8.2, 35 minutes; meeting 2: lists in 8.3 and shared references in 8.2, 40 minutes; meeting 3: dictionaries in 8.4, 35 minutes. Total 110 minutes. Query reading 8.5 is optional. This part belongs to that allocation; slides are teaching choices, not separate timed lectures. Introduce the business question before syntax. A dispatch desk wants valid amounts in ascending order with a charge added, while retaining duplicates and preserving the recorded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8.1 and shared operation syntax in 8.2, 35 minutes; meeting 2: lists in 8.3 and shared references in 8.2, 40 minutes; meeting 3: dictionaries in 8.4, 35 minutes. Total 110 minutes. Query reading 8.5 is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**lambda expression** writes a short operation where a method expects one. Its parameter appears before `=&gt;`, and the returned expression appears after it: Read this as “given an amount, return whether it is at least 30.” The name `amount` is local to that expression. It receives each candidate value; it does not refer to an undeclared variable from an earlier cell. C# infers its type from the collection and library method. The `m` suffix makes 30 a decimal literal. Compare the familiar named method with the lambda below. Both answer the same yes/no question. `Where` calls the supplied test for each amount and keeps values for which it returns `true`; the final `ToList` collects those values in a new list. `using System.Linq;` makes these query methods available.  Teaching cue: explain why each step matters in this specific business case, then have a student restate the rule before the worked trace. Materialization stores this sequence of primitive values. It does not make the original deferred query permanently remember its old result. With mutable objects, an outer list copy would still share those objects; that deeper case belongs to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Materialization stores this sequence of primitive values. It does not make the original deferred query permanently remember its old result. With mutable objects, an outer list copy would still share those objects; that deeper case belongs to Chapter 11.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'30\n45, 30\n'. Materialization stores this sequence of primitive values. It does not make the original deferred query permanently remember its old result. With mutable objects, an outer list copy would still share those objects; that deeper case belongs to Chapter 11.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ToList captured the earlier results, but the query still describes work to perform on the current source.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assessment comment cscs-collections-linq-dispatch and cell query-practice remain unchanged. For 25,-1,40,25,10the report is 15,30,30,45 with  count 4 and  total 120. Zero is valid and becomes5. Empty/all-invalid input yields an empty report and sum zero. The standard Chapter 8assessments do not require LINQ.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Materialization stores this sequence of primitive values. It does not make the original deferred query permanently remember its old result. With mutable objects, an outer list copy would still share those objects; that deeper case belongs to Chapter 11. This supporting part is optional and does not add a core assessment prerequisite. Meeting 1: 8.1 and shared operation syntax in 8.2, 35 minutes; meeting 2: lists in 8.3 and shared references in 8.2, 40 minutes; meeting 3: dictionaries in 8.4, 35 minutes. Total 110 minutes. Query reading 8.5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8</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8</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8_collections/0801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8_collections/assignments/homework.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8_collections/0800_data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8_collections/0801_collections.html" TargetMode="External"/><Relationship Id="rId2" Type="http://schemas.openxmlformats.org/officeDocument/2006/relationships/hyperlink" Target="https://cscs.thinkpress.org/chapters/08_collections/assignments/lab.html" TargetMode="External"/><Relationship Id="rId3" Type="http://schemas.openxmlformats.org/officeDocument/2006/relationships/hyperlink" Target="https://cscs.thinkpress.org/chapters/08_collection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8_collections/0802_collection_operations.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8_collections/0802_collection_operations.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8_collections/0800_data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8_collections/0802_collection_operations.html" TargetMode="External"/><Relationship Id="rId2" Type="http://schemas.openxmlformats.org/officeDocument/2006/relationships/hyperlink" Target="https://cscs.thinkpress.org/chapters/08_collections/assignments/lab.html" TargetMode="External"/><Relationship Id="rId3" Type="http://schemas.openxmlformats.org/officeDocument/2006/relationships/hyperlink" Target="https://cscs.thinkpress.org/chapters/08_collection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08_collections/0803_list.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08_collections/0803_list.html" TargetMode="Externa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08_collections/0800_data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cscs.thinkpress.org/chapters/08_collections/0803_list.html" TargetMode="External"/><Relationship Id="rId2" Type="http://schemas.openxmlformats.org/officeDocument/2006/relationships/hyperlink" Target="https://cscs.thinkpress.org/chapters/08_collections/assignments/lab.html" TargetMode="External"/><Relationship Id="rId3" Type="http://schemas.openxmlformats.org/officeDocument/2006/relationships/hyperlink" Target="https://cscs.thinkpress.org/chapters/08_collection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8_collections/0804_dictionary.html" TargetMode="Externa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s://cscs.thinkpress.org/chapters/08_collections/0804_dictionary.html" TargetMode="Externa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cscs.thinkpress.org/chapters/08_collections/0800_data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cscs.thinkpress.org/chapters/08_collections/0804_dictionary.html" TargetMode="External"/><Relationship Id="rId2" Type="http://schemas.openxmlformats.org/officeDocument/2006/relationships/hyperlink" Target="https://cscs.thinkpress.org/chapters/08_collections/assignments/lab.html" TargetMode="External"/><Relationship Id="rId3" Type="http://schemas.openxmlformats.org/officeDocument/2006/relationships/hyperlink" Target="https://cscs.thinkpress.org/chapters/08_collection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hyperlink" Target="https://cscs.thinkpress.org/chapters/08_collections/0805_querying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hyperlink" Target="https://cscs.thinkpress.org/chapters/08_collections/0805_querying_collections.html" TargetMode="External"/><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hyperlink" Target="https://cscs.thinkpress.org/chapters/08_collections/0805_querying_collections.html" TargetMode="External"/><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Collections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8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Collection Families and Selection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8.1 · 8.1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2353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collection from its access question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sequence, association, uniqueness and processing-order policies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recognizing a family from implementing it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shop has an ordered basket, stock by product code, unique customer codes and waiting orders. These are different access questions even when every stored value is text.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Choose the question before the container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Position: what is the next item in this sequence?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Key: what quantity belongs to this product code?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Membership: have we already seen this customer?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policy constrains observable behavior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list keeps sequence order while its size can change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dictionary associates unique keys with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set represents distinct membership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Match a business question to a family</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Business requirement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Family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Fixed five-day counts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Array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Known indexed length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Growing basket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Resizable ordered sequence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Stock by SKU</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Dictionary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Key-to-value lookup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Unique customers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Membership without duplicates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Oldest waiting 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Queue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FIFO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basket = new List&lt;string&gt; { "PEN", "PEN"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stock = new Dictionary&lt;string, int&gt; { ["PEN"] = 12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Console.WriteLine($"Basket entries: {basket.Count}");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Console.WriteLine($"Product codes: {stock.Count}");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Console.WriteLine($"PEN stock: {stock["PEN"]}");</a:t>
            </a:r>
            <a:endParaRPr lang="en-US" sz="1800" dirty="0"/>
          </a:p>
        </p:txBody>
      </p:sp>
      <p:sp>
        <p:nvSpPr>
          <p:cNvPr id="4" name="Text 2"/>
          <p:cNvSpPr txBox="1"/>
          <p:nvPr/>
        </p:nvSpPr>
        <p:spPr>
          <a:xfrm>
            <a:off x="548640" y="37376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Basket entries: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Product codes: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PEN stock: 12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You know a product code and need its stock quantity. Which access model fits directly?</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 key-to-value association</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stack of unrelated counts</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random position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Processing order is another policy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stack is last in, first out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queue is first in, first out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priority queue selects by priority, not necessarily arrival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Different ordering policies answer different service questions</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stack returns the newest unfinished action; a queue returns the oldest waiting request.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priority queue chooses by priority; equal-priority order needs a separate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whether duplicates, changing size, missing keys and processing order are meaningful. An operation table is a reference, not a requirement to memorize every API.</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Orders must be handled in arrival order. Which policy matches?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LIFO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FIFO</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Distinct membership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Homework: Collection Choice and Transfer</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concept and transfer cases to justify a collection choice. State the access question and an operation whose behavior matters.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whether duplicates, changing size, missing keys and processing order are meaningful. An operation table is a reference, not a requirement to memorize every API.</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Collection: group with operations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access model: how an item is located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policy: promised ordering/uniqueness behavior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2353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a collection from its access question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Compare sequence, association, uniqueness and processing-order policies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recognizing a family from implementing it</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Collection Operations and Behavior</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8.2 · 8.2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an operation as a result and a state change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generic list/dictionary operations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shared references and explicit outer copies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order stores quantities 2,1 and 3 in  a list and saves the total under order code ORD-101. The sequence and the keyed summary serve different roles.</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Every operation has a before and after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Some operations return an item without removing 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Some remove and also return an item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Some mutate state while returning a success flag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Generic types state the stored types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buSzPct val="100000"/>
              <a:buChar char="•"/>
            </a:pPr>
            <a:r>
              <a:rPr lang="en-US" sz="2400" dirty="0">
                <a:solidFill>
                  <a:srgbClr val="8A1C3C"/>
                </a:solidFill>
                <a:latin typeface="Consolas" pitchFamily="34" charset="0"/>
                <a:ea typeface="Consolas" pitchFamily="34" charset="-122"/>
                <a:cs typeface="Consolas" pitchFamily="34" charset="-120"/>
              </a:rPr>
              <a:t>List&lt;int&gt;</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stores integer elements</a:t>
            </a:r>
            <a:endParaRPr lang="en-US" sz="2400" dirty="0"/>
          </a:p>
          <a:p>
            <a:pPr marL="254000" indent="-254000">
              <a:buSzPct val="100000"/>
              <a:buChar char="•"/>
            </a:pPr>
            <a:r>
              <a:rPr lang="en-US" sz="2400" dirty="0">
                <a:solidFill>
                  <a:srgbClr val="8A1C3C"/>
                </a:solidFill>
                <a:latin typeface="Consolas" pitchFamily="34" charset="0"/>
                <a:ea typeface="Consolas" pitchFamily="34" charset="-122"/>
                <a:cs typeface="Consolas" pitchFamily="34" charset="-120"/>
              </a:rPr>
              <a:t>Dictionary&lt;string,int&gt;</a:t>
            </a:r>
            <a:pPr indent="0" marL="0">
              <a:spcAft>
                <a:spcPts val="800"/>
              </a:spcAft>
              <a:buNone/>
            </a:pPr>
            <a:r>
              <a:rPr lang="en-US" sz="2400" dirty="0">
                <a:solidFill>
                  <a:srgbClr val="1F2328"/>
                </a:solidFill>
                <a:latin typeface="Calibri" pitchFamily="34" charset="0"/>
                <a:ea typeface="Calibri" pitchFamily="34" charset="-122"/>
                <a:cs typeface="Calibri" pitchFamily="34" charset="-120"/>
              </a:rPr>
              <a:t> maps string keys to integer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namespace is System.Collections.Generic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Accumulate then associate a summary</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Quantity visited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Running 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Saved order 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saved yet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saved yet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saved yet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Store ORD-101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ORD-101 →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quantities = new List&lt;int&gt; { 2, 1, 3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total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quantity in quantities) total += quantity;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saved = new Dictionary&lt;string, int&gt;();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saved["ORD-101"] = total;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Console.WriteLine($"Line items: {quantities.Count}");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Console.WriteLine($"Saved total: {saved["ORD-101"]}");</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Line items: 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Saved total: 6</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order has quantities 2,1 and 3. Which pair is correct?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Count 6,total 3</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Count 3,total 6</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Count 1,total 3</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Shared references remain shared</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Assigning another variable does not copy the list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new List built from the old one copies the outer sequence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Changing list structure is different from changing a local reference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alias and outer-copy behavior</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alias to a one-item basket sees a later Add; its Count becomes 2.</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new List copied before the Add still has Count 1.</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empty input, repeated values and a list alias versus an explicit copy. Verify both returned information and mutated state.</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With alias = basket, alias.Add("PEN") changes what?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an independent copy</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same list reached through basket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Neither variable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Interactive Exercise: An Order Summary</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summary exercise. Sum with foreach, save under ORD-101 and print the requested count and stored result. Then predict an empty list.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empty input, repeated values and a list alias versus an explicit copy. Verify both returned information and mutated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Generic: type-parameterized container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traversal: visit entries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outer copy: separate sequence storage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an operation as a result and a state change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generic list/dictionary operations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shared references and explicit outer copies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Lists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8.3 · 8.3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list insertion, removal, indexing and 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removal by value from removal by position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Traverse safely when structure may change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desk stores request codes in a growing sequence. Removing one request closes the gap, so positions later in the list change.</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Count defines the valid element positions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indexes 0 through  Count - 1</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Insert also permits the append position 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Capacity is reserved internal space, not stored item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Value and position removal have different contracts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Remove(value) removes the first matching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Remove returns whether a change occurred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RemoveAt(index) removes a known position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insertion and gap closure</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List contents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10,20,30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Insert 15 at  position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10,15,20,30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RemoveAt(0)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15,20,30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Remove missing 99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15,20,30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byValue = new List&lt;int&gt; { 2, 7, 2, 9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byPosition = new List&lt;int&gt;(byValue);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Console.WriteLine(byValue.Remove(2));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byPosition.RemoveAt(2);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byValue));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byPosition));</a:t>
            </a:r>
            <a:endParaRPr lang="en-US" sz="1800" dirty="0"/>
          </a:p>
        </p:txBody>
      </p:sp>
      <p:sp>
        <p:nvSpPr>
          <p:cNvPr id="4" name="Text 2"/>
          <p:cNvSpPr txBox="1"/>
          <p:nvPr/>
        </p:nvSpPr>
        <p:spPr>
          <a:xfrm>
            <a:off x="548640" y="40233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7, 2, 9</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2, 7, 9</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2,7,2,9, Remove(2) removes which element?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first value 2</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element at index 2</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value 2</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Structural mutation can invalidate traversal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Do not add/remove through the same list during foreach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backward index loop can safely remove selected positions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Filtering displayed output need not mutate the list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Remove safely when positions shift</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forward removal can move the next unvisited item into the current position.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backward index scan keeps not-yet-visited lower positions stable.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repeated values, missing removal, first/last positions and empty input. For removal during a scan, explain why the remaining positions stay valid.</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list has Count 3 and  Capacity 8. Which index can be read?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7</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3</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2</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Exercise: Generic List</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qualifying-scores exercise. Print values at least 80 without removing lower scores, then test an empty list and the exact cutoff.</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repeated values, missing removal, first/last positions and empty input. For removal during a scan, explain why the remaining positions stay valid.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stored items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Capacity: reserved slots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structural change: insertion/removal shifts positions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list insertion, removal, indexing and Count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removal by value from removal by position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Traverse safely when structure may change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Dictionaries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8.4 · 8.4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and update key-to-value associations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a missing key from a valid zero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words using an explicit normalization and report-order policy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8.4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stock desk contains PEN→12 and  BOOK→0. BOOK is present but sold out; BAG is absent. A lookup must preserve that distinction.</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Keys identify entries rather than sequence positions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key type and value type may differ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indexer assignment inserts or updates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Add rejects a duplicate key instead of updating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Use the lookup’s success result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TryGetValue returns whether the key exists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Its out value supplies the associated value on success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default zero on failure is not proof of a real zero-stock entry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presence separately from quantity</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Requested code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Found?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Quantity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Meaning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Known with stock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BOOK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Known, zero stock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BAG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 from failed lookup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Unknown product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stock = new Dictionary&lt;string, int&gt; { ["PEN"] = 12, ["BOOK"] = 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Console.WriteLine(stock.TryGetValue("BOOK", out int known));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Console.WriteLine(known);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Console.WriteLine(stock.TryGetValue("BAG", out int missing));</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Console.WriteLine(missing);</a:t>
            </a:r>
            <a:endParaRPr lang="en-US" sz="1800" dirty="0"/>
          </a:p>
        </p:txBody>
      </p:sp>
      <p:sp>
        <p:nvSpPr>
          <p:cNvPr id="4" name="Text 2"/>
          <p:cNvSpPr txBox="1"/>
          <p:nvPr/>
        </p:nvSpPr>
        <p:spPr>
          <a:xfrm>
            <a:off x="548640" y="3737610"/>
            <a:ext cx="11094415" cy="14173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TryGetValue returns true and quantity 0. What does that mean?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Missing product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Present product with zero stock</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Invalid dictionary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report needs explicit text and order policies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Normalize before using words as keys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Increment an existing count or initialize a new one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Sort a copied key list when the output requires an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word counter combines four explicit policies</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token separators, case normalization and ignored words before counting.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Sort copied keys under the report comparer before printing.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known positive stock, known zero stock, missing key, duplicate insertion and update. Use sorted copied keys for reproducible ordered reports.</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report must print product codes alphabetically. What should the program do?</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Assume dictionary traversal is always sorted</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Copy the keys and sort under a chosen comparer</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Use numeric indexes into the dictionary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Update Stock Safely</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safe stock update. Add delivery only to a known requested product; preserve an unknown code as unknown.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known positive stock, known zero stock, missing key, duplicate insertion and update. Use sorted copied keys for reproducible ordered reports.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2353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Key: entry identity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value: associated data</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hashing: lookup strategy with expected rather than unconditional constant cost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Create and update key-to-value associations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a missing key from a valid zero value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Count words using an explicit normalization and report-order policy</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8.4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Optional Reading: Lambdas and LINQ</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8.5 · 8.5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Optional supporting reading. No added meeting or required assessment.</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a predicate and a transformation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Compose filtering, ordering and projection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a deferred query from a materialized snapshot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8.5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lambda supplies an operation to a library method</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parameter names each candidate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Where uses a Boolean result to retain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Select returns transformed values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 deferred query and snapshot</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Snapshot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Query when traversed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Select amounts ≥30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45,10,30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stored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Work described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ToList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45,10,30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Change source[0]to 15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15,10,30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45,30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System.Linq;</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amounts = new List&lt;int&gt; { 45, 10, 30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query = amounts.Where(amount =&gt; amount &gt;= 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snapshot = query.ToList();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amounts[0] = 15;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query));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snapshot));</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45, 30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source changes, which result can see the new values?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 later traversal of the deferred query</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already materialized primitive-value snapshot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Neither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Practice: Prepare a Dispatch Report</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optional dispatch report. Exclude negative amounts, add 5, sort ascending, retain duplicates and preserve the source.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a predicate and a transformation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Compose filtering, ordering and projection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a deferred query from a materialized snapshot</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8.5 reading</a:t>
            </a:r>
            <a:pPr indent="0" marL="0">
              <a:spcAft>
                <a:spcPts val="1000"/>
              </a:spcAft>
              <a:buNone/>
            </a:pPr>
            <a:r>
              <a:rPr lang="en-US" sz="2400" dirty="0">
                <a:solidFill>
                  <a:srgbClr val="FFFFFF"/>
                </a:solidFill>
                <a:latin typeface="Calibri" pitchFamily="34" charset="0"/>
                <a:ea typeface="Calibri" pitchFamily="34" charset="-122"/>
                <a:cs typeface="Calibri" pitchFamily="34" charset="-120"/>
              </a:rPr>
              <a:t> · Optional reading; no required assessment.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Collections</dc:title>
  <dc:subject>PptxGenJS Presentation</dc:subject>
  <dc:creator>ThinkPress</dc:creator>
  <cp:lastModifiedBy>ThinkPress</cp:lastModifiedBy>
  <cp:revision>1</cp:revision>
  <dcterms:created xsi:type="dcterms:W3CDTF">2026-10-21T20:22:34Z</dcterms:created>
  <dcterms:modified xsi:type="dcterms:W3CDTF">2026-10-21T20:22:34Z</dcterms:modified>
</cp:coreProperties>
</file>