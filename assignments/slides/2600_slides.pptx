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notesMasterIdLst>
    <p:notesMasterId r:id="rId4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notesMaster" Target="notesMasters/notesMaster1.xml"/><Relationship Id="rId49" Type="http://schemas.openxmlformats.org/officeDocument/2006/relationships/presProps" Target="presProps.xml"/><Relationship Id="rId50" Type="http://schemas.openxmlformats.org/officeDocument/2006/relationships/viewProps" Target="viewProps.xml"/><Relationship Id="rId51" Type="http://schemas.openxmlformats.org/officeDocument/2006/relationships/theme" Target="theme/theme1.xml"/><Relationship Id="rId5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26: String Matching and Computational Limits.
Existing 110-minute chapter allocation: 35 minutes direct matching;40 minutes prefix reuse;35 minutes limits/coverage. Chapter 20 graph review is preparation for the synthesis assignments.
Part 26.1: Direct String Matching and Result Contracts, starting slide 2.
Part 26.2: Prefix Reuse and KMP, starting slide 17.
Part 26.3: Algorithms and Computational Limits, starting slide 32.
Each core part is a reading unit; follow the current three-meeting allocation rather than add one meeting per part. Supporting parts are explicitly optional. Quick-check and Your turn answers remain in these instructor notes; the student HTML omits them. All complete C# examples are standalone and recorded in the code verification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define ordinal, overlap, and empty-pattern policies, separate candidate start from matched length, verify every returned position. Read 2601_shortest_paths_strings.html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service message contains repeated Alert-like patterns. The report needs all overlapping occurrences, not just the first convenient match.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Positions count ordinal UTF-16 code units.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The checked prefix at a candidate start is evidence about that start. A mismatch does not authorize skipping arbitrary future starts.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three matches overlap, and the eight boundaries include both ends of the seven-unit text. The contract must state whether callers want all matches or a first-result API.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The checked prefix at a candidate start is evidence about that start. A mismatch does not authorize skipping arbitrary future starts.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three matches overlap, and the eight boundaries include both ends of the seven-unit text. The contract must state whether callers want all matches or a first-result API.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The checked prefix at a candidate start is evidence about that start. A mismatch does not authorize skipping arbitrary future starts.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The pattern needs three remaining code units. Starting later would read beyond the text.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Check every reported substring and legal offset.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State the unit. User-facing grapheme or culture-aware requirements call for different APIs and contracts.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For abababa and aba the starts are zero,two,four. An empty pattern matches every boundary; longer patterns return no matches. Verify complete positions rather than only a found/not-found Boolean.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State the unit. User-facing grapheme or culture-aware requirements call for different APIs and contracts.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three matches overlap, and the eight boundaries include both ends of the seven-unit text. The contract must state whether callers want all matches or a first-result API.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build the proper-prefix fallback table, preserve overlap after a full match, count preparation and each scan separately. Read 2602_prefix_matching.html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Two repetitive activity messages share the pattern aaaaab. Preparing its prefix evidence once can avoid restarting every earlier text comparison.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prefix[i] is the longest proper prefix also a suffix through i.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retained suffix must be equal to a pattern prefix, not merely share its length. This proof is what makes the skipped comparisons safe.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full pattern ends with aba, a proper prefix of length three. The second line confirms that a displayed emoji plus A occupies three UTF-16 code units under the stated C# string model.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retained suffix must be equal to a pattern prefix, not merely share its length. This proof is what makes the skipped comparisons safe.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full pattern ends with aba, a proper prefix of length three. The second line confirms that a displayed emoji plus A occupies three UTF-16 code units under the stated C# string model.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retained suffix must be equal to a pattern prefix, not merely share its length. This proof is what makes the skipped comparisons safe.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The matched suffix a is also a pattern prefix. Restarting after the full matched span would miss the overlapping occurrence.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Compare direct and KMP positions, including empty patterns.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A. Reusing preparation changes the workload accounting. Each request still reads its own text and has its own comparison counter.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Use prefix[matched-1] when matched is nonzero. Preserve the text position while reducing the proved prefix; after a full match, retain the proper suffix before continuing. Never infer an arbitrary shift from one mismatch.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A. Reusing preparation changes the workload accounting. Each request still reads its own text and has its own comparison counter.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full pattern ends with aba, a proper prefix of length three. The second line confirms that a displayed emoji plus A occupies three UTF-16 code units under the stated C# string model.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addresses validate exact and heuristic witnesses, distinguish feasibility from minimum objective value, limit claims to proved models and guarantees. Read 2603_limits_project.html with the worked examples. Use the selected trace and nearby practice within the chapter's existing meeting allocation; this part is a reading unit, not an extra required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these goals to the chapter objectives before starting. The running case is: A support manager must cover six required skills with as few teams as possible. A feasible greedy plan may use more teams than an exact plan. Ask learners to predict one result before execution. Revisit the same contract at the recap rather than introducing an unrelated API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result the stakeholder actually needs. A witness must use valid distinct team positions. A faster program is useful only when it still answers that question. Ask students to name one input or policy that would change the answer, then introduce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obligation in the running case. A successful witness proves the stated requirements are covered. An optimum requires a completed exact argument, and an approximation ratio requires a theorem under assumptions. Separate what clients can rely on from representation details. Ask what a missing, empty, tied, or invalid input means before moving to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in order and pause before revealing the next state on screen. The exact enumeration finds two teams. Choosing the four-skill team first leaves two separate gaps, requiring all three teams for that greedy sequence. The table records a logical trace; distinguish any sorted presentation view from physical storage layout. Ask a learner to justify one transition using the stated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every step to a state change in the preceding trace. A successful witness proves the stated requirements are covered. An optimum requires a completed exact argument, and an approximation ratio requires a theorem under assumptions. Ask which step would fail if omitted or moved. The complete implementation stays in the lesson so the slide can focus on the algorithm's own progress rather than long support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exact program point where this statement applies. Contrast initialization, one update, and the exit condition. Do not call a printed success message a proof. Use the verification slide later to distinguish a check on a few examples from the general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running, ask learners to predict the complete output. Run this standalone cell in a fresh C# application; it requires no previous cell. The exact enumeration finds two teams. Choosing the four-skill team first leaves two separate gaps, requiring all three teams for that greedy sequence. If the demo environment fails, read the verified output and continue with the trace rather than spending the meeting on tool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connect the output to the contract, not just read the numbers aloud. A successful witness proves the stated requirements are covered. An optimum requires a completed exact argument, and an approximation ratio requires a theorem under assumptions. Invite one controlled input change and predict its effect first. The worked output is evidence for this instance; the invariant and assumptions explain the broader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30 seconds individually, then compare with a neighbor. Answer: A. Do not turn one algorithm's growth into a universal impossibility proof. State the computational model and what has actually been proved. Ask for the reason, not only the letter. If a common wrong choice dominates, replay the contract or trace before proceeding.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one boundary and ask for an independently expected result. Use exact BigInteger growth counts rather than overflowing integers. Distinguish a legal empty result from an invalid input. Do not silently change the contract to make a failing test disappear.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for a prediction before revealing any explanation. Answer: B. Empirical quality is useful evidence but cannot establish a worst-case approximation theorem. Link the distinction to the business case. Use a brief counterexample when a learner treats an assumption as a universal guarantee.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three to five minutes in pairs. This practice is drawn from the section's actual exercise; it does not create a new assessment ID. Answer and debrief: Teams one and two cover all six skills, while no single team covers all six, so optimum two is proved for this instance. Greedy first chooses team zero and then needs both others. A bit outside the declared six requirements is invalid input, not an extra implicit requirement. Ask learners to show their trace or checks before consulting the lesson solution. Assess reasoning as well as printed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learners to separate implementation checks, model assumptions, and performance claims. B. Empirical quality is useful evidence but cannot establish a worst-case approximation theorem. Relate the requested evidence to the chapter lab/homework without changing their stable identities or making supporting readings silently compulsory.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a learner to explain one goal using the worked case. The exact enumeration finds two teams. Choosing the four-skill team first leaves two separate gaps, requiring all three teams for that greedy sequence. Exit question: what input, representation, or contract change would require a new argument? Use the current assignment route and chapter schedule to select follow-up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26</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26</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1_shortest_paths_strings.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1_shortest_paths_strings.html" TargetMode="Externa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2_prefix_matching.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2_prefix_matching.html" TargetMode="External"/><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3_limits_project.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hyperlink" Target="https://cscs.thinkpress.org/chapters/26_advanced_graphs_strings_limits/2603_limits_project.html" TargetMode="External"/><Relationship Id="rId2" Type="http://schemas.openxmlformats.org/officeDocument/2006/relationships/slideLayout" Target="../slideLayouts/slideLayout3.xml"/><Relationship Id="rId3"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26. String Matching and Computational Limits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Contracts, worked traces, practice, and verified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26.1. Direct String Matching and Result Contracts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Define ordinal, overlap, and empty-pattern policies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candidate start from matched length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every returned position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service message contains repeated Alert-like patterns. The report needs all overlapping occurrences, not just the first convenient match.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Positions count ordinal UTF-16 code units.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nonempty pattern may start through n-m when m is at most 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An empty pattern matches every boundary from zero through 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Text abababa, pattern aba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Candidate result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Match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character differs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Match overlapping the first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character differs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Match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For each legal start, reset matched length to zero.</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Advance within the pattern while characters agree.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Report the start only when the whole pattern matched.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checked prefix at a candidate start is evidence about that start. A mismatch does not authorize skipping arbitrary future starts.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text = "abababa", pattern = "aba";</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positions = new List&lt;int&gt;();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start = 0; start &lt;= text.Length - pattern.Length; start++)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k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(k &lt; pattern.Length &amp;&amp; text[start + k] == pattern[k]) 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(k == pattern.Length) positions.Add(start);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positions));</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Console.WriteLine($"empty-pattern boundaries={text.Length + 1}");</a:t>
            </a:r>
            <a:endParaRPr lang="en-US" sz="1800" dirty="0"/>
          </a:p>
        </p:txBody>
      </p:sp>
      <p:sp>
        <p:nvSpPr>
          <p:cNvPr id="4" name="Text 2"/>
          <p:cNvSpPr txBox="1"/>
          <p:nvPr/>
        </p:nvSpPr>
        <p:spPr>
          <a:xfrm>
            <a:off x="548640" y="4594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0,2,4</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empty-pattern boundaries=8</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three matches overlap, and the eight boundaries include both ends of the seven-unit text. The contract must state whether callers want all matches or a first-result API.</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text has length seven and pattern length three. What is the last possible start?</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Four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Six</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Seven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Longer-than-text nonempty patterns have no candidates.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Empty text with empty pattern has one boundary.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Uppercase and lowercase differ under ordinal matching.</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Do ordinal offsets always equal user-perceived character positions?</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one displayed character can use several UTF-16 units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the pattern is empty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Verify Direct Matches</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comparisons at each candidate start.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overlap, absence, empty, and longer patterns.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returned starts against a separate reference.</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every reported substring and legal offset.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first results with StringComparison.Ordinal.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Reuse Chapter 20 graph contracts explicitly for network-synthesis assignments; they are prerequisite review.</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Define ordinal, overlap, and empty-pattern policies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candidate start from matched length</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Verify every returned position</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26.2. Prefix Reuse and KMP</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Build the proper-prefix fallback table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overlap after a full match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preparation and each scan separately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repetitive activity messages share the pattern aaaaab. Preparing its prefix evidence once can avoid restarting every earlier text comparison.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prefix[i] is the longest proper prefix also a suffix through i.</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mismatch follows prefix[matched-1] rather than moving the text backward.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After a full match, fallback preserves overlapping candidates.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Pattern ababa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Prefix length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3:b</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Build fallback evidence from earlier pattern positions.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On mismatch, reduce the proven matched length.</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Advance the text index only when the scan has consumed or rejected its current unit.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retained suffix must be equal to a pattern prefix, not merely share its length. This proof is what makes the skipped comparisons safe.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string pattern = "ababa"; int[] prefix = new int[pattern.Length];</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i = 1, j = 0; i &lt; pattern.Length; i++)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(j &gt; 0 &amp;&amp; pattern[i] != pattern[j]) j = prefix[j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(pattern[i] == pattern[j]) j++;</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prefix[i] = j;</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prefix));</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Console.WriteLine("😀A".Length);</a:t>
            </a:r>
            <a:endParaRPr lang="en-US" sz="1800" dirty="0"/>
          </a:p>
        </p:txBody>
      </p:sp>
      <p:sp>
        <p:nvSpPr>
          <p:cNvPr id="4" name="Text 2"/>
          <p:cNvSpPr txBox="1"/>
          <p:nvPr/>
        </p:nvSpPr>
        <p:spPr>
          <a:xfrm>
            <a:off x="548640" y="43091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0,0,1,2,3</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full pattern ends with aba, a proper prefix of length three. The second line confirms that a displayed emoji plus A occupies three UTF-16 code units under the stated C# string model.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After matching aba in ababa, why fall back to prefix evidence?</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To preserve the overlapping start at position two</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To erase the text</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To make matching case-insensitive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Handle empty patterns before indexing pattern[matched].</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Count mismatch checks, not only successful advances.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result storage and output size in the complete bound.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When searching two messages with one prepared pattern, what work is counted?</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Preparation once plus both scans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Preparation twice but no scanning</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the number of successful matches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Repair Prefix Fallback</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the prefix table and a mismatch fallback.</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Run overlapping and repeated-prefix cases.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all positions with direct matching.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direct and KMP positions, including empty patterns.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Record preparation and per-request counts separately.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Chapter 20 BFS/DFS only for the separately identified graph-synthesis tasks.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Build the proper-prefix fallback table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Preserve overlap after a full match</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Count preparation and each scan separately</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26.3. Algorithms and Computational Limits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part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exact and heuristic witnesses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feasibility from minimum objective value</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Limit claims to proved models and guarantees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support manager must cover six required skills with as few teams as possible. A feasible greedy plan may use more teams than an exact plan.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Make the contract explicit</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witness must use valid distinct team positions.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Coverage establishes feasibility, not necessarily optimality.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Resource limits can leave the optimum unknown.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small instance</a:t>
            </a:r>
            <a:endParaRPr lang="en-US" sz="36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Team</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Skill mask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Greedy consequence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001111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First covers four skills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010011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Adds one missing skill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101100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Adds the final missing skill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Teams 1 and 2 together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111111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Two-team exact solution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Follow the mechanism</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Check the union of selected team masks independently.</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Compare objective counts only for feasible plans.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exact small instances to challenge heuristic quality claims.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Keep the invariant in view</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successful witness proves the stated requirements are covered. An optimum requires a completed exact argument, and an approximation ratio requires a theorem under assumptions.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Run the small model</a:t>
            </a:r>
            <a:endParaRPr lang="en-US" sz="3600" dirty="0"/>
          </a:p>
        </p:txBody>
      </p:sp>
      <p:sp>
        <p:nvSpPr>
          <p:cNvPr id="3" name="Text 1"/>
          <p:cNvSpPr txBox="1"/>
          <p:nvPr/>
        </p:nvSpPr>
        <p:spPr>
          <a:xfrm>
            <a:off x="548640" y="1280160"/>
            <a:ext cx="11094415" cy="34175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teams = { 0b001111, 0b010011, 0b101100 }; int optimum = 99;</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for (int mask = 0; mask &lt; (1 &lt;&lt; teams.Length); mask++)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int covered = 0, count = 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for (int i = 0; i &lt; teams.Length; i++)</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((mask &amp; (1 &lt;&lt; i)) != 0) { covered |= teams[i]; count++;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(covered == 0b111111) optimum = Math.Min(optimum, count);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Console.WriteLine($"exact teams={optimum}");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int union = teams[0] | teams[1] | teams[2];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Console.WriteLine($"greedy first choice then both others covers={union}");</a:t>
            </a:r>
            <a:endParaRPr lang="en-US" sz="1800" dirty="0"/>
          </a:p>
        </p:txBody>
      </p:sp>
      <p:sp>
        <p:nvSpPr>
          <p:cNvPr id="4" name="Text 2"/>
          <p:cNvSpPr txBox="1"/>
          <p:nvPr/>
        </p:nvSpPr>
        <p:spPr>
          <a:xfrm>
            <a:off x="548640" y="488061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exact teams=2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greedy first choice then both others covers=63</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Explain the observed result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exact enumeration finds two teams. Choosing the four-skill team first leaves two separate gaps, requiring all three teams for that greedy sequence.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1</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does an exponential enumeration implementation establish?</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A cost claim about that implementation</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An exponential lower bound for every possible algorithm</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That no input has a solution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Boundaries are part of the model</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Zero required skills permit an empty plan.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A partial union is not a full feasible cover.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Exceeding an exact-search input budget is not proof of infeasibility.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2</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Several examples show a heuristic near optimum. Is that an approximation guarantee?</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a proved ratio under stated assumptions is needed</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Only when the code is short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 Exercise: Verify the Cover Counterexample</a:t>
            </a:r>
            <a:endParaRPr lang="en-US" sz="3600"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Validate all six required skill bits.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Show why the best two-team cover is optimal.</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Reject an unknown requirement bit.</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section practice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before recommending</a:t>
            </a:r>
            <a:endParaRPr lang="en-US" sz="3600" dirty="0"/>
          </a:p>
        </p:txBody>
      </p:sp>
      <p:sp>
        <p:nvSpPr>
          <p:cNvPr id="3" name="Text 1"/>
          <p:cNvSpPr txBox="1"/>
          <p:nvPr/>
        </p:nvSpPr>
        <p:spPr>
          <a:xfrm>
            <a:off x="548640" y="1280160"/>
            <a:ext cx="11094415" cy="1834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Use exact BigInteger growth counts rather than overflowing integers.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unknown, infeasible, feasible, and proved optimal states.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Include preparation, repeated requests, storage, and output in the final recommendation.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97205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Validate exact and heuristic witnesses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feasibility from minimum objective value</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Limit claims to proved models and guarantees</a:t>
            </a:r>
            <a:endParaRPr lang="en-US" sz="2400" dirty="0"/>
          </a:p>
          <a:p>
            <a:pPr indent="0" marL="0">
              <a:spcAft>
                <a:spcPts val="1000"/>
              </a:spcAft>
              <a:buNone/>
            </a:pPr>
            <a:r>
              <a:rPr lang="en-US" sz="24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Continue with the lesson and exercises</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46</Slides>
  <Notes>46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46</vt:i4>
      </vt:variant>
    </vt:vector>
  </HeadingPairs>
  <TitlesOfParts>
    <vt:vector size="4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26: String Matching and Computational Limits</dc:title>
  <dc:subject>PptxGenJS Presentation</dc:subject>
  <dc:creator>ThinkPress</dc:creator>
  <cp:lastModifiedBy>ThinkPress</cp:lastModifiedBy>
  <cp:revision>1</cp:revision>
  <dcterms:created xsi:type="dcterms:W3CDTF">2026-10-21T20:22:53Z</dcterms:created>
  <dcterms:modified xsi:type="dcterms:W3CDTF">2026-10-21T20:22:53Z</dcterms:modified>
</cp:coreProperties>
</file>