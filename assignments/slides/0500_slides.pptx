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5.1 Designing and Calling Methods: slide 2; 5.2 Method Parameters and Scope: slide 18; 5.3 Returned Results and Method Contracts: slide 34; 5.4 Strings and Their Methods: slide 50; 5.5 Composition, Refactoring, and Method Checks: slide 66; 5.6 Supporting Reading: Recursive Methods: slide 76. Meeting 1: 5.1 and argument mapping in 5.2, 35 minutes; meeting 2: returned values in 5.2 and contracts in 5.3, 40 minutes; meeting 3: strings in 5.4 and synthesis in 5.5, 35 minutes. Total 110 minutes. Part 5.5 is a short core recap; 5.6 is optional supporting preparation.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Two parts of a store application print the same returns notice. A single printing helper allows the wording to change in one place while callers retain their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of a store application print the same returns notice. A single printing helper allows the wording to change in one place while callers retain their intent.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boundary should express a responsibility that a caller can understand. Imagine an invoice program that reads a quantity, computes a line amount, adds a packing fee, and prints a report. These actions are related, but they do not all need the same information or have the same effects. Separating them lets a calculation be checked without simulating keyboard input or capturing console output. Write a short sentence for each proposed task. Then identify the information that varies, what the caller needs back, and which effects are intentional. A method named Process does not tell a reader whether it calculates, prints, changes stock, or does all three. A name such as LineTotal makes a more specific promise when accompanied by its price/quantity contract. | Proposed task | Inputs | Useful result | Intentional external effect | | --- | --- | --- | --- | | Calculate line total | Unit price and quantity | Decimal amount | None | | Format receipt line | Description and amount | String | None | | Display receipt | Formatted text | No returned value | Console output | The table is a design tool, not a rule that every program must contain precisely these three methods. A very small program may keep printing in the caller. A reusable formatting policy may deserve a method even when it is initially called once. Repetition is one reason for extraction; giving a complicated idea a clear name is another. A common mistake is to extract a group of adjacent lines simply because they are adjacent. Instead ask whether they share one coherent purpose and whether the proposed interface hides irrelevant details. If callers need to know every internal step, the boundary may not be helping them. Guided decision: should CalculateDiscount read a customer name from the keyboard? Under a calculation-only contract, no. The caller obtains input and passes the values required by the rule. This makes the same calculation usable from a console program, a test, or a future interface without rewriting its arithmetic. For related explanation, see the further reading below.[^development-reading]  Teaching cue: explain why each step matters in this specific business case, then have a student restate the rule before the worked trace. The helper body does not execute merely because its definition appears in the file. The local-function form here keeps a compact standalone example; the lesson also maps definitions inside an explicit Program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prints a store name and separator on every receipt. Copying those two statements for every receipt works at first, but a store-name change must then be made in several places. A method names the task once so callers can reuse it. This is **decomposition**: divide a larger program into understandable responsibilities. Before refactoring, the statements appear twice: After refactoring, two calls use one definition. Predict the output: defining the helper does not print anything by itself.  Teaching cue: explain why each step matters in this specific business case, then have a student restate the rule before the worked trace. The helper body does not execute merely because its definition appears in the file. The local-function form here keeps a compact standalone example; the lesson also maps definitions inside an explicit Program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helper body does not execute merely because its definition appears in the file. The local-function form here keeps a compact standalone example; the lesson also maps definitions inside an explicit Program class.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'Returns accepted within 30 days.\nReturns accepted within 30 days.\n'. The helper body does not execute merely because its definition appears in the file. The local-function form here keeps a compact standalone example; the lesson also maps definitions inside an explicit Program class.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Each call executes the body; a definition by itself is not another call.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two-line header appears twice, in call order. Change the store name in the definition and run again: both calls use that change. Add a third call without copying the body. This demonstrates reuse rather than merely asserting that reuse is useful. Read the left column as duplicated instructions and the right as named calls. A method does not automatically make a program better; it should express a coherent responsibility. Separate calculation, input, and presentation when those have different jobs.  The helper body does not execute merely because its definition appears in the file. The local-function form here keeps a compact standalone example; the lesson also maps definitions inside an explicit Program class.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maps both source forms. Do not paste class-member access modifiers into a top-level local-function definition or rename Main to lowercase main and expect the same entry point. Keep the public interface and the executable call distinct.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A focused name and a focused responsibility help callers predict the method’s behavior. The trace provides an independent explanation of the ordinary case. The helper body does not execute merely because its definition appears in the file. The local-function form here keeps a compact standalone example; the lesson also maps definitions inside an explicit Program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A focused name and a focused responsibility help callers predict the method’s behavior.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m5-a68bc782. Keep the helper void and put the output inside its body. The expected original sentence is Returns accepted within 30 days. Printed output should occur twice, not once at definition time.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helper body does not execute merely because its definition appears in the file. The local-function form here keeps a compact standalone example; the lesson also maps definitions inside an explicit Program class. For the Your Turn activity, the instructor answer is: Exercise cell m5-a68bc782. Keep the helper void and put the output inside its body. The expected original sentence is Returns accepted within 30 days. Printed output should occur twice, not once at definition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Name a reusable task with one responsibility; Distinguish a definition from a call; Follow control into a helper and back.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helper body does not execute merely because its definition appears in the file. The local-function form here keeps a compact standalone example; the lesson also maps definitions inside an explicit Program class. Use the existing lab for connected practice and homework for independent transfer. Assessment IDs remain unchanged.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A delivery calculation receives an amount and a charge. The reusable helper should return their sum while leaving the caller’s original amount available for the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delivery calculation receives an amount and a charge. The reusable helper should return their sum while leaving the caller’s original amount available for the invoice.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should work with different caller data without reading hidden shared variables. The problem is to keep the task stable while allowing its inputs to vary. Parameters give each call named local inputs; returned values carry results back. The retained Verse comparison makes the repeated pattern visible, followed by business examples and scope traces.  Teaching cue: explain why each step matters in this specific business case, then have a student restate the rule before the worked trace. The parameter amount and the caller variable amount are separate storage locations for this value-type example. Returning 15 does not mutate the caller’s 12. ref would be a different, explicitly declared contract; prefer the simpler return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young child, you probably heard the "Old MacDonald" song. Consider the following two verses: | Verse 1 | Verse 2 | | --- | --- | | Old MacDonald had a farm | Old MacDonald had a farm | | E-I-E-I-O | E-I-E-I-O | | And on that farm he had a cow | And on that farm he had a duck | | E-I-E-I-O | E-I-E-I-O | | With a moo-moo here | With a quack-quack here | | And a moo-moo there | And a quack-quack there | | Here a moo, there a moo | Here a quack, there a quack | | Everywhere a moo-moo | Everywhere a quack-quack | | Old MacDonald had a farm | Old MacDonald had a farm | | E-I-E-I-O | E-I-E-I-O | As you can see, the two verses are in most part identical. We can probably create a method named `Verse` to abstract the repetitive lines, but the method will need two **parameters**, which are **placeholders** that allow different values to be substituted for the animal and noise when the method is called. The method body will use the parameters as variables to customize the print statements. Teaching cue: explain why each step matters in this specific business case, then have a student restate the rule before the worked trace. The parameter amount and the caller variable amount are separate storage locations for this value-type example. Returning 15 does not mutate the caller’s 12. ref would be a different, explicitly declared contract; prefer the simpler return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parameter amount and the caller variable amount are separate storage locations for this value-type example. Returning 15 does not mutate the caller’s 12. ref would be a different, explicitly declared contract; prefer the simpler return here.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'original=12, delivered=15\n3\n'. The parameter amount and the caller variable amount are separate storage locations for this value-type example. Returning 15 does not mutate the caller’s 12. ref would be a different, explicitly declared contract; prefer the simpler return here.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Ordinary value-type arguments supply values to separate parameter storage.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::::{dropdown} Class-based console-project version The top-level example above is the version to run as a standalone notebook cell. This complete project version retains the explicit `Main` structure. Save it as the only program in a separate console project; do not paste it after top-level statements in the same file. ::::  The parameter amount and the caller variable amount are separate storage locations for this value-type example. Returning 15 does not mutate the caller’s 12. ref would be a different, explicitly declared contract; prefer the simpler return here.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out to the already familiar TryParse pattern: one Boolean result communicates success and an output parameter receives a value. Do not infer successful parsing from a numeric output of zero because zero may also be valid input. Ordinary return is simpler for the delivery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A hidden dependency on previous calls makes isolated tests and reasoning harder; explicit parameters expose the needed inputs. The trace provides an independent explanation of the ordinary case. The parameter amount and the caller variable amount are separate storage locations for this value-type example. Returning 15 does not mutate the caller’s 12. ref would be a different, explicitly declared contract; prefer the simpler return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A hidden dependency on previous calls makes isolated tests and reasoning harder; explicit parameters expose the needed inputs.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m5-ea517946. Check 12 plus 3 gives 15 and zero plus 3 gives 3. Printing belongs to the caller. Do not use ref, out or shared static storage when a simple returned value meets this contract.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parameter amount and the caller variable amount are separate storage locations for this value-type example. Returning 15 does not mutate the caller’s 12. ref would be a different, explicitly declared contract; prefer the simpler return here. For the Your Turn activity, the instructor answer is: Exercise cell m5-ea517946. Check 12 plus 3 gives 15 and zero plus 3 gives 3. Printing belongs to the caller. Do not use ref, out or shared static storage when a simple returned value meets this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Map arguments to parameters by position and type; Use a returned result without changing caller inputs; Distinguish local scope from shared static state.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parameter amount and the caller variable amount are separate storage locations for this value-type example. Returning 15 does not mutate the caller’s 12. ref would be a different, explicitly declared contract; prefer the simpler return here. Use the existing lab for connected practice and homework for independent transfer. Assessment IDs remain unchanged.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A supervisor asks whether a purchase is approved. A helper should answer that question as bool, so the caller can decide how and where to report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supervisor asks whether a purchase is approved. A helper should answer that question as bool, so the caller can decide how and where to report it.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returned result need not be a number to print. A method can answer a question, and a bool result can become the condition of an if statement. Suppose an order receives free delivery when its subtotal is at least 50. The question is whether an order qualifies, not how much its delivery costs. Keeping those contracts distinct helps explain why two related methods may have different return types. Trace the boundary: 49.99 does not qualify, 50 qualifies, and 50.01 qualifies. The equality is part of the rule. Writing `&gt;` instead of `&gt;=` would still compile and would pass examples far from the threshold. The boundary cases distinguish the intended rule from that plausible defect. The general form is `static bool QuestionName(parameterList) { return condition; }`. Here the condition already has type bool. There is no need to convert it into the strings `"true"` and `"false"`; those are text values and cannot serve as an if condition. Printing the answer inside a void method also does not give the caller a Boolean result to use. Guided variation: qualification additionally requires a nonnegative subtotal. Explain whether that is an input precondition or a condition the method must check. Either design can be explicit, but silently switching between them makes testing and reuse confusing. State the accepted domain before writing your new tests. For related explanation, see the further reading below.[^development-reading]  Teaching cue: explain why each step matters in this specific business case, then have a student restate the rule before the worked trace. The boundary row distinguishes &lt;= from &lt;; the manager-false row distinguishes the intended AND rule from a test that ignores approval. The helper returns a Boolean instead of a message, allowing multiple callers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probably have used mathematical functions in algebra class, but they all had calculated values associated with them. For instance if you defined &gt; F(x)=x{sup}`2` then it follows that F(3) is 3{sup}`2` = 9, and F(3)+F(4) is 3{sup}`2` + 4{sup}`2` = 9 + 16 = 25. Method calls in expressions get replaced during evaluation by the value of the method. That's why when we can directly print out (line# 12-13) the result of the method call in the following code. The corresponding definition and examples in C# would be the following:  Teaching cue: explain why each step matters in this specific business case, then have a student restate the rule before the worked trace. The boundary row distinguishes &lt;= from &lt;; the manager-false row distinguishes the intended AND rule from a test that ignores approval. The helper returns a Boolean instead of a message, allowing multiple callers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row distinguishes &lt;= from &lt;; the manager-false row distinguishes the intended AND rule from a test that ignores approval. The helper returns a Boolean instead of a message, allowing multiple callers to use it.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'True\nFalse\nFalse\n'. The boundary row distinguishes &lt;= from &lt;; the manager-false row distinguishes the intended AND rule from a test that ignores approval. The helper returns a Boolean instead of a message, allowing multiple callers to use it.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Matching visible digits cannot substitute for the required return type and usable result.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syntax to notice is the **return statement**, with the word `return` followed by an expression, value, or variable(s). Methods that return values can be used in expressions (e.g., line# 13: F(3) + F(4)), just like in math class. When an expression with a method call is evaluated, the method call is effectively replaced temporarily by its returned value. Inside the C# method, the value to be returned is given by the expression in the `return` statement. Since the method returns data, and all data in C# is typed, there must be a type given for the value returned. Note that the method header does not start with `static void`. In place of `void` is `int`. The `void` in earlier method header meant nothing was returned. The `int` here means that a value *is* returned and its type is `int`. After the method `F` finishes executing from inside  The boundary row distinguishes &lt;= from &lt;; the manager-false row distinguishes the intended AND rule from a test that ignores approval. The helper returns a Boolean instead of a message, allowing multiple callers to use it.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fixed4plus subtotal times0.05, subtotal30requires5.50 and subtotal0requires4.00. A candidate returning only the product omits the fixed part. A generated explanation is evidence to inspect; students can do this review entirely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The required result is four even when the variable contribution is zero; a candidate returning only the product gives zero. The trace provides an independent explanation of the ordinary case. The boundary row distinguishes &lt;= from &lt;; the manager-false row distinguishes the intended AND rule from a test that ignores approval. The helper returns a Boolean instead of a message, allowing multiple callers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required result is four even when the variable contribution is zero; a candidate returning only the product gives zero.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m5-9d98d0da. Return sales * rate. Checks: 200 at 0.05 gives 10.00, zero sales gives 0.00. The return type should support numeric composition; a formatted string is a different contract.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boundary row distinguishes &lt;= from &lt;; the manager-false row distinguishes the intended AND rule from a test that ignores approval. The helper returns a Boolean instead of a message, allowing multiple callers to use it. For the Your Turn activity, the instructor answer is: Exercise cell m5-9d98d0da. Return sales * rate. Checks: 200 at 0.05 gives 10.00, zero sales gives 0.00. The return type should support numeric composition; a formatted string is a different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a Boolean, numeric or string return type from the question; Separate calculating from printing; Check every return path against the stated contract.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boundary row distinguishes &lt;= from &lt;; the manager-false row distinguishes the intended AND rule from a test that ignores approval. The helper returns a Boolean instead of a message, allowing multiple callers to use it. Use the existing lab for connected practice and homework for independent transfer. Assessment IDs remain unchanged.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A department code arrives with surrounding spaces and inconsistent letter case. Normalize it before comparison, while distinguishing an empty result from an actual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department code arrives with surrounding spaces and inconsistent letter case. Normalize it before comparison, while distinguishing an empty result from an actual department.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data is mostly text: customer names, email addresses, product codes, and notes. A C# `string` is an object that comes with many ready-made methods for working with that text. In this section you are the **consumer** of methods someone else wrote. To use one, you need to know only three things: its name, the parameters it expects, and what it returns. How the method does its work is the writer's concern, not yours.[^0504_strings-string-class] You call a string method with dot notation: the string, a dot, the method name, and the arguments in parentheses, as in `email.Trim()`. Teaching cue: explain why each step matters in this specific business case, then have a student restate the rule before the worked trace. A chain sends each returned string into the next method. The original raw string still includes its spaces. An all-whitespace input becomes empty and follows the Unknown policy rather than inventing a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lesson to writing your own helpers: a caller supplies arguments, receives a typed result, and must obey the contract whether the implementation is yours or the library's. Properties such as Length, indexers such as text[index], instance methods such as text.Trim(), and static calls such as string.IsNullOrWhiteSpace(text) have different syntax. These are patterns, not one program. Choose an actual method and compatible arguments. Keep returned values you need; do not mistake an immutable string operation for an in-place edit. Section 5.3 explains string.Format and returned formatting before the lab uses them.  Teaching cue: explain why each step matters in this specific business case, then have a student restate the rule before the worked trace. A chain sends each returned string into the next method. The original raw string still includes its spaces. An all-whitespace input becomes empty and follows the Unknown policy rather than inventing a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chain sends each returned string into the next method. The original raw string still includes its spaces. An all-whitespace input becomes empty and follows the Unknown policy rather than inventing a department.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'HR\nUnknown\n'. A chain sends each returned string into the next method. The original raw string still includes its spaces. An all-whitespace input becomes empty and follows the Unknown policy rather than inventing a department.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Strings are immutable; Trim returns the normalized value, which must be used or assigned.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`Length` is a property, not a method, so it has no parentheses. It gives the number of UTF-16 code units; for the simple Latin-letter examples here these correspond to the visible characters. Some Unicode symbols occupy more than one code unit. Square brackets with an index give one character (a `char`). Indexes start at 0, so the last character is at `Length - 1`. A chain sends each returned string into the next method. The original raw string still includes its spaces. An all-whitespace input becomes empty and follows the Unknown policy rather than inventing a department.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email-like domain exercise needs a valid delimiter position and an explicit policy for empty pieces. Substring start and length must stay in bounds. Tests with no delimiter, a delimiter at the beginning and a delimiter at the end distinguish format checks from blind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 failed search is a control signal. Establish that the delimiter and substring bounds are valid before extracting. The trace provides an independent explanation of the ordinary case. A chain sends each returned string into the next method. The original raw string still includes its spaces. An all-whitespace input becomes empty and follows the Unknown policy rather than inventing a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failed search is a control signal. Establish that the delimiter and substring bounds are valid before extracting.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m5-d6fabf59. Trim, test the cleaned length, then return invariant uppercase. Check an already normalized code as well as hr with spaces. The compact demonstration uses a conditional return; an if/return form is equally suitable.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chain sends each returned string into the next method. The original raw string still includes its spaces. An all-whitespace input becomes empty and follows the Unknown policy rather than inventing a department. For the Your Turn activity, the instructor answer is: Exercise cell m5-d6fabf59. Trim, test the cleaned length, then return invariant uppercase. Check an already normalized code as well as hr with spaces. The compact demonstration uses a conditional return; an if/return form is equally suitable.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Normalize text using explicit string operations; Use indexes and substring bounds safely; Explain immutability and capture returned strings.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chain sends each returned string into the next method. The original raw string still includes its spaces. An all-whitespace input becomes empty and follows the Unknown policy rather than inventing a department. Use the existing lab for connected practice and homework for independent transfer. Assessment IDs remain unchanged.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An invoice line needs a numeric calculation and a readable description. Let one helper calculate the amount, another compose the text, and the caller choose when to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invoice caller repeats price-times-quantity arithmetic in several places. Extracting LineTotal can give that calculation one name, but a safe refactoring needs more than moving those characters into braces. First record the existing accepted inputs, numerical outputs, formatting and mutation behavior. Then choose the new method's inputs/result so that callers can express the same work without depending on its internal temporary variables. For price 12 and quantity three, independently calculate 36 before running either version. A fixed packing charge of four makes the order total 40. Keep these two contracts distinct: LineTotal returns 36; OrderTotal returns 40. If the extracted line calculation starts adding packing as well, a caller that already adds packing can charge it twice even though both helper methods contain plausible arithmetic. | Refactoring stage | Evidence to retain | | --- | --- | | Before extraction | Expected amount and current observable output | | After extracting LineTotal | Same line amount for ordinary and zero inputs | | After composing OrderTotal | Exactly one application of the fixed charge | | After formatting a report | Same numerical meaning; display policy stays explicit | A useful composition passes returned values between helpers. It does not make each helper prompt independently for the same data. If CalculateTotal reads a second quantity while the caller formats the first, the report can display one order and charge another. Keep interaction in the caller and pass the accepted values into calculation helpers. For related explanation, see the further reading below.[^development-reading]  Teaching cue: explain why each step matters in this specific business case, then have a student restate the rule before the worked trace. The description helper must reuse LineTotal rather than duplicate the arithmetic. A calculation helper does not print. This separation allows a future report or test to use the same numeric contract without parsing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 helper must reuse LineTotal rather than duplicate the arithmetic. A calculation helper does not print. This separation allows a future report or test to use the same numeric contract without parsing text.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'PEN: 21\nTrue\n'. The description helper must reuse LineTotal rather than duplicate the arithmetic. A calculation helper does not print. This separation allows a future report or test to use the same numeric contract without parsing text.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New console lines change externally observable behavior even if the numeric return remains correct.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Expected values should come from the rule; a zero case can isolate fixed charges.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m5-751ba022. Derive two numeric expected totals independently and add zero quantity under the stated nonnegative domain. A correct textual report alone does not establish the required composition.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description helper must reuse LineTotal rather than duplicate the arithmetic. A calculation helper does not print. This separation allows a future report or test to use the same numeric contract without parsing text. For the Your Turn activity, the instructor answer is: Exercise cell m5-751ba022. Derive two numeric expected totals independently and add zero quantity under the stated nonnegative domain. A correct textual report alone does not establish the required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description helper must reuse LineTotal rather than duplicate the arithmetic. A calculation helper does not print. This separation allows a future report or test to use the same numeric contract without parsing text. Use the existing lab for connected practice and homework for independent transfer. Assessment IDs remain unchanged.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5.1 and argument mapping in 5.2, 35 minutes; meeting 2: returned values in 5.2 and contracts in 5.3, 40 minutes; meeting 3: strings in 5.4 and synthesis in 5.5, 35 minutes. Total 110 minutes. Part 5.5 is a short core recap; 5.6 is optional supporting preparation. This part belongs to that allocation; slides are teaching choices, not separate timed lectures. Introduce the business question before syntax. A deadline countdown can print one value, then delegate the shorter countdown to the same method. The call must move toward a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5.1 and argument mapping in 5.2, 35 minutes; meeting 2: returned values in 5.2 and contracts in 5.3, 40 minutes; meeting 3: strings in 5.4 and synthesis in 5.5, 35 minutes. Total 110 minutes. Part 5.5 is a short core recap; 5.6 is optional supporting preparation.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supporting reading extends the chapter's method skills; it is not a prerequisite for the required assignments. Read it once you are comfortable defining a method, passing arguments, and returning a value. For related explanation, see the further reading below.[^development-reading]  Teaching cue: explain why each step matters in this specific business case, then have a student restate the rule before the worked trace. The calls descend to zero before the pending additions finish. Each recursive call must decrease a nonnegative input. A base case alone does not help if the recursive argument never approaches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calls descend to zero before the pending additions finish. Each recursive call must decrease a nonnegative input. A base case alone does not help if the recursive argument never approaches it.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'6\n0\n'. The calls descend to zero before the pending additions finish. Each recursive call must decrease a nonnegative input. A base case alone does not help if the recursive argument never approaches it.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base case is reachable because the recursive argument decreases. Negative inputs are outside this stated demonstration domain.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supporting exercise identity remains unchanged. A one-digit nonnegative number has one digit; larger numbers reduce by integer division by ten. In particular zero must return one digit, not zero.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calls descend to zero before the pending additions finish. Each recursive call must decrease a nonnegative input. A base case alone does not help if the recursive argument never approaches it. This supporting part is optional and does not add a core assessment prerequisite. Meeting 1: 5.1 and argument mapping in 5.2, 35 minutes; meeting 2: returned values in 5.2 and contracts in 5.3, 40 minutes; meeting 3: strings in 5.4 and synthesis in 5.5, 35 minutes. Total 110 minutes. Part 5.5 is a short core recap; 5.6 is optional supporting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5</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5</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5_methods/0501_intro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5_methods/0501_intro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5_methods/0500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5_methods/0501_intro_methods.html" TargetMode="External"/><Relationship Id="rId2" Type="http://schemas.openxmlformats.org/officeDocument/2006/relationships/hyperlink" Target="https://cscs.thinkpress.org/chapters/05_methods/assignments/lab.html" TargetMode="External"/><Relationship Id="rId3" Type="http://schemas.openxmlformats.org/officeDocument/2006/relationships/hyperlink" Target="https://cscs.thinkpress.org/chapters/05_method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5_methods/0502_parameter.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5_methods/0502_parameter.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5_methods/0500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5_methods/0502_parameter.html" TargetMode="External"/><Relationship Id="rId2" Type="http://schemas.openxmlformats.org/officeDocument/2006/relationships/hyperlink" Target="https://cscs.thinkpress.org/chapters/05_methods/assignments/lab.html" TargetMode="External"/><Relationship Id="rId3" Type="http://schemas.openxmlformats.org/officeDocument/2006/relationships/hyperlink" Target="https://cscs.thinkpress.org/chapters/05_method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5_methods/0503_signature_call.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05_methods/0503_signature_call.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5_methods/0500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cscs.thinkpress.org/chapters/05_methods/0503_signature_call.html" TargetMode="External"/><Relationship Id="rId2" Type="http://schemas.openxmlformats.org/officeDocument/2006/relationships/hyperlink" Target="https://cscs.thinkpress.org/chapters/05_methods/assignments/lab.html" TargetMode="External"/><Relationship Id="rId3" Type="http://schemas.openxmlformats.org/officeDocument/2006/relationships/hyperlink" Target="https://cscs.thinkpress.org/chapters/05_method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5_methods/0504_strings.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cscs.thinkpress.org/chapters/05_methods/0504_strings.html" TargetMode="Externa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cscs.thinkpress.org/chapters/05_methods/0500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cscs.thinkpress.org/chapters/05_methods/0504_strings.html" TargetMode="External"/><Relationship Id="rId2" Type="http://schemas.openxmlformats.org/officeDocument/2006/relationships/hyperlink" Target="https://cscs.thinkpress.org/chapters/05_methods/assignments/lab.html" TargetMode="External"/><Relationship Id="rId3" Type="http://schemas.openxmlformats.org/officeDocument/2006/relationships/hyperlink" Target="https://cscs.thinkpress.org/chapters/05_method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cscs.thinkpress.org/chapters/05_methods/0505_summary.html" TargetMode="Externa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hyperlink" Target="https://cscs.thinkpress.org/chapters/05_methods/0505_summary.html" TargetMode="External"/><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hyperlink" Target="https://cscs.thinkpress.org/chapters/05_methods/0505_summary.html" TargetMode="External"/><Relationship Id="rId2" Type="http://schemas.openxmlformats.org/officeDocument/2006/relationships/hyperlink" Target="https://cscs.thinkpress.org/chapters/05_methods/assignments/lab.html" TargetMode="External"/><Relationship Id="rId3" Type="http://schemas.openxmlformats.org/officeDocument/2006/relationships/hyperlink" Target="https://cscs.thinkpress.org/chapters/05_methods/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hyperlink" Target="https://cscs.thinkpress.org/chapters/05_methods/0506_recursive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hyperlink" Target="https://cscs.thinkpress.org/chapters/05_methods/0506_recursive_methods.html" TargetMode="Externa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hyperlink" Target="https://cscs.thinkpress.org/chapters/05_methods/0506_recursive_methods.html" TargetMode="External"/><Relationship Id="rId2" Type="http://schemas.openxmlformats.org/officeDocument/2006/relationships/slideLayout" Target="../slideLayouts/slideLayout3.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Methods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5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Designing and Calling Methods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5.1 · 5.1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Name a reusable task with one responsibility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definition from a call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Follow control into a helper and back</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parts of a store application print the same returns notice. A single printing helper allows the wording to change in one place while callers retain their intent.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Discover the task before naming the method</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Give the helper one recognizable responsibility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name that describes that task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reusable work from the surrounding interaction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Definition and execution occur at different times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definition describes the helper’s body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call transfers control into that body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Execution returns to the statement after the call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two calls to one helper</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Execution 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Visible output so far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control location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Notice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notice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after first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Second Notice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Two notices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after second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Definition is reached as source text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extra notice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End of caller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Notice();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Notice();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void Notice()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Console.WriteLine("Returns accepted within 30 days.");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Returns accepted within 30 days.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Returns accepted within 30 days.</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helper is defined once and called twice. How often does its body execute?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Once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Twice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Three times including its definition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void is a deliberate contract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printing helper produces an output side effect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It does not return a value for arithmetic</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 remains the application entry point in an explicit program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Program form should not obscure control flow</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helper can be shown with top-level local-function syntax or inside Program.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explicit Main starts automatically; ordinary helpers start when called.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one and two calls. Count output lines and confirm the caller continues after each completed helper.</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responsibility best fits a method named ShowReturnNotice?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Print the returns notice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Calculate tax and update inventory too</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Return a random customer record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Reuse a Notice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Define the existing no-argument notice helper and call it twice. Change the wording once, then verify both calls reflect the change.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 one and two calls. Count output lines and confirm the caller continues after each completed helper.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Method: named task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definition: describes behavior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call: executes behavior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Name a reusable task with one responsibility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a definition from a call</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Follow control into a helper and back</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Method Parameters and Scope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5.2 · 5.2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Map arguments to parameters by position and type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returned result without changing caller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local scope from shared static state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delivery calculation receives an amount and a charge. The reusable helper should return their sum while leaving the caller’s original amount available for the invoice.</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Parameters are the helper’s named inputs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Arguments are the values supplied at the call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Position maps each argument to a parameter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compatible types and a meaningful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returned result belongs to the caller’s expression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return supplies one result and ends that path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caller can store or compose the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Passing ordinary value-type inputs copies their values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Map a call without losing the original</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Location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charge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before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stored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Helper parameters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 after assignment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amount = 12, charge =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delivered = AddDelivery(amount, charge);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Console.WriteLine($"original={amount}, delivered={delivered}");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Console.WriteLine(AddDelivery(0,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AddDelivery(int amount, int charge)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amount + charge;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original=12, delivered=15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AddDelivery(12, 3) returns 15. What happens to the caller’s int amount?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automatically becomes 15</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remains 12 unless the caller assigns a new value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becomes inaccessible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state local unless sharing is intended</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Local variables belong to their declared scope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ref and out explicitly expose caller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Static storage persists across calls and can couple otherwise separate 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ref and out make caller storage part of the contract</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ref requires a caller value before the call.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out requires the helper to assign its output before returning normally.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amount, zero charge and repeated calls with different charges. Verify that the original caller values remain unchanged.</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can unnecessary static mutable state make a helper harder to check?</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Its output may depend on earlier calls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Static variables have no type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return cannot be used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Use a Returned Value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AddDelivery with local inputs and a returned sum. Print both the unchanged original amount and the returned result.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 amount, zero charge and repeated calls with different charges. Verify that the original caller values remain unchanged.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Argument: call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parameter: helper input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scope: where a name is available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Map arguments to parameters by position and type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a returned result without changing caller inputs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local scope from shared static state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Returned Results and Method Contracts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5.3 · 5.3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Boolean, numeric or string return type from the question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calculating from printing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every return path against the stated contract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supervisor asks whether a purchase is approved. A helper should answer that question as bool, so the caller can decide how and where to report it.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Write the contract before the body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the accepted input domain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Describe the exact returned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whether output or other side effects are permitted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Returning and printing are different interfaces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bool result can control a later decision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numeric result can feed later arithmetic</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string result can be displayed by the caller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Check an approval contract</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Manager approved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amount ≤ 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Returned approval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Console.WriteLine(CanApprove(100,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Console.WriteLine(CanApprove(101,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Console.WriteLine(CanApprove(50, 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CanApprove(int amount, bool managerApproved)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amount &lt;= 100 &amp;&amp; managerApproved;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0233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numeric helper prints 10.00 but returns nothing. Does it meet a contract requiring a decimal result?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the digits match</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caller needs a returned numeric value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the console is open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Every reachable path must honor the result type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Early return can settle a case immediately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Boundary operators encode the business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plausible AI candidate still needs independent checks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Review a prepared candidate against every clause</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fixed handling amount and a percentage contribution are separate requirements.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One ordinary passing example cannot establish the complete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 typical input, zero contribution and the exact business cutoff. Do not derive the expected value by calling the same candidate again.</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handling helper should return 4 + subtotal × rate. Which input exposes omission of the fixed 4?</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a large subtotal</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Zero subtotal</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 input can expose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Return a Commission</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Implement the existing commission contract for nonnegative sales and rate. Keep printing in the caller and derive the expected results independently.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 typical input, zero contribution and the exact business cutoff. Do not derive the expected value by calling the same candidate again.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Contract: domain/result/effects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return type: result representation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early return: complete one path</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a Boolean, numeric or string return type from the question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calculating from printing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Check every return path against the stated contract</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Strings and Their Methods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5.4 · 5.4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Normalize text using explicit string operations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indexes and substring bounds safely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immutability and capture returned strings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department code arrives with surrounding spaces and inconsistent letter case. Normalize it before comparison, while distinguishing an empty result from an actual department.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Strings expose positions and searches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Length counts UTF-16 code units in this introductory model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Indexes run from zero to Length - 1</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IndexOf reports -1 when the search fails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Normalization is a stated policy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Trim removes surrounding whitespace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ToUpperInvariant supplies a reproducible case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Decide explicitly what an empty normalized code means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normalization without changing raw text</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Step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raw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cleaned/result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  hr  "</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computed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Trim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unchanged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Uppercase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unchanged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check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unchanged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HR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Console.WriteLine(Department("  hr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Console.WriteLine(Department("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Department(string raw)</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string cleaned = raw.Trim().ToUpperInvariant();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cleaned.Length == 0 ? "Unknown" : cleaned;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HR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Unknown</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raw.Trim() is called and its result ignored. What happens to raw?</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is modified in place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remains unchanged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becomes null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String operations return new values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Strings are immutable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Capture the value returned by Trim or Replace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shape before extracting a substring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Guard a format before slicing it</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Find the delimiter and check its position.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Only then extract the required nonempty pieces.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empty text, whitespace only, already normalized text and a missing delimiter. Non-null is an explicit input assumption for this helper.</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IndexOf returns -1 before a substring extraction. What should happen first?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Treat -1 as the last character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Check the missing-delimiter policy</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Add one and assume the format is valid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Clean a Department Code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non-null department-code helper. Return Unknown for whitespace-only input and keep output in the caller.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text, whitespace only, already normalized text and a missing delimiter. Non-null is an explicit input assumption for this helper.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Immutable: contents cannot change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normalization: chosen text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substring: bounded extracted text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Normalize text using explicit string operations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indexes and substring bounds safely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immutability and capture returned strings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5.4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Composition, Refactoring, and Method Checks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5.5 · 5.5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Core synthesis within meeting 3.</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Compose a report from small returned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Refactor while preserving an observable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Select checks that distinguish plausible defects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5.5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Composition turns returned values into inputs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LineTotal returns a numeric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LineDescription calls LineTotal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caller prints the returned description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a line through two helpers</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Inputs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LineTotal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quantity 3, price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LineDescription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code PEN, numeric result 21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PEN: 21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returned string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output 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Independent check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quantity 0, price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Numeric total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Console.WriteLine(LineDescription("PEN", 3, 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Console.WriteLine(LineTotal(0, 7)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LineTotal(int quantity, int price) =&gt; quantity * price;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LineDescription(string code, int quantity, int price)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$"{code}: {LineTotal(quantity, price)}";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PEN: 21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During extraction, the helper starts printing intermediate totals. Is that necessarily behavior-preserving?</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calculations are unchanged</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output is part of the observable contract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helper output is invisible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checkout candidate omits a fixed packing charge. Which tests help expose it?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repeated calls to the candidate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Independent expected totals including zero quantity</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Changing expected values to match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Synthesis: Report a Line Total</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existing LineTotal and LineDescription synthesis. Require the description to call the calculation helper; print only in the caller.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 one and several items, and compare output before and after extraction. Supporting recursion is not required for this core assignment.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Compose a report from small returned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Refactor while preserving an observable contract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Select checks that distinguish plausible defects</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5.5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Supporting Reading: Recursive Methods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5.6 · 5.6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Optional supporting reading. No added meeting or required assessment.</a:t>
            </a: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Identify a base case and a smaller subproblem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calls and returned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loop or recursion deliberately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5.6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recursive method can call itself</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base case completes without another recursive call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recursive case reduces the problem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Each active call has its own local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SumTo(3)</a:t>
            </a:r>
            <a:endParaRPr lang="en-US" sz="36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Pending work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Returned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SumTo(3)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 + SumTo(2)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SumTo(2)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 SumTo(1)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SumTo(1)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 + SumTo(0)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SumTo(0)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Base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Console.WriteLine(SumTo(3));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Console.WriteLine(SumTo(0));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SumTo(int 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 0) return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n + SumTo(n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property makes this nonnegative-input recursion terminate?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method has a short name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 decreases toward zero</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call prints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Count the Digits of an Order Number</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Trace the existing digit-counting practice before running. Identify the base case and the smaller integer passed recursively.</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Identify a base case and a smaller subproblem</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calls and returned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a loop or recursion deliberately</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5.6 reading</a:t>
            </a:r>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 · Optional reading; no required assessment.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dc:title>
  <dc:subject>PptxGenJS Presentation</dc:subject>
  <dc:creator>ThinkPress</dc:creator>
  <cp:lastModifiedBy>ThinkPress</cp:lastModifiedBy>
  <cp:revision>1</cp:revision>
  <dcterms:created xsi:type="dcterms:W3CDTF">2026-10-21T20:22:32Z</dcterms:created>
  <dcterms:modified xsi:type="dcterms:W3CDTF">2026-10-21T20:22:32Z</dcterms:modified>
</cp:coreProperties>
</file>