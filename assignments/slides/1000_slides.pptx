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10.1: Class Syntax, starts on slide 2.
Part 10.2: Properties, starts on slide 17.
Part 10.3: Instances, State, and Useful Behavior, starts on slide 32.
Part 10.4: Averager and Mutable State, starts on slide 47.
Core reading parts share the chapter's existing three-meeting allocation, totaling 110 minutes. They are not separate fifty-minute meetings. Optional/reference parts add no required meeting. Speaker-note answers belong to the instructor output; publish student HTML with those notes stripped.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supports the existing chapter plan: 35 minutes of selected explanation, prediction, code runs, and practice. Reading parts are not extra meetings; this chapter remains a three-meeting, 110-minute unit. A product code and price should travel together. A line calculation uses that product state rather than parallel variables scattered across a client. Begin by asking what an acceptable result must look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part, students should demonstrate these actions rather than recite API names. Each product has its own stored price. Quantity belongs to a line calculation, so it can remain a method parameter rather than stale object state. Reuse the business case to connect each goal to an observable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name the input, required result, and a failure that the customer would notice. A product code and price should travel together. A line calculation uses that product state rather than parallel variables scattered across a client. Resolve that requirement before choosing an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class defines a type; new constructs an instance. A constructor establishes initial state; an instance method uses that state. Use the running case to separate the data, the operation, and the rule it must preserve. Ask for one concrete observation before moving to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product has its own stored price. Quantity belongs to a line calculation, so it can remain a method parameter rather than stale object state. Ask which input is accepted and which observation would expose a violation. Keep the stated domain in view during the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complete cell independently; it needs no earlier slide state. The predicted output is 10.00. Connect each observation to the contract: Each product has its own stored price. Quantity belongs to a line calculation, so it can remain a method parameter rather than stale object state. If local tooling fails, use the saved output and continue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rows before executing another example. Action: Object state / result. Construct PEN at 2.50: Code PEN, price 2.50. LineTotal(4): 10.00. Construct BOOK at 8.00: Independent fields. Change local quantity: Does not rename a product. Ask students which state is logical and which belongs to the representation.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thirty seconds for individual predictions, then compare reasons. Answer: A. Price is product state. A calculation result and client loop index need not become fields. Use the trace to distinguish the relevant alternatives.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Element: Role. Class: Definition of a kind of object. Instance: One constructed object. Constructor: Establish initial state. Method: Perform a responsibility. Each product has its own stored price. Quantity belongs to a line calculation, so it can remain a method parameter rather than stale object state. Ask which difference changes the client result or workload rather than merely its notation.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Making all state static merges independent products into one shared store. Use instance fields for per-product data. Ask for an input that would distinguish the defective version from the intended contract. Do not accept compilation alone as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again after the contrasting case. Answer: B. Both objects share a type definition, but their instance fields belong to distinct constructed objects. Have a student explain the rejected alternative in terms of an observable consequence.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for a prediction before changing the input or model. Answer: In behavior that receives quantity and uses the product's stored price, rather than a report that reaches into private fields. This is a variation of the same contract, not a new required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named existing lesson exercise; keep its current identifier and starter. Give pairs two to three minutes, then inspect one prediction and one repair. Answer: The constructor assigns code and unit price to instance fields. LineTotal returns stored price times quantity; Describe uses those values to report PEN-01 x 4 = 10.00. Watch for this defect: Making all state static merges independent products into one shared store. Use instance fields for per-product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independently predicted results. Create two products with different codes/prices; repeat a call with a new quantity and confirm the first object's identity is unchanged. Require a short account of why these cases detect a plausible defect; tests should not simply repeat the implementation's own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product has its own stored price. Quantity belongs to a line calculation, so it can remain a method parameter rather than stale object state. Ask students to connect one goal to the trace and one to their exercise repair. Continue with the next reading in the existing chapter sequence; the lab and homework supply transfer beyond these selected live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supports the existing chapter plan: 40 minutes of selected explanation, prediction, code runs, and practice. Reading parts are not extra meetings; this chapter remains a three-meeting, 110-minute unit. A contact changes an email address during a shift. A rejected update must leave the last valid address intact. Begin by asking what an acceptable result must look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part, students should demonstrate these actions rather than recite API names. Check the proposed value first, then store its normalized form. Throwing does not reverse an assignment already made. Reuse the business case to connect each goal to an observable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name the input, required result, and a failure that the customer would notice. A contact changes an email address during a shift. A rejected update must leave the last valid address intact. Resolve that requirement before choosing an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property is an operation-shaped interface to state. A backing field stores a value; a calculated getter derives a result when read. Use the running case to separate the data, the operation, and the rule it must preserve. Ask for one concrete observation before moving to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the proposed value first, then store its normalized form. Throwing does not reverse an assignment already made. Ask which input is accepted and which observation would expose a violation. Keep the stated domain in view during the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complete cell independently; it needs no earlier slide state. The predicted output is rejected; team@example.edu. Connect each observation to the contract: Check the proposed value first, then store its normalized form. Throwing does not reverse an assignment already made. If local tooling fails, use the saved output and continue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rows before executing another example. Attempt: Stored address. Construct MOrtiz2@example.edu: mortiz2@example.edu. Set not-an-address: Rejected. Read after rejection: mortiz2@example.edu. Set TEAM@example.edu: team@example.edu. Ask students which state is logical and which belongs to the representation.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thirty seconds for individual predictions, then compare reasons. Answer: A. Validate before mutation so an exception cannot leave an invalid value behind. Use the trace to distinguish the relevant alternatives.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Property style: Meaning. Read-only getter: Client can observe but not assign. Validated setter: Client requests a checked change. Computed getter: Result derives from current fields. Check the proposed value first, then store its normalized form. Throwing does not reverse an assignment already made. Ask which difference changes the client result or workload rather than merely its notation.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Exposing the backing field lets callers bypass the rule. Keep storage private and make every accepted update use the same boundary. Ask for an input that would distinguish the defective version from the intended contract. Do not accept compilation alone as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again after the contrasting case. Answer: B. A calculated getter reads current state. Adding a second stored total would create a consistency obligation. Have a student explain the rejected alternative in terms of an observable consequence.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for a prediction before changing the input or model. Answer: No. Keep the last valid address and report failure separately. Validation is not a rollback mechanism. This is a variation of the same contract, not a new required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named existing lesson exercise; keep its current identifier and starter. Give pairs two to three minutes, then inspect one prediction and one repair. Answer: Check the proposed value before assigning email. Store accepted values in lowercase. The three observations are normalized initial text, a rejection message, and that same initial text again. Watch for this defect: Exposing the backing field lets callers bypass the rule. Keep storage private and make every accepted update use the same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independently predicted results. Check a valid update, invalid update, and reread after failure. This small @ rule is a teaching contract, not proof that mail can be delivered. Require a short account of why these cases detect a plausible defect; tests should not simply repeat the implementation's own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the proposed value first, then store its normalized form. Throwing does not reverse an assignment already made. Ask students to connect one goal to the trace and one to their exercise repair. Continue with the next reading in the existing chapter sequence; the lab and homework supply transfer beyond these selected live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supports the existing chapter plan: 35 minutes of selected explanation, prediction, code runs, and practice. Reading parts are not extra meetings; this chapter remains a three-meeting, 110-minute unit. Front and patio registers accumulate separate sales. A shift reset must clear both the total and the item count. Begin by asking what an acceptable result must look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part, students should demonstrate these actions rather than recite API names. Clear must restore the whole public invariant: total zero, count zero, and an empty average policy. A new sale then starts a new shift. Reuse the business case to connect each goal to an observable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name the input, required result, and a failure that the customer would notice. Front and patio registers accumulate separate sales. A shift reset must clear both the total and the item count. Resolve that requirement before choosing an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 state persists between calls. Local values disappear when a call returns; static members instead belong to the type. Use the running case to separate the data, the operation, and the rule it must preserve. Ask for one concrete observation before moving to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Clear must restore the whole public invariant: total zero, count zero, and an empty average policy. A new sale then starts a new shift. Ask which input is accepted and which observation would expose a violation. Keep the stated domain in view during the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complete cell independently; it needs no earlier slide state. The predicted output is 1 item, 3.00. Connect each observation to the contract: Clear must restore the whole public invariant: total zero, count zero, and an empty average policy. A new sale then starts a new shift. If local tooling fails, use the saved output and continue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rows before executing another example. Call: Total: Count. Add 4: 4: 1. Add 6: 10: 2. Clear: 0: 0. Add 3: 3: 1. Ask students which state is logical and which belongs to the representation.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thirty seconds for individual predictions, then compare reasons. Answer: B. The code may compile, but its observable count and average no longer describe the reset register. Use the trace to distinguish the relevant alternatives.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Variable lifetime: Example. Instance field: One register's running total. Local variable: One line amount. Static field: One store-wide receipt sequence. Clear must restore the whole public invariant: total zero, count zero, and an empty average policy. A new sale then starts a new shift. Ask which difference changes the client result or workload rather than merely its notation.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remembered average can become inconsistent with total and count. Derive it or update all related state under one clear invariant. Ask for an input that would distinguish the defective version from the intended contract. Do not accept compilation alone as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again after the contrasting case. Answer: A. Instance storage persists separately for each register; a static total merges stores, and a fresh local loses history. Have a student explain the rejected alternative in terms of an observable consequence.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for a prediction before changing the input or model. Answer: Count one, total three, and average three under the nonempty average rule. The old shift must not affect any result. This is a variation of the same contract, not a new required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named existing lesson exercise; keep its current identifier and starter. Give pairs two to three minutes, then inspect one prediction and one repair. Answer: Assign zero to total and itemCount. The empty average returns zero under this register contract; after Add(3m), expect one item and 3.00. Watch for this defect: A remembered average can become inconsistent with total and count. Derive it or update all related state under one clear invariant.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independently predicted results. Check empty reset, repeated reset, two independent registers, and reuse. Do not solve reset by creating hidden replacement objects in the client. Require a short account of why these cases detect a plausible defect; tests should not simply repeat the implementation's own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Clear must restore the whole public invariant: total zero, count zero, and an empty average policy. A new sale then starts a new shift. Ask students to connect one goal to the trace and one to their exercise repair. Continue with the next reading in the existing chapter sequence; the lab and homework supply transfer beyond these selected live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supporting material, not an extra required meeting or an automatic assessment prerequisite. Goal: Mutable averagers as a reference study. The instructor selects its depth according to course policy and available time. An averager can keep sum/count or average/count while promising the same observable average. Representation is private; the empty-state policy is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averager can keep sum/count or average/count while promising the same observable average. Representation is private; the empty-state policy is public. A variable assignment can alias an averager rather than duplicate its accumulated observations. A reset must restore all state defining the average. Connect this extension to the core contract rather than introducing it as a prerequisite for the standard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A: No, it copies a reference. B: No; the type must specify its empty-state policy, such as NaN or zero. Ask students to justify each answer using the stated contract. These checks are optional review, not a change to existing assessment 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existing exercise only if this supporting reading was selected. Answer: The assignment makes e and e2 refer to one object; both observe the mutation. The previous target may become unreachable if no other references remain. Retain the original exercise identity and do not require unsupported syntax in a core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assignment makes e and e2 refer to one object; both observe the mutation. The previous target may become unreachable if no other references remain. The core chapter remains complete without an extra meeting. Keep these notes available for students taking the recommended extension route.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P_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indent="0" marL="0">
              <a:buNone/>
              <a:defRPr lang="en-US" sz="3600" b="1" dirty="0">
                <a:solidFill>
                  <a:srgbClr val="2A6B37"/>
                </a:solidFill>
                <a:latin typeface="Cambria" pitchFamily="34" charset="0"/>
                <a:ea typeface="Cambria" pitchFamily="34" charset="-122"/>
                <a:cs typeface="Cambria" pitchFamily="34" charset="-120"/>
              </a:defRPr>
            </a:lvl1pPr>
          </a:lstStyle>
          <a:p>
            <a:pPr indent="0" marL="0">
              <a:buNone/>
            </a:pPr>
            <a:endParaRPr lang="en-US" sz="3600" dirty="0"/>
          </a:p>
        </p:txBody>
      </p:sp>
      <p:sp>
        <p:nvSpPr>
          <p:cNvPr id="3" name="Text 0"/>
          <p:cNvSpPr/>
          <p:nvPr/>
        </p:nvSpPr>
        <p:spPr>
          <a:xfrm>
            <a:off x="548640" y="6400800"/>
            <a:ext cx="8229600" cy="320040"/>
          </a:xfrm>
          <a:prstGeom prst="rect">
            <a:avLst/>
          </a:prstGeom>
          <a:noFill/>
          <a:ln/>
        </p:spPr>
        <p:txBody>
          <a:bodyPr wrap="square" lIns="0" tIns="0" rIns="0" bIns="0" rtlCol="0" anchor="ctr"/>
          <a:lstStyle/>
          <a:p>
            <a:pPr indent="0" marL="0">
              <a:buNone/>
            </a:pPr>
            <a:r>
              <a:rPr lang="en-US" sz="1100" dirty="0">
                <a:solidFill>
                  <a:srgbClr val="59636E"/>
                </a:solidFill>
                <a:latin typeface="Calibri" pitchFamily="34" charset="0"/>
                <a:ea typeface="Calibri" pitchFamily="34" charset="-122"/>
                <a:cs typeface="Calibri" pitchFamily="34" charset="-120"/>
              </a:rPr>
              <a:t>Computer Science in C#  ·  Chapter 10</a:t>
            </a:r>
            <a:endParaRPr lang="en-US" sz="11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P_DARK">
    <p:bg>
      <p:bgPr>
        <a:solidFill>
          <a:srgbClr val="2A6B37"/>
        </a:solidFill>
      </p:bgPr>
    </p:bg>
    <p:spTree>
      <p:nvGrpSpPr>
        <p:cNvPr id="1" name=""/>
        <p:cNvGrpSpPr/>
        <p:nvPr/>
      </p:nvGrpSpPr>
      <p:grpSpPr>
        <a:xfrm>
          <a:off x="0" y="0"/>
          <a:ext cx="0" cy="0"/>
          <a:chOff x="0" y="0"/>
          <a:chExt cx="0" cy="0"/>
        </a:xfrm>
      </p:grpSpPr>
      <p:sp>
        <p:nvSpPr>
          <p:cNvPr id="2" name="Text 0"/>
          <p:cNvSpPr/>
          <p:nvPr/>
        </p:nvSpPr>
        <p:spPr>
          <a:xfrm>
            <a:off x="548640" y="6400800"/>
            <a:ext cx="8229600" cy="320040"/>
          </a:xfrm>
          <a:prstGeom prst="rect">
            <a:avLst/>
          </a:prstGeom>
          <a:noFill/>
          <a:ln/>
        </p:spPr>
        <p:txBody>
          <a:bodyPr wrap="square" lIns="0" tIns="0" rIns="0" bIns="0" rtlCol="0" anchor="ctr"/>
          <a:lstStyle/>
          <a:p>
            <a:pPr indent="0" marL="0">
              <a:buNone/>
            </a:pPr>
            <a:r>
              <a:rPr lang="en-US" sz="1100" dirty="0">
                <a:solidFill>
                  <a:srgbClr val="DFEEE2"/>
                </a:solidFill>
                <a:latin typeface="Calibri" pitchFamily="34" charset="0"/>
                <a:ea typeface="Calibri" pitchFamily="34" charset="-122"/>
                <a:cs typeface="Calibri" pitchFamily="34" charset="-120"/>
              </a:rPr>
              <a:t>Computer Science in C#  ·  Chapter 10</a:t>
            </a:r>
            <a:endParaRPr lang="en-US" sz="11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cscs.thinkpress.org/chapters/10_classes/1001_class_syntax.html" TargetMode="Externa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hyperlink" Target="https://cscs.thinkpress.org/chapters/10_classes/1002_properties.html" TargetMode="External"/><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hyperlink" Target="https://cscs.thinkpress.org/chapters/10_classes/1003_class_instance.html" TargetMode="External"/><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hyperlink" Target="https://cscs.thinkpress.org/chapters/10_classes/1004_averager.html" TargetMode="External"/><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800" b="1" dirty="0">
                <a:solidFill>
                  <a:srgbClr val="FFFFFF"/>
                </a:solidFill>
                <a:latin typeface="Cambria" pitchFamily="34" charset="0"/>
                <a:ea typeface="Cambria" pitchFamily="34" charset="-122"/>
                <a:cs typeface="Cambria" pitchFamily="34" charset="-120"/>
              </a:rPr>
              <a:t>Classes and Objects</a:t>
            </a:r>
            <a:endParaRPr lang="en-US" sz="48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Chapter 10 · Computer Science in C#</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Business models, worked traces, and verified C# examples.</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Class Syntax</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Part 10.1 · Core reading</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Computer Science in C#</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for this reading</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Define a class around one responsibility.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Initialize per-object fields through a constructor.</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Distinguish fields from local calculations.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Start with the business question</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product code and price should travel together. A line calculation uses that product state rather than parallel variables scattered across a client.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Name the model</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class defines a type; new constructs an instance. A constructor establishes initial state; an instance method uses that state.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State the contract</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Each product has its own stored price. Quantity belongs to a line calculation, so it can remain a method parameter rather than stale object state.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Worked example 10.1</a:t>
            </a:r>
            <a:endParaRPr lang="en-US" sz="3600" dirty="0"/>
          </a:p>
        </p:txBody>
      </p:sp>
      <p:sp>
        <p:nvSpPr>
          <p:cNvPr id="3" name="Text 1"/>
          <p:cNvSpPr txBox="1"/>
          <p:nvPr/>
        </p:nvSpPr>
        <p:spPr>
          <a:xfrm>
            <a:off x="548640" y="1280160"/>
            <a:ext cx="11094415" cy="284607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var pen = new Product("PEN", 2.50m);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Console.WriteLine(pen.LineTotal(4).ToString("F2"));</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class Product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private readonly string code;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private readonly decimal price;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public Product(string code, decimal price) { this.code = code; this.price = price;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public decimal LineTotal(int quantity) { return price * quantity;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p:txBody>
      </p:sp>
      <p:sp>
        <p:nvSpPr>
          <p:cNvPr id="4" name="Text 2"/>
          <p:cNvSpPr txBox="1"/>
          <p:nvPr/>
        </p:nvSpPr>
        <p:spPr>
          <a:xfrm>
            <a:off x="548640" y="4309110"/>
            <a:ext cx="11094415" cy="56007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10.00</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one change at a time</a:t>
            </a:r>
            <a:endParaRPr lang="en-US" sz="3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5547208"/>
                <a:gridCol w="554720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Action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Object state / result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Construct PEN at 2.50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Code PEN, price 2.50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LineTotal(4)</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10.00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Construct BOOK at 8.00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Independent fields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Change local quantity</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Does not rename a product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Which value must persist between calls?</a:t>
            </a:r>
            <a:endParaRPr lang="en-US" sz="3600" dirty="0"/>
          </a:p>
        </p:txBody>
      </p:sp>
      <p:sp>
        <p:nvSpPr>
          <p:cNvPr id="3" name="Choice A"/>
          <p:cNvSpPr txBox="1"/>
          <p:nvPr/>
        </p:nvSpPr>
        <p:spPr>
          <a:xfrm>
            <a:off x="548640" y="1280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Product price</a:t>
            </a:r>
            <a:endParaRPr lang="en-US" sz="2400" dirty="0"/>
          </a:p>
        </p:txBody>
      </p:sp>
      <p:sp>
        <p:nvSpPr>
          <p:cNvPr id="4" name="Choice B"/>
          <p:cNvSpPr txBox="1"/>
          <p:nvPr/>
        </p:nvSpPr>
        <p:spPr>
          <a:xfrm>
            <a:off x="548640" y="2103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A temporary multiplication result</a:t>
            </a:r>
            <a:endParaRPr lang="en-US" sz="2400" dirty="0"/>
          </a:p>
        </p:txBody>
      </p:sp>
      <p:sp>
        <p:nvSpPr>
          <p:cNvPr id="5" name="Choice C"/>
          <p:cNvSpPr txBox="1"/>
          <p:nvPr/>
        </p:nvSpPr>
        <p:spPr>
          <a:xfrm>
            <a:off x="548640" y="292608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The loop index printing the report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Compare the choices</a:t>
            </a:r>
            <a:endParaRPr lang="en-US" sz="3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5547208"/>
                <a:gridCol w="554720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Element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Role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Class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Definition of a kind of object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Instance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One constructed object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Constructor</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Establish initial state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Method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Perform a responsibility</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A defect worth detecting</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Making all state static merges independent products into one shared store. Use instance fields for per-product data.</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Two new Product calls create what?</a:t>
            </a:r>
            <a:endParaRPr lang="en-US" sz="3600" dirty="0"/>
          </a:p>
        </p:txBody>
      </p:sp>
      <p:sp>
        <p:nvSpPr>
          <p:cNvPr id="3" name="Choice A"/>
          <p:cNvSpPr txBox="1"/>
          <p:nvPr/>
        </p:nvSpPr>
        <p:spPr>
          <a:xfrm>
            <a:off x="548640" y="1280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One object automatically shared</a:t>
            </a:r>
            <a:endParaRPr lang="en-US" sz="2400" dirty="0"/>
          </a:p>
        </p:txBody>
      </p:sp>
      <p:sp>
        <p:nvSpPr>
          <p:cNvPr id="4" name="Choice B"/>
          <p:cNvSpPr txBox="1"/>
          <p:nvPr/>
        </p:nvSpPr>
        <p:spPr>
          <a:xfrm>
            <a:off x="548640" y="2103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Two independent instances</a:t>
            </a:r>
            <a:endParaRPr lang="en-US" sz="2400" dirty="0"/>
          </a:p>
        </p:txBody>
      </p:sp>
      <p:sp>
        <p:nvSpPr>
          <p:cNvPr id="5" name="Choice C"/>
          <p:cNvSpPr txBox="1"/>
          <p:nvPr/>
        </p:nvSpPr>
        <p:spPr>
          <a:xfrm>
            <a:off x="548640" y="292608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Two copies of the class definition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Change one assumption</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product reports four pens at 2.50. Where should the line amount be calculated?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a:t>
            </a:r>
            <a:endParaRPr lang="en-US" sz="3600" dirty="0"/>
          </a:p>
        </p:txBody>
      </p:sp>
      <p:sp>
        <p:nvSpPr>
          <p:cNvPr id="3" name="Text 1"/>
          <p:cNvSpPr txBox="1"/>
          <p:nvPr/>
        </p:nvSpPr>
        <p:spPr>
          <a:xfrm>
            <a:off x="548640" y="1280160"/>
            <a:ext cx="11094415" cy="150876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Complete Build a Product Class: store both constructor parameters and implement LineTotal and Describe.</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lesson exercise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Verify more than one example</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Create two products with different codes/prices; repeat a call with a new quantity and confirm the first object's identity is unchanged.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a:t>
            </a:r>
            <a:endParaRPr lang="en-US"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Define a class around one responsibility.</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Initialize per-object fields through a constructor.</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Distinguish fields from local calculations.</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a:t>
            </a:r>
            <a:endParaRPr lang="en-US" sz="3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Properties</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Part 10.2 · Core reading</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Computer Science in C#</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for this reading</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Use getters and setters as a public surface.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Validate before changing stored state.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Recognize computed properties.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Start with the business question</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contact changes an email address during a shift. A rejected update must leave the last valid address intact.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Name the model</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property is an operation-shaped interface to state. A backing field stores a value; a calculated getter derives a result when read.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State the contract</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Check the proposed value first, then store its normalized form. Throwing does not reverse an assignment already made.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Worked example 10.2</a:t>
            </a:r>
            <a:endParaRPr lang="en-US" sz="3600" dirty="0"/>
          </a:p>
        </p:txBody>
      </p:sp>
      <p:sp>
        <p:nvSpPr>
          <p:cNvPr id="3" name="Text 1"/>
          <p:cNvSpPr txBox="1"/>
          <p:nvPr/>
        </p:nvSpPr>
        <p:spPr>
          <a:xfrm>
            <a:off x="548640" y="1280160"/>
            <a:ext cx="11094415" cy="313182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var c = new Contact(); c.Email = "TEAM@EXAMPLE.EDU";</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try { c.Email = "bad"; } catch (ArgumentException) { Console.WriteLine("rejected");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Console.WriteLine(c.Email);</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class Contact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private string email =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public string Email { get =&gt; email; set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if (!value.Contains('@')) throw new ArgumentException();</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email = value.ToLowerInvariant(); }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p:txBody>
      </p:sp>
      <p:sp>
        <p:nvSpPr>
          <p:cNvPr id="4" name="Text 2"/>
          <p:cNvSpPr txBox="1"/>
          <p:nvPr/>
        </p:nvSpPr>
        <p:spPr>
          <a:xfrm>
            <a:off x="548640" y="4594860"/>
            <a:ext cx="11094415" cy="84582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rejected</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team@example.edu</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one change at a time</a:t>
            </a:r>
            <a:endParaRPr lang="en-US" sz="36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5547208"/>
                <a:gridCol w="554720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Attempt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Stored address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Construct MOrtiz2@example.edu</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mortiz2@example.edu</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Set not-an-address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Rejected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Read after rejection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mortiz2@example.edu</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Set TEAM@example.edu</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team@example.edu</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When must validation happen?</a:t>
            </a:r>
            <a:endParaRPr lang="en-US" sz="3600" dirty="0"/>
          </a:p>
        </p:txBody>
      </p:sp>
      <p:sp>
        <p:nvSpPr>
          <p:cNvPr id="3" name="Choice A"/>
          <p:cNvSpPr txBox="1"/>
          <p:nvPr/>
        </p:nvSpPr>
        <p:spPr>
          <a:xfrm>
            <a:off x="548640" y="1280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Before storing the proposed value</a:t>
            </a:r>
            <a:endParaRPr lang="en-US" sz="2400" dirty="0"/>
          </a:p>
        </p:txBody>
      </p:sp>
      <p:sp>
        <p:nvSpPr>
          <p:cNvPr id="4" name="Choice B"/>
          <p:cNvSpPr txBox="1"/>
          <p:nvPr/>
        </p:nvSpPr>
        <p:spPr>
          <a:xfrm>
            <a:off x="548640" y="2103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Only when printing</a:t>
            </a:r>
            <a:endParaRPr lang="en-US" sz="2400" dirty="0"/>
          </a:p>
        </p:txBody>
      </p:sp>
      <p:sp>
        <p:nvSpPr>
          <p:cNvPr id="5" name="Choice C"/>
          <p:cNvSpPr txBox="1"/>
          <p:nvPr/>
        </p:nvSpPr>
        <p:spPr>
          <a:xfrm>
            <a:off x="548640" y="292608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After every field has changed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Compare the choices</a:t>
            </a:r>
            <a:endParaRPr lang="en-US" sz="36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5547208"/>
                <a:gridCol w="554720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Property style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Meaning</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Read-only getter</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Client can observe but not assign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Validated setter</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Client requests a checked change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Computed getter</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Result derives from current fields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A defect worth detecting</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Exposing the backing field lets callers bypass the rule. Keep storage private and make every accepted update use the same boundary.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Hours changes on an invoice. What should a computed AmountDue do?</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Keep a stale cached value</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Derive a result from current Hours and Rate</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Become static</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Change one assumption</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rejected email must be logged. Should the setter first store the invalid text?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a:t>
            </a:r>
            <a:endParaRPr lang="en-US" sz="3600" dirty="0"/>
          </a:p>
        </p:txBody>
      </p:sp>
      <p:sp>
        <p:nvSpPr>
          <p:cNvPr id="3" name="Text 1"/>
          <p:cNvSpPr txBox="1"/>
          <p:nvPr/>
        </p:nvSpPr>
        <p:spPr>
          <a:xfrm>
            <a:off x="548640" y="1280160"/>
            <a:ext cx="11094415" cy="150876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Complete Validate an Email Property in the lesson. Reject missing @, normalize accepted text, and reread after rejection.</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lesson exercise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Verify more than one example</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Check a valid update, invalid update, and reread after failure. This small @ rule is a teaching contract, not proof that mail can be delivered.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a:t>
            </a:r>
            <a:endParaRPr lang="en-US"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Use getters and setters as a public surface.</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Validate before changing stored state.</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Recognize computed properties.</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a:t>
            </a:r>
            <a:endParaRPr lang="en-US" sz="3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Instances, State, and Useful Behavior</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Part 10.3 · Core reading</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Computer Science in C#</a:t>
            </a:r>
            <a:endParaRPr 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for this reading</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Trace independent instance totals.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Calculate behavior from current state.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Reset an object and reuse it safely.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Start with the business question</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Front and patio registers accumulate separate sales. A shift reset must clear both the total and the item count.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Name the model</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Object state persists between calls. Local values disappear when a call returns; static members instead belong to the type.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State the contract</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Clear must restore the whole public invariant: total zero, count zero, and an empty average policy. A new sale then starts a new shift.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Worked example 10.3</a:t>
            </a:r>
            <a:endParaRPr lang="en-US" sz="3600" dirty="0"/>
          </a:p>
        </p:txBody>
      </p:sp>
      <p:sp>
        <p:nvSpPr>
          <p:cNvPr id="3" name="Text 1"/>
          <p:cNvSpPr txBox="1"/>
          <p:nvPr/>
        </p:nvSpPr>
        <p:spPr>
          <a:xfrm>
            <a:off x="548640" y="1280160"/>
            <a:ext cx="11094415" cy="284607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var r = new Register(); r.Add(4m); r.Add(6m); r.Clear(); r.Add(3m);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Console.WriteLine($"{r.Count} item, {r.Total:F2}");</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class Register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public decimal Total { get; private set;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public int Count { get; private set;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public void Add(decimal amount) { Total += amount; Count++;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public void Clear() { Total = 0m; Count = 0;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p:txBody>
      </p:sp>
      <p:sp>
        <p:nvSpPr>
          <p:cNvPr id="4" name="Text 2"/>
          <p:cNvSpPr txBox="1"/>
          <p:nvPr/>
        </p:nvSpPr>
        <p:spPr>
          <a:xfrm>
            <a:off x="548640" y="4309110"/>
            <a:ext cx="11094415" cy="56007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1 item, 3.00</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one change at a time</a:t>
            </a:r>
            <a:endParaRPr lang="en-US" sz="36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3698138"/>
                <a:gridCol w="3698138"/>
                <a:gridCol w="369813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Call</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Total</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Count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Add 4</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4</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Add 6</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Clear</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Add 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Clear resets Total but leaves Count at two. What failed?</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The compiler</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The object's reset contract</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String interpolation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Compare the choices</a:t>
            </a:r>
            <a:endParaRPr lang="en-US" sz="36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5547208"/>
                <a:gridCol w="554720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Variable lifetime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Example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Instance field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One register's running total</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Local variable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One line amount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Static field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One store-wide receipt sequence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A defect worth detecting</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remembered average can become inconsistent with total and count. Derive it or update all related state under one clear invariant.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Two registers need separate totals. Which storage fits?</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Instance field</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One shared static total</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A local recreated on every call</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Change one assumption</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After reset, add one sale of three. What should the report show?</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a:t>
            </a:r>
            <a:endParaRPr lang="en-US" sz="3600" dirty="0"/>
          </a:p>
        </p:txBody>
      </p:sp>
      <p:sp>
        <p:nvSpPr>
          <p:cNvPr id="3" name="Text 1"/>
          <p:cNvSpPr txBox="1"/>
          <p:nvPr/>
        </p:nvSpPr>
        <p:spPr>
          <a:xfrm>
            <a:off x="548640" y="1280160"/>
            <a:ext cx="11094415" cy="150876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Complete Clear in Reset and Reuse a Register, then run the supplied assertions and add the new sale.</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lesson exercise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Verify more than one example</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Check empty reset, repeated reset, two independent registers, and reuse. Do not solve reset by creating hidden replacement objects in the client.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a:t>
            </a:r>
            <a:endParaRPr lang="en-US"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Trace independent instance totals.</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Calculate behavior from current state.</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Reset an object and reuse it safely.</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a:t>
            </a:r>
            <a:endParaRPr lang="en-US" sz="36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Averager and Mutable State</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Part 10.4 · Supporting / optional reference</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Selected depth; no additional required meeting.</a:t>
            </a:r>
            <a:endParaRPr lang="en-US" sz="2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Mutable averagers as a reference study</a:t>
            </a:r>
            <a:endParaRPr lang="en-US" sz="3600" dirty="0"/>
          </a:p>
        </p:txBody>
      </p:sp>
      <p:sp>
        <p:nvSpPr>
          <p:cNvPr id="3" name="Text 1"/>
          <p:cNvSpPr txBox="1"/>
          <p:nvPr/>
        </p:nvSpPr>
        <p:spPr>
          <a:xfrm>
            <a:off x="548640" y="1280160"/>
            <a:ext cx="11094415" cy="265176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An averager can keep sum/count or average/count while promising the same observable average. Representation is private; the empty-state policy is public.</a:t>
            </a:r>
            <a:endParaRPr lang="en-US" sz="2400" dirty="0"/>
          </a:p>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variable assignment can alias an averager rather than duplicate its accumulated observations. A reset must restore all state defining the average.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Two quick checks</a:t>
            </a:r>
            <a:endParaRPr lang="en-US" sz="3600" dirty="0"/>
          </a:p>
        </p:txBody>
      </p:sp>
      <p:sp>
        <p:nvSpPr>
          <p:cNvPr id="3" name="Text 1"/>
          <p:cNvSpPr txBox="1"/>
          <p:nvPr/>
        </p:nvSpPr>
        <p:spPr>
          <a:xfrm>
            <a:off x="548640" y="1280160"/>
            <a:ext cx="11094415" cy="112776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Does copying a class variable duplicate accumulated values?</a:t>
            </a:r>
            <a:endParaRPr lang="en-US" sz="2400" dirty="0"/>
          </a:p>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B: Is an empty average automatically zero?</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 selected practice</a:t>
            </a:r>
            <a:endParaRPr lang="en-US" sz="3600" dirty="0"/>
          </a:p>
        </p:txBody>
      </p:sp>
      <p:sp>
        <p:nvSpPr>
          <p:cNvPr id="3" name="Text 1"/>
          <p:cNvSpPr txBox="1"/>
          <p:nvPr/>
        </p:nvSpPr>
        <p:spPr>
          <a:xfrm>
            <a:off x="548640" y="1280160"/>
            <a:ext cx="11094415" cy="150876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Use Build and Test Example: create two instances, then assign e = e2 and mutate through e2.</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supporting reading</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Reference recap</a:t>
            </a:r>
            <a:endParaRPr lang="en-US" dirty="0"/>
          </a:p>
        </p:txBody>
      </p:sp>
      <p:sp>
        <p:nvSpPr>
          <p:cNvPr id="3" name="Text 1"/>
          <p:cNvSpPr txBox="1"/>
          <p:nvPr/>
        </p:nvSpPr>
        <p:spPr>
          <a:xfrm>
            <a:off x="548640" y="1280160"/>
            <a:ext cx="11094415" cy="1761744"/>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A variable assignment can alias an averager rather than duplicate its accumulated observations. A reset must restore all state defining the average.</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Return to the core sequence when this reference question is resolved.</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Reference recap</a:t>
            </a:r>
            <a:endParaRPr lang="en-US" sz="3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Classes and Objects</dc:title>
  <dc:subject>PptxGenJS Presentation</dc:subject>
  <dc:creator>ThinkPress</dc:creator>
  <cp:lastModifiedBy>ThinkPress</cp:lastModifiedBy>
  <cp:revision>1</cp:revision>
  <dcterms:created xsi:type="dcterms:W3CDTF">2026-10-21T20:22:37Z</dcterms:created>
  <dcterms:modified xsi:type="dcterms:W3CDTF">2026-10-21T20:22:37Z</dcterms:modified>
</cp:coreProperties>
</file>