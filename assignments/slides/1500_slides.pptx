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notesMasterIdLst>
    <p:notesMasterId r:id="rId4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notesMaster" Target="notesMasters/notesMaster1.xml"/><Relationship Id="rId49" Type="http://schemas.openxmlformats.org/officeDocument/2006/relationships/presProps" Target="presProps.xml"/><Relationship Id="rId50" Type="http://schemas.openxmlformats.org/officeDocument/2006/relationships/viewProps" Target="viewProps.xml"/><Relationship Id="rId51" Type="http://schemas.openxmlformats.org/officeDocument/2006/relationships/theme" Target="theme/theme1.xml"/><Relationship Id="rId5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15.1: Stacks, starts on slide 2.
Part 15.2: Queues and Deques, starts on slide 17.
Part 15.3: Access Policies and Applications, starts on slide 32.
Core reading parts share the chapter's existing three-meeting allocation, totaling 110 minutes. They are not separate fifty-minute meetings. Optional/reference parts add no required meeting. Speaker-note answers belong to the instructor output; publish student HTML with those notes stripped.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part supports the existing chapter plan: 35 minutes of selected explanation, prediction, code runs, and practice. Reading parts are not extra meetings; this chapter remains a three-meeting, 110-minute unit. A deployment history records Build, Test, and Deploy. Undo must remove Deploy first because it is the latest accepted action. Begin by asking what an acceptable result must look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part, students should demonstrate these actions rather than recite API names. An empty operation needs an explicit exception or Try-style failure policy. A stored zero is not the same as an unsuccessful removal. Reuse the business case to connect each goal to an observable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name the input, required result, and a failure that the customer would notice. A deployment history records Build, Test, and Deploy. Undo must remove Deploy first because it is the latest accepted action. Resolve that requirement before choosing an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stack restricts access to its top. Push adds, Pop removes and returns, and Peek observes without removal. Use the running case to separate the data, the operation, and the rule it must preserve. Ask for one concrete observation before moving to the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empty operation needs an explicit exception or Try-style failure policy. A stored zero is not the same as an unsuccessful removal. Ask which input is accepted and which observation would expose a violation. Keep the stated domain in view during the worked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complete cell independently; it needs no earlier slide state. The predicted output is Deploy; Test; Build. Connect each observation to the contract: An empty operation needs an explicit exception or Try-style failure policy. A stored zero is not the same as an unsuccessful removal. If local tooling fails, use the saved output and continue the trace.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rows before executing another example. Operation: Top: Count. Push Build: Build: 1. Push Test: Test: 2. Push Deploy: Deploy: 3. Pop: Test remains: 2. Ask students which state is logical and which belongs to the representation.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thirty seconds for individual predictions, then compare reasons. Answer: B. LIFO determines the removal order. There is no key comparison or alphabetical sorting in these operations. Use the trace to distinguish the relevant alternatives.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Operation: Observable effect. Push: Increase count and install a new top. Peek: Return top with unchanged count. Pop: Return and remove top. TryPop failure: Preserve empty state. An empty operation needs an explicit exception or Try-style failure policy. A stored zero is not the same as an unsuccessful removal. Ask which difference changes the client result or workload rather than merely its notation.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delimiter checker that only counts openings cannot detect ([)]. Preserve the kinds and nesting order of unmatched openings on a stack. Ask for an input that would distinguish the defective version from the intended contract. Do not accept compilation alone as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Poll again after the contrasting case. Answer: B. Read the success flag separately from the returned value. Peek also preserves Count. Have a student explain the rejected alternative in terms of an observable consequence.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for a prediction before changing the input or model. Answer: Yes. Reuse after emptying is part of the same contract; clearing an old slot must not prevent a later push. This is a variation of the same contract, not a new required assignment.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named existing lesson exercise; keep its current identifier and starter. Give pairs two to three minutes, then inspect one prediction and one repair. Answer: Push in the specified order, then loop while Count is positive and print each Pop. The result is Deploy, Test, Build. An empty input prints nothing. Watch for this defect: A delimiter checker that only counts openings cannot detect ([)]. Preserve the kinds and nesting order of unmatched openings on a stack.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independently predicted results. Test empty access, one item, duplicates, stored zero, and empty-then-reuse. Distinguish individual growth cost from amortized push cost. Require a short account of why these cases detect a plausible defect; tests should not simply repeat the implementation's own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empty operation needs an explicit exception or Try-style failure policy. A stored zero is not the same as an unsuccessful removal. Ask students to connect one goal to the trace and one to their exercise repair. Continue with the next reading in the existing chapter sequence; the lab and homework supply transfer beyond these selected live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part supports the existing chapter plan: 40 minutes of selected explanation, prediction, code runs, and practice. Reading parts are not extra meetings; this chapter remains a three-meeting, 110-minute unit. A service desk has three physical slots. After serving A, a new D can reuse A's old slot while B remains the next ticket. Begin by asking what an acceptable result must look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part, students should demonstrate these actions rather than recite API names. Use (front + Count) % Capacity for insertion and advance front modulo capacity for removal. Count distinguishes full and empty when positions coincide. Reuse the business case to connect each goal to an observable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name the input, required result, and a failure that the customer would notice. A service desk has three physical slots. After serving A, a new D can reuse A's old slot while B remains the next ticket. Resolve that requirement before choosing an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ring queue stores a logical FIFO sequence across an array boundary. Front and Count define which physical positions are live. Use the running case to separate the data, the operation, and the rule it must preserve. Ask for one concrete observation before moving to the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(front + Count) % Capacity for insertion and advance front modulo capacity for removal. Count distinguishes full and empty when positions coincide. Ask which input is accepted and which observation would expose a violation. Keep the stated domain in view during the worked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complete cell independently; it needs no earlier slide state. The predicted output is A; B,C,D; front=1, count=3. Connect each observation to the contract: Use (front + Count) % Capacity for insertion and advance front modulo capacity for removal. Count distinguishes full and empty when positions coincide. If local tooling fails, use the saved output and continue the trace.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rows before executing another example. Event: Physical slots: Logical order. Initial full: A, B, C: A, B, C. Serve A: empty, B, C: B, C. Enqueue D: D, B, C: B, C, D. Full again: front 1, count 3: B remains first. Ask students which state is logical and which belongs to the representation.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thirty seconds for individual predictions, then compare reasons. Answer: B. A bounded ring can have coincident positions when empty or full. The implementation must distinguish those states explicitly. Use the trace to distinguish the relevant alternatives.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Representation: Important boundary. Bounded ring: Reject full input without mutation. Growing ring: Copy logical order, then reset front. Linked queue: Clear both endpoints after singleton removal. Deque: Define operations at both ends. Use (front + Count) % Capacity for insertion and advance front modulo capacity for removal. Count distinguishes full and empty when positions coincide. Ask which difference changes the client result or workload rather than merely its notation.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Copying wrapped physical slots from index zero changes FIFO order during growth. Copy logical positions starting at front, then reset the new front. Ask for an input that would distinguish the defective version from the intended contract. Do not accept compilation alone as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Poll again after the contrasting case. Answer: A. The live sequence begins at the new array's index zero after that copy. Count stays the number of live values. Have a student explain the rejected alternative in terms of an observable consequence.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for a prediction before changing the input or model. Answer: Reject it without replacing the waiting item or changing Count. A capacity-one case exposes assumptions hidden by larger buffers. This is a variation of the same contract, not a new required assignment.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named existing lesson exercise; keep its current identifier and starter. Give pairs two to three minutes, then inspect one prediction and one repair. Answer: Save the front value before clearing it. Advance front modulo the array length and decrement Count once. The supplied sequence yields A, B, a remaining count of two before C, then E and an empty rejection. Watch for this defect: Copying wrapped physical slots from index zero changes FIFO order during growth. Copy logical positions starting at front, then reset the new front.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independently predicted results. Test full rejection, empty removal, capacity one, wraparound, drain/reuse, and a partially occupied growing ring. Require a short account of why these cases detect a plausible defect; tests should not simply repeat the implementation's own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(front + Count) % Capacity for insertion and advance front modulo capacity for removal. Count distinguishes full and empty when positions coincide. Ask students to connect one goal to the trace and one to their exercise repair. Continue with the next reading in the existing chapter sequence; the lab and homework supply transfer beyond these selected live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part supports the existing chapter plan: 35 minutes of selected explanation, prediction, code runs, and practice. Reading parts are not extra meetings; this chapter remains a three-meeting, 110-minute unit. An urgent stack serves the newest urgent ticket; a normal queue serves ordinary arrivals FIFO. That choice is a business policy, not a universal fairness guarantee. Begin by asking what an acceptable result must look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part, students should demonstrate these actions rather than recite API names. Document whether urgent restoration happens at the front and whether normal work can starve. A completion-count bound is not a wall-clock bound. Reuse the business case to connect each goal to an observable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name the input, required result, and a failure that the customer would notice. An urgent stack serves the newest urgent ticket; a normal queue serves ordinary arrivals FIFO. That choice is a business policy, not a universal fairness guarantee. Resolve that requirement before choosing an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access rule determines which pending item becomes next. Undo/redo requires two histories; a new edit invalidates an abandoned redo branch. Use the running case to separate the data, the operation, and the rule it must preserve. Ask for one concrete observation before moving to the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Document whether urgent restoration happens at the front and whether normal work can starve. A completion-count bound is not a wall-clock bound. Ask which input is accepted and which observation would expose a violation. Keep the stated domain in view during the worked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complete cell independently; it needs no earlier slide state. The predicted output is U-2. Connect each observation to the contract: Document whether urgent restoration happens at the front and whether normal work can starve. A completion-count bound is not a wall-clock bound. If local tooling fails, use the saved output and continue the trace.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rows before executing another example. Action: Undo: Redo: Current. Edit Reviewed: Draft: empty: Reviewed. Edit Approved: Draft, Reviewed: empty: Approved. Undo: Draft: Approved: Reviewed. Edit Revised: Draft, Reviewed: empty: Revised. Ask students which state is logical and which belongs to the representation.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thirty seconds for individual predictions, then compare reasons. Answer: B. The new edit creates a different future. Replaying the abandoned branch would violate the current history. Use the trace to distinguish the relevant alternatives.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 rule: Useful structure. Latest completed action first: Stack. Earliest waiting request first: Queue. Restore at either boundary: Deque. Nearest discovered layer first: Queue with discovery tracking. Document whether urgent restoration happens at the front and whether normal work can starve. A completion-count bound is not a wall-clock bound. Ask which difference changes the client result or workload rather than merely its notation.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endless supply of urgent work can postpone normal work indefinitely. The data structure expresses a policy; it does not make that policy fair by itself. Ask for an input that would distinguish the defective version from the intended contract. Do not accept compilation alone as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Poll again after the contrasting case. Answer: C. Durations may vary or never finish. The stated sequential policy bounds a count of completions, not elapsed time. Have a student explain the rejected alternative in terms of an observable consequence.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for a prediction before changing the input or model. Answer: N-1 prints, because the normal queue supplies its earliest arrival when urgent work is absent. This is a variation of the same contract, not a new required assignment.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named existing lesson exercise; keep its current identifier and starter. Give pairs two to three minutes, then inspect one prediction and one repair. Answer: Use the urgent Count guard first, then the normal guard. With both urgent pushes present, Pop returns U-2. With no urgent values, Dequeue returns N-1; with neither group, print No tickets waiting. Watch for this defect: An endless supply of urgent work can postpone normal work indefinitely. The data structure expresses a policy; it does not make that policy fair by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independently predicted results. Check urgent-only, normal-only, both-empty, repeated serve/restore, and a new edit after undo. Explain how the policy affects a waiting normal ticket. Require a short account of why these cases detect a plausible defect; tests should not simply repeat the implementation's own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Document whether urgent restoration happens at the front and whether normal work can starve. A completion-count bound is not a wall-clock bound. Ask students to connect one goal to the trace and one to their exercise repair. Continue with the next reading in the existing chapter sequence; the lab and homework supply transfer beyond these selected live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P_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rtlCol="0"/>
          <a:lstStyle>
            <a:lvl1pPr indent="0" marL="0">
              <a:buNone/>
              <a:defRPr lang="en-US" sz="3600" b="1" dirty="0">
                <a:solidFill>
                  <a:srgbClr val="2A6B37"/>
                </a:solidFill>
                <a:latin typeface="Cambria" pitchFamily="34" charset="0"/>
                <a:ea typeface="Cambria" pitchFamily="34" charset="-122"/>
                <a:cs typeface="Cambria" pitchFamily="34" charset="-120"/>
              </a:defRPr>
            </a:lvl1pPr>
          </a:lstStyle>
          <a:p>
            <a:pPr indent="0" marL="0">
              <a:buNone/>
            </a:pPr>
            <a:endParaRPr lang="en-US" sz="3600" dirty="0"/>
          </a:p>
        </p:txBody>
      </p:sp>
      <p:sp>
        <p:nvSpPr>
          <p:cNvPr id="3" name="Text 0"/>
          <p:cNvSpPr/>
          <p:nvPr/>
        </p:nvSpPr>
        <p:spPr>
          <a:xfrm>
            <a:off x="548640" y="6400800"/>
            <a:ext cx="8229600" cy="320040"/>
          </a:xfrm>
          <a:prstGeom prst="rect">
            <a:avLst/>
          </a:prstGeom>
          <a:noFill/>
          <a:ln/>
        </p:spPr>
        <p:txBody>
          <a:bodyPr wrap="square" lIns="0" tIns="0" rIns="0" bIns="0" rtlCol="0" anchor="ctr"/>
          <a:lstStyle/>
          <a:p>
            <a:pPr indent="0" marL="0">
              <a:buNone/>
            </a:pPr>
            <a:r>
              <a:rPr lang="en-US" sz="1100" dirty="0">
                <a:solidFill>
                  <a:srgbClr val="59636E"/>
                </a:solidFill>
                <a:latin typeface="Calibri" pitchFamily="34" charset="0"/>
                <a:ea typeface="Calibri" pitchFamily="34" charset="-122"/>
                <a:cs typeface="Calibri" pitchFamily="34" charset="-120"/>
              </a:rPr>
              <a:t>Computer Science in C#  ·  Chapter 15</a:t>
            </a:r>
            <a:endParaRPr lang="en-US" sz="11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P_DARK">
    <p:bg>
      <p:bgPr>
        <a:solidFill>
          <a:srgbClr val="2A6B37"/>
        </a:solidFill>
      </p:bgPr>
    </p:bg>
    <p:spTree>
      <p:nvGrpSpPr>
        <p:cNvPr id="1" name=""/>
        <p:cNvGrpSpPr/>
        <p:nvPr/>
      </p:nvGrpSpPr>
      <p:grpSpPr>
        <a:xfrm>
          <a:off x="0" y="0"/>
          <a:ext cx="0" cy="0"/>
          <a:chOff x="0" y="0"/>
          <a:chExt cx="0" cy="0"/>
        </a:xfrm>
      </p:grpSpPr>
      <p:sp>
        <p:nvSpPr>
          <p:cNvPr id="2" name="Text 0"/>
          <p:cNvSpPr/>
          <p:nvPr/>
        </p:nvSpPr>
        <p:spPr>
          <a:xfrm>
            <a:off x="548640" y="6400800"/>
            <a:ext cx="8229600" cy="320040"/>
          </a:xfrm>
          <a:prstGeom prst="rect">
            <a:avLst/>
          </a:prstGeom>
          <a:noFill/>
          <a:ln/>
        </p:spPr>
        <p:txBody>
          <a:bodyPr wrap="square" lIns="0" tIns="0" rIns="0" bIns="0" rtlCol="0" anchor="ctr"/>
          <a:lstStyle/>
          <a:p>
            <a:pPr indent="0" marL="0">
              <a:buNone/>
            </a:pPr>
            <a:r>
              <a:rPr lang="en-US" sz="1100" dirty="0">
                <a:solidFill>
                  <a:srgbClr val="DFEEE2"/>
                </a:solidFill>
                <a:latin typeface="Calibri" pitchFamily="34" charset="0"/>
                <a:ea typeface="Calibri" pitchFamily="34" charset="-122"/>
                <a:cs typeface="Calibri" pitchFamily="34" charset="-120"/>
              </a:rPr>
              <a:t>Computer Science in C#  ·  Chapter 15</a:t>
            </a:r>
            <a:endParaRPr lang="en-US" sz="11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hyperlink" Target="https://cscs.thinkpress.org/chapters/15_stacks_queues/1501_stack.html" TargetMode="External"/><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hyperlink" Target="https://cscs.thinkpress.org/chapters/15_stacks_queues/1502_queue_deque.html" TargetMode="External"/><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hyperlink" Target="https://cscs.thinkpress.org/chapters/15_stacks_queues/1503_applications_lab.html" TargetMode="External"/><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2011680"/>
            <a:ext cx="11094415" cy="1280160"/>
          </a:xfrm>
          <a:prstGeom prst="rect">
            <a:avLst/>
          </a:prstGeom>
          <a:noFill/>
          <a:ln/>
        </p:spPr>
        <p:txBody>
          <a:bodyPr wrap="square" lIns="0" tIns="0" rIns="0" bIns="0" rtlCol="0" anchor="b"/>
          <a:lstStyle/>
          <a:p>
            <a:pPr indent="0" marL="0">
              <a:buNone/>
            </a:pPr>
            <a:r>
              <a:rPr lang="en-US" sz="4800" b="1" dirty="0">
                <a:solidFill>
                  <a:srgbClr val="FFFFFF"/>
                </a:solidFill>
                <a:latin typeface="Cambria" pitchFamily="34" charset="0"/>
                <a:ea typeface="Cambria" pitchFamily="34" charset="-122"/>
                <a:cs typeface="Cambria" pitchFamily="34" charset="-120"/>
              </a:rPr>
              <a:t>Stacks, Queues, and Deques</a:t>
            </a:r>
            <a:endParaRPr lang="en-US" sz="4800" dirty="0"/>
          </a:p>
        </p:txBody>
      </p:sp>
      <p:sp>
        <p:nvSpPr>
          <p:cNvPr id="3" name="Text 1"/>
          <p:cNvSpPr txBox="1"/>
          <p:nvPr/>
        </p:nvSpPr>
        <p:spPr>
          <a:xfrm>
            <a:off x="548640" y="3429000"/>
            <a:ext cx="11094415" cy="1463040"/>
          </a:xfrm>
          <a:prstGeom prst="rect">
            <a:avLst/>
          </a:prstGeom>
          <a:noFill/>
          <a:ln/>
        </p:spPr>
        <p:txBody>
          <a:bodyPr wrap="square" lIns="0" tIns="0" rIns="0" bIns="0" rtlCol="0" anchor="t"/>
          <a:lstStyle/>
          <a:p>
            <a:pPr indent="0" marL="0">
              <a:buNone/>
            </a:pPr>
            <a:r>
              <a:rPr lang="en-US" sz="2400" dirty="0">
                <a:solidFill>
                  <a:srgbClr val="DFEEE2"/>
                </a:solidFill>
                <a:latin typeface="Calibri" pitchFamily="34" charset="0"/>
                <a:ea typeface="Calibri" pitchFamily="34" charset="-122"/>
                <a:cs typeface="Calibri" pitchFamily="34" charset="-120"/>
              </a:rPr>
              <a:t>Chapter 15 · Computer Science in C#</a:t>
            </a:r>
            <a:endParaRPr lang="en-US" sz="2400" dirty="0"/>
          </a:p>
          <a:p>
            <a:pPr indent="0" marL="0">
              <a:buNone/>
            </a:pPr>
            <a:r>
              <a:rPr lang="en-US" sz="2400" dirty="0">
                <a:solidFill>
                  <a:srgbClr val="DFEEE2"/>
                </a:solidFill>
                <a:latin typeface="Calibri" pitchFamily="34" charset="0"/>
                <a:ea typeface="Calibri" pitchFamily="34" charset="-122"/>
                <a:cs typeface="Calibri" pitchFamily="34" charset="-120"/>
              </a:rPr>
              <a:t>Business models, worked traces, and verified C# examples.</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2011680"/>
            <a:ext cx="11094415" cy="1280160"/>
          </a:xfrm>
          <a:prstGeom prst="rect">
            <a:avLst/>
          </a:prstGeom>
          <a:noFill/>
          <a:ln/>
        </p:spPr>
        <p:txBody>
          <a:bodyPr wrap="square" lIns="0" tIns="0" rIns="0" bIns="0" rtlCol="0" anchor="b"/>
          <a:lstStyle/>
          <a:p>
            <a:pPr indent="0" marL="0">
              <a:buNone/>
            </a:pPr>
            <a:r>
              <a:rPr lang="en-US" sz="4400" b="1" dirty="0">
                <a:solidFill>
                  <a:srgbClr val="FFFFFF"/>
                </a:solidFill>
                <a:latin typeface="Cambria" pitchFamily="34" charset="0"/>
                <a:ea typeface="Cambria" pitchFamily="34" charset="-122"/>
                <a:cs typeface="Cambria" pitchFamily="34" charset="-120"/>
              </a:rPr>
              <a:t>Stacks</a:t>
            </a:r>
            <a:endParaRPr lang="en-US" sz="4400" dirty="0"/>
          </a:p>
        </p:txBody>
      </p:sp>
      <p:sp>
        <p:nvSpPr>
          <p:cNvPr id="3" name="Text 1"/>
          <p:cNvSpPr txBox="1"/>
          <p:nvPr/>
        </p:nvSpPr>
        <p:spPr>
          <a:xfrm>
            <a:off x="548640" y="3429000"/>
            <a:ext cx="11094415" cy="1463040"/>
          </a:xfrm>
          <a:prstGeom prst="rect">
            <a:avLst/>
          </a:prstGeom>
          <a:noFill/>
          <a:ln/>
        </p:spPr>
        <p:txBody>
          <a:bodyPr wrap="square" lIns="0" tIns="0" rIns="0" bIns="0" rtlCol="0" anchor="t"/>
          <a:lstStyle/>
          <a:p>
            <a:pPr indent="0" marL="0">
              <a:buNone/>
            </a:pPr>
            <a:r>
              <a:rPr lang="en-US" sz="2400" dirty="0">
                <a:solidFill>
                  <a:srgbClr val="DFEEE2"/>
                </a:solidFill>
                <a:latin typeface="Calibri" pitchFamily="34" charset="0"/>
                <a:ea typeface="Calibri" pitchFamily="34" charset="-122"/>
                <a:cs typeface="Calibri" pitchFamily="34" charset="-120"/>
              </a:rPr>
              <a:t>Part 15.1 · Core reading</a:t>
            </a:r>
            <a:endParaRPr lang="en-US" sz="2400" dirty="0"/>
          </a:p>
          <a:p>
            <a:pPr indent="0" marL="0">
              <a:buNone/>
            </a:pPr>
            <a:r>
              <a:rPr lang="en-US" sz="2400" dirty="0">
                <a:solidFill>
                  <a:srgbClr val="DFEEE2"/>
                </a:solidFill>
                <a:latin typeface="Calibri" pitchFamily="34" charset="0"/>
                <a:ea typeface="Calibri" pitchFamily="34" charset="-122"/>
                <a:cs typeface="Calibri" pitchFamily="34" charset="-120"/>
              </a:rPr>
              <a:t>Computer Science in C#</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Goals for this reading</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Specify LIFO and empty behavior.</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Trace stack top and count.</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Use a stack for nested or reversed work.</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Start with the business question</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 deployment history records Build, Test, and Deploy. Undo must remove Deploy first because it is the latest accepted action.</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Name the model</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 stack restricts access to its top. Push adds, Pop removes and returns, and Peek observes without removal.</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State the contract</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An empty operation needs an explicit exception or Try-style failure policy. A stored zero is not the same as an unsuccessful removal.</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Worked example 15.1</a:t>
            </a:r>
            <a:endParaRPr lang="en-US" sz="3600" dirty="0"/>
          </a:p>
        </p:txBody>
      </p:sp>
      <p:sp>
        <p:nvSpPr>
          <p:cNvPr id="3" name="Text 1"/>
          <p:cNvSpPr txBox="1"/>
          <p:nvPr/>
        </p:nvSpPr>
        <p:spPr>
          <a:xfrm>
            <a:off x="548640" y="1280160"/>
            <a:ext cx="11094415" cy="1703070"/>
          </a:xfrm>
          <a:prstGeom prst="rect">
            <a:avLst/>
          </a:prstGeom>
          <a:solidFill>
            <a:srgbClr val="F6F8FA"/>
          </a:solidFill>
          <a:ln w="9525">
            <a:solidFill>
              <a:srgbClr val="E1E4E8"/>
            </a:solidFill>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using System;</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using System.Collections.Generic;</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var tasks = new Stack&lt;string&gt;();</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tasks.Push("Build"); tasks.Push("Test"); tasks.Push("Deploy");</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while (tasks.Count &gt; 0) Console.WriteLine(tasks.Pop());</a:t>
            </a:r>
            <a:endParaRPr lang="en-US" sz="1800" dirty="0"/>
          </a:p>
        </p:txBody>
      </p:sp>
      <p:sp>
        <p:nvSpPr>
          <p:cNvPr id="4" name="Text 2"/>
          <p:cNvSpPr txBox="1"/>
          <p:nvPr/>
        </p:nvSpPr>
        <p:spPr>
          <a:xfrm>
            <a:off x="548640" y="3166110"/>
            <a:ext cx="11094415" cy="1131570"/>
          </a:xfrm>
          <a:prstGeom prst="rect">
            <a:avLst/>
          </a:prstGeom>
          <a:solidFill>
            <a:srgbClr val="FFFFFF"/>
          </a:solidFill>
          <a:ln w="19050">
            <a:solidFill>
              <a:srgbClr val="C9D1D9"/>
            </a:solidFill>
            <a:prstDash val="dash"/>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Deploy</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Test</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Build</a:t>
            </a:r>
            <a:endParaRPr lang="en-US" sz="18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Trace one change at a time</a:t>
            </a:r>
            <a:endParaRPr lang="en-US" sz="36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3698138"/>
                <a:gridCol w="3698138"/>
                <a:gridCol w="3698138"/>
              </a:tblGrid>
              <a:tr h="411480">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Operation</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Top</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Count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Push Build</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Build</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1</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Push Test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Test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2</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Push Deploy</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Deploy</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3</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Pop</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Test remains</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2</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bl>
          </a:graphicData>
        </a:graphic>
      </p:graphicFrame>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 Why does this output reverse the input?</a:t>
            </a:r>
            <a:endParaRPr lang="en-US" sz="3600" dirty="0"/>
          </a:p>
        </p:txBody>
      </p:sp>
      <p:sp>
        <p:nvSpPr>
          <p:cNvPr id="3" name="Choice A"/>
          <p:cNvSpPr txBox="1"/>
          <p:nvPr/>
        </p:nvSpPr>
        <p:spPr>
          <a:xfrm>
            <a:off x="548640" y="1280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Stack sorts alphabetically</a:t>
            </a:r>
            <a:endParaRPr lang="en-US" sz="2400" dirty="0"/>
          </a:p>
        </p:txBody>
      </p:sp>
      <p:sp>
        <p:nvSpPr>
          <p:cNvPr id="4" name="Choice B"/>
          <p:cNvSpPr txBox="1"/>
          <p:nvPr/>
        </p:nvSpPr>
        <p:spPr>
          <a:xfrm>
            <a:off x="548640" y="2103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The latest item is removed first</a:t>
            </a:r>
            <a:endParaRPr lang="en-US" sz="2400" dirty="0"/>
          </a:p>
        </p:txBody>
      </p:sp>
      <p:sp>
        <p:nvSpPr>
          <p:cNvPr id="5" name="Choice C"/>
          <p:cNvSpPr txBox="1"/>
          <p:nvPr/>
        </p:nvSpPr>
        <p:spPr>
          <a:xfrm>
            <a:off x="548640" y="292608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Strings are immutable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Compare the choices</a:t>
            </a:r>
            <a:endParaRPr lang="en-US" sz="36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5547208"/>
                <a:gridCol w="5547208"/>
              </a:tblGrid>
              <a:tr h="411480">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Operation</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Observable effect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Push</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Increase count and install a new top</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Peek</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Return top with unchanged count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Pop</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Return and remove top</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TryPop failure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Preserve empty state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bl>
          </a:graphicData>
        </a:graphic>
      </p:graphicFrame>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A defect worth detecting</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 delimiter checker that only counts openings cannot detect ([)]. Preserve the kinds and nesting order of unmatched openings on a stack.</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a:t>
            </a:r>
            <a:endParaRPr lang="en-US" sz="3600" dirty="0"/>
          </a:p>
        </p:txBody>
      </p:sp>
      <p:sp>
        <p:nvSpPr>
          <p:cNvPr id="3" name="Text 1"/>
          <p:cNvSpPr txBox="1"/>
          <p:nvPr/>
        </p:nvSpPr>
        <p:spPr>
          <a:xfrm>
            <a:off x="548640" y="1280160"/>
            <a:ext cx="11094415" cy="609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TryPeek returns true with value zero. What happened?</a:t>
            </a:r>
            <a:endParaRPr lang="en-US" sz="2400" dirty="0"/>
          </a:p>
        </p:txBody>
      </p:sp>
      <p:sp>
        <p:nvSpPr>
          <p:cNvPr id="4" name="Choice A"/>
          <p:cNvSpPr txBox="1"/>
          <p:nvPr/>
        </p:nvSpPr>
        <p:spPr>
          <a:xfrm>
            <a:off x="548640" y="198120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Failure</a:t>
            </a:r>
            <a:endParaRPr lang="en-US" sz="2400" dirty="0"/>
          </a:p>
        </p:txBody>
      </p:sp>
      <p:sp>
        <p:nvSpPr>
          <p:cNvPr id="5" name="Choice B"/>
          <p:cNvSpPr txBox="1"/>
          <p:nvPr/>
        </p:nvSpPr>
        <p:spPr>
          <a:xfrm>
            <a:off x="548640" y="2804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A successful observation of a stored zero</a:t>
            </a:r>
            <a:endParaRPr lang="en-US" sz="2400" dirty="0"/>
          </a:p>
        </p:txBody>
      </p:sp>
      <p:sp>
        <p:nvSpPr>
          <p:cNvPr id="6" name="Choice C"/>
          <p:cNvSpPr txBox="1"/>
          <p:nvPr/>
        </p:nvSpPr>
        <p:spPr>
          <a:xfrm>
            <a:off x="548640" y="3627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A value was removed</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Change one assumption</a:t>
            </a:r>
            <a:endParaRPr lang="en-US" sz="3600" dirty="0"/>
          </a:p>
        </p:txBody>
      </p:sp>
      <p:sp>
        <p:nvSpPr>
          <p:cNvPr id="3" name="Text 1"/>
          <p:cNvSpPr txBox="1"/>
          <p:nvPr/>
        </p:nvSpPr>
        <p:spPr>
          <a:xfrm>
            <a:off x="548640" y="1280160"/>
            <a:ext cx="11094415" cy="609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 stack becomes empty and later receives one item. Must it still work?</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Your turn</a:t>
            </a:r>
            <a:endParaRPr lang="en-US" sz="3600" dirty="0"/>
          </a:p>
        </p:txBody>
      </p:sp>
      <p:sp>
        <p:nvSpPr>
          <p:cNvPr id="3" name="Text 1"/>
          <p:cNvSpPr txBox="1"/>
          <p:nvPr/>
        </p:nvSpPr>
        <p:spPr>
          <a:xfrm>
            <a:off x="548640" y="1280160"/>
            <a:ext cx="11094415" cy="150876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Complete Reverse the Order: push Build, Test, Deploy and pop until empty; explain the reversal.</a:t>
            </a:r>
            <a:endParaRPr lang="en-US" sz="2400" dirty="0"/>
          </a:p>
          <a:p>
            <a:pPr indent="0" marL="0">
              <a:spcAft>
                <a:spcPts val="1000"/>
              </a:spcAft>
              <a:buNone/>
            </a:pPr>
            <a:r>
              <a:rPr lang="en-US" sz="2400" u="sng" dirty="0">
                <a:solidFill>
                  <a:srgbClr val="1F232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Open the lesson exercise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Verify more than one example</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Test empty access, one item, duplicates, stored zero, and empty-then-reuse. Distinguish individual growth cost from amortized push cost.</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Recap</a:t>
            </a:r>
            <a:endParaRPr lang="en-US"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Specify LIFO and empty behavior.</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Trace stack top and count.</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Use a stack for nested or reversed work.</a:t>
            </a:r>
            <a:endParaRPr lang="en-US" sz="2400" dirty="0"/>
          </a:p>
        </p:txBody>
      </p:sp>
      <p:sp>
        <p:nvSpPr>
          <p:cNvPr id="4" name="Text 2"/>
          <p:cNvSpPr txBox="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Recap</a:t>
            </a:r>
            <a:endParaRPr lang="en-US" sz="3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2011680"/>
            <a:ext cx="11094415" cy="1280160"/>
          </a:xfrm>
          <a:prstGeom prst="rect">
            <a:avLst/>
          </a:prstGeom>
          <a:noFill/>
          <a:ln/>
        </p:spPr>
        <p:txBody>
          <a:bodyPr wrap="square" lIns="0" tIns="0" rIns="0" bIns="0" rtlCol="0" anchor="b"/>
          <a:lstStyle/>
          <a:p>
            <a:pPr indent="0" marL="0">
              <a:buNone/>
            </a:pPr>
            <a:r>
              <a:rPr lang="en-US" sz="4400" b="1" dirty="0">
                <a:solidFill>
                  <a:srgbClr val="FFFFFF"/>
                </a:solidFill>
                <a:latin typeface="Cambria" pitchFamily="34" charset="0"/>
                <a:ea typeface="Cambria" pitchFamily="34" charset="-122"/>
                <a:cs typeface="Cambria" pitchFamily="34" charset="-120"/>
              </a:rPr>
              <a:t>Queues and Deques</a:t>
            </a:r>
            <a:endParaRPr lang="en-US" sz="4400" dirty="0"/>
          </a:p>
        </p:txBody>
      </p:sp>
      <p:sp>
        <p:nvSpPr>
          <p:cNvPr id="3" name="Text 1"/>
          <p:cNvSpPr txBox="1"/>
          <p:nvPr/>
        </p:nvSpPr>
        <p:spPr>
          <a:xfrm>
            <a:off x="548640" y="3429000"/>
            <a:ext cx="11094415" cy="1463040"/>
          </a:xfrm>
          <a:prstGeom prst="rect">
            <a:avLst/>
          </a:prstGeom>
          <a:noFill/>
          <a:ln/>
        </p:spPr>
        <p:txBody>
          <a:bodyPr wrap="square" lIns="0" tIns="0" rIns="0" bIns="0" rtlCol="0" anchor="t"/>
          <a:lstStyle/>
          <a:p>
            <a:pPr indent="0" marL="0">
              <a:buNone/>
            </a:pPr>
            <a:r>
              <a:rPr lang="en-US" sz="2400" dirty="0">
                <a:solidFill>
                  <a:srgbClr val="DFEEE2"/>
                </a:solidFill>
                <a:latin typeface="Calibri" pitchFamily="34" charset="0"/>
                <a:ea typeface="Calibri" pitchFamily="34" charset="-122"/>
                <a:cs typeface="Calibri" pitchFamily="34" charset="-120"/>
              </a:rPr>
              <a:t>Part 15.2 · Core reading</a:t>
            </a:r>
            <a:endParaRPr lang="en-US" sz="2400" dirty="0"/>
          </a:p>
          <a:p>
            <a:pPr indent="0" marL="0">
              <a:buNone/>
            </a:pPr>
            <a:r>
              <a:rPr lang="en-US" sz="2400" dirty="0">
                <a:solidFill>
                  <a:srgbClr val="DFEEE2"/>
                </a:solidFill>
                <a:latin typeface="Calibri" pitchFamily="34" charset="0"/>
                <a:ea typeface="Calibri" pitchFamily="34" charset="-122"/>
                <a:cs typeface="Calibri" pitchFamily="34" charset="-120"/>
              </a:rPr>
              <a:t>Computer Science in C#</a:t>
            </a:r>
            <a:endParaRPr lang="en-US" sz="2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Goals for this reading</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Distinguish logical from physical queue order.</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Trace ring wraparound and bounded failure.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Explain linked queue endpoint rules.</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Start with the business question</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 service desk has three physical slots. After serving A, a new D can reuse A's old slot while B remains the next ticket.</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Name the model</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 ring queue stores a logical FIFO sequence across an array boundary. Front and Count define which physical positions are live.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State the contract</a:t>
            </a:r>
            <a:endParaRPr lang="en-US" sz="3600" dirty="0"/>
          </a:p>
        </p:txBody>
      </p:sp>
      <p:sp>
        <p:nvSpPr>
          <p:cNvPr id="3" name="Text 1"/>
          <p:cNvSpPr txBox="1"/>
          <p:nvPr/>
        </p:nvSpPr>
        <p:spPr>
          <a:xfrm>
            <a:off x="548640" y="1280160"/>
            <a:ext cx="11094415" cy="1371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Use (front + Count) % Capacity for insertion and advance front modulo capacity for removal. Count distinguishes full and empty when positions coincide.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Worked example 15.2</a:t>
            </a:r>
            <a:endParaRPr lang="en-US" sz="3600" dirty="0"/>
          </a:p>
        </p:txBody>
      </p:sp>
      <p:sp>
        <p:nvSpPr>
          <p:cNvPr id="3" name="Text 1"/>
          <p:cNvSpPr txBox="1"/>
          <p:nvPr/>
        </p:nvSpPr>
        <p:spPr>
          <a:xfrm>
            <a:off x="548640" y="1280160"/>
            <a:ext cx="11094415" cy="3131820"/>
          </a:xfrm>
          <a:prstGeom prst="rect">
            <a:avLst/>
          </a:prstGeom>
          <a:solidFill>
            <a:srgbClr val="F6F8FA"/>
          </a:solidFill>
          <a:ln w="9525">
            <a:solidFill>
              <a:srgbClr val="E1E4E8"/>
            </a:solidFill>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using System;</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using System.Collections.Generic;</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string[] slots = { "A", "B", "C" }; int front = 0, count = 3;</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Console.WriteLine(slots[front]); slots[front] = "";</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front = (front + 1) % slots.Length; count--;</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slots[(front + count) % slots.Length] = "D"; count++;</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var logical = new List&lt;string&gt;();</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for (int i = 0; i &lt; count; i++) logical.Add(slots[(front + i) % slots.Length]);</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Console.WriteLine(string.Join(",", logical));</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Console.WriteLine($"front={front}, count={count}");</a:t>
            </a:r>
            <a:endParaRPr lang="en-US" sz="1800" dirty="0"/>
          </a:p>
        </p:txBody>
      </p:sp>
      <p:sp>
        <p:nvSpPr>
          <p:cNvPr id="4" name="Text 2"/>
          <p:cNvSpPr txBox="1"/>
          <p:nvPr/>
        </p:nvSpPr>
        <p:spPr>
          <a:xfrm>
            <a:off x="548640" y="4594860"/>
            <a:ext cx="11094415" cy="1131570"/>
          </a:xfrm>
          <a:prstGeom prst="rect">
            <a:avLst/>
          </a:prstGeom>
          <a:solidFill>
            <a:srgbClr val="FFFFFF"/>
          </a:solidFill>
          <a:ln w="19050">
            <a:solidFill>
              <a:srgbClr val="C9D1D9"/>
            </a:solidFill>
            <a:prstDash val="dash"/>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A</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B,C,D</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front=1, count=3</a:t>
            </a:r>
            <a:endParaRPr lang="en-US" sz="18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Trace one change at a time</a:t>
            </a:r>
            <a:endParaRPr lang="en-US" sz="36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3698138"/>
                <a:gridCol w="3698138"/>
                <a:gridCol w="3698138"/>
              </a:tblGrid>
              <a:tr h="411480">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Event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Physical slots</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Logical order</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Initial full</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A, B, C</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A, B, C</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Serve A</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empty, B, C</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B, C</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Enqueue D</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D, B, C</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B, C, D</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Full again</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front 1, count 3</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B remains first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bl>
          </a:graphicData>
        </a:graphic>
      </p:graphicFrame>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 Front equals back. Is the queue definitely empty?</a:t>
            </a:r>
            <a:endParaRPr lang="en-US" sz="3600" dirty="0"/>
          </a:p>
        </p:txBody>
      </p:sp>
      <p:sp>
        <p:nvSpPr>
          <p:cNvPr id="3" name="Choice A"/>
          <p:cNvSpPr txBox="1"/>
          <p:nvPr/>
        </p:nvSpPr>
        <p:spPr>
          <a:xfrm>
            <a:off x="548640" y="1280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Yes</a:t>
            </a:r>
            <a:endParaRPr lang="en-US" sz="2400" dirty="0"/>
          </a:p>
        </p:txBody>
      </p:sp>
      <p:sp>
        <p:nvSpPr>
          <p:cNvPr id="4" name="Choice B"/>
          <p:cNvSpPr txBox="1"/>
          <p:nvPr/>
        </p:nvSpPr>
        <p:spPr>
          <a:xfrm>
            <a:off x="548640" y="2103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No: Count or another agreed invariant is needed</a:t>
            </a:r>
            <a:endParaRPr lang="en-US" sz="2400" dirty="0"/>
          </a:p>
        </p:txBody>
      </p:sp>
      <p:sp>
        <p:nvSpPr>
          <p:cNvPr id="5" name="Choice C"/>
          <p:cNvSpPr txBox="1"/>
          <p:nvPr/>
        </p:nvSpPr>
        <p:spPr>
          <a:xfrm>
            <a:off x="548640" y="292608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It must contain one item</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Compare the choices</a:t>
            </a:r>
            <a:endParaRPr lang="en-US" sz="36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5547208"/>
                <a:gridCol w="5547208"/>
              </a:tblGrid>
              <a:tr h="411480">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Representation</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Important boundary</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Bounded ring</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Reject full input without mutation</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Growing ring</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Copy logical order, then reset front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Linked queue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Clear both endpoints after singleton removal</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Deque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Define operations at both ends</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bl>
          </a:graphicData>
        </a:graphic>
      </p:graphicFrame>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A defect worth detecting</a:t>
            </a:r>
            <a:endParaRPr lang="en-US" sz="3600" dirty="0"/>
          </a:p>
        </p:txBody>
      </p:sp>
      <p:sp>
        <p:nvSpPr>
          <p:cNvPr id="3" name="Text 1"/>
          <p:cNvSpPr txBox="1"/>
          <p:nvPr/>
        </p:nvSpPr>
        <p:spPr>
          <a:xfrm>
            <a:off x="548640" y="1280160"/>
            <a:ext cx="11094415" cy="1371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Copying wrapped physical slots from index zero changes FIFO order during growth. Copy logical positions starting at front, then reset the new front.</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 growing ring copies its live values into a new array. New front should be?</a:t>
            </a:r>
            <a:endParaRPr lang="en-US" sz="2400" dirty="0"/>
          </a:p>
        </p:txBody>
      </p:sp>
      <p:sp>
        <p:nvSpPr>
          <p:cNvPr id="4" name="Choice A"/>
          <p:cNvSpPr txBox="1"/>
          <p:nvPr/>
        </p:nvSpPr>
        <p:spPr>
          <a:xfrm>
            <a:off x="548640" y="236220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Zero after a logical-order copy</a:t>
            </a:r>
            <a:endParaRPr lang="en-US" sz="2400" dirty="0"/>
          </a:p>
        </p:txBody>
      </p:sp>
      <p:sp>
        <p:nvSpPr>
          <p:cNvPr id="5" name="Choice B"/>
          <p:cNvSpPr txBox="1"/>
          <p:nvPr/>
        </p:nvSpPr>
        <p:spPr>
          <a:xfrm>
            <a:off x="548640" y="3185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The old physical front regardless of layout</a:t>
            </a:r>
            <a:endParaRPr lang="en-US" sz="2400" dirty="0"/>
          </a:p>
        </p:txBody>
      </p:sp>
      <p:sp>
        <p:nvSpPr>
          <p:cNvPr id="6" name="Choice C"/>
          <p:cNvSpPr txBox="1"/>
          <p:nvPr/>
        </p:nvSpPr>
        <p:spPr>
          <a:xfrm>
            <a:off x="548640" y="4008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Always capacity minus one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Change one assumption</a:t>
            </a:r>
            <a:endParaRPr lang="en-US" sz="3600" dirty="0"/>
          </a:p>
        </p:txBody>
      </p:sp>
      <p:sp>
        <p:nvSpPr>
          <p:cNvPr id="3" name="Text 1"/>
          <p:cNvSpPr txBox="1"/>
          <p:nvPr/>
        </p:nvSpPr>
        <p:spPr>
          <a:xfrm>
            <a:off x="548640" y="1280160"/>
            <a:ext cx="11094415" cy="609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Capacity is one. What must a second enqueue do under a rejection policy?</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Your turn</a:t>
            </a:r>
            <a:endParaRPr lang="en-US" sz="3600" dirty="0"/>
          </a:p>
        </p:txBody>
      </p:sp>
      <p:sp>
        <p:nvSpPr>
          <p:cNvPr id="3" name="Text 1"/>
          <p:cNvSpPr txBox="1"/>
          <p:nvPr/>
        </p:nvSpPr>
        <p:spPr>
          <a:xfrm>
            <a:off x="548640" y="1280160"/>
            <a:ext cx="11094415" cy="150876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Complete Dequeue from a Ring: remove front, clear its slot, advance with wraparound, and reject empty removal.</a:t>
            </a:r>
            <a:endParaRPr lang="en-US" sz="2400" dirty="0"/>
          </a:p>
          <a:p>
            <a:pPr indent="0" marL="0">
              <a:spcAft>
                <a:spcPts val="1000"/>
              </a:spcAft>
              <a:buNone/>
            </a:pPr>
            <a:r>
              <a:rPr lang="en-US" sz="2400" u="sng" dirty="0">
                <a:solidFill>
                  <a:srgbClr val="1F232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Open the lesson exercise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Verify more than one example</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Test full rejection, empty removal, capacity one, wraparound, drain/reuse, and a partially occupied growing ring.</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Recap</a:t>
            </a:r>
            <a:endParaRPr lang="en-US"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Distinguish logical from physical queue order.</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Trace ring wraparound and bounded failure.</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Explain linked queue endpoint rules.</a:t>
            </a:r>
            <a:endParaRPr lang="en-US" sz="2400" dirty="0"/>
          </a:p>
        </p:txBody>
      </p:sp>
      <p:sp>
        <p:nvSpPr>
          <p:cNvPr id="4" name="Text 2"/>
          <p:cNvSpPr txBox="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Recap</a:t>
            </a:r>
            <a:endParaRPr lang="en-US" sz="36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txBox="1"/>
          <p:nvPr/>
        </p:nvSpPr>
        <p:spPr>
          <a:xfrm>
            <a:off x="548640" y="2011680"/>
            <a:ext cx="11094415" cy="1280160"/>
          </a:xfrm>
          <a:prstGeom prst="rect">
            <a:avLst/>
          </a:prstGeom>
          <a:noFill/>
          <a:ln/>
        </p:spPr>
        <p:txBody>
          <a:bodyPr wrap="square" lIns="0" tIns="0" rIns="0" bIns="0" rtlCol="0" anchor="b"/>
          <a:lstStyle/>
          <a:p>
            <a:pPr indent="0" marL="0">
              <a:buNone/>
            </a:pPr>
            <a:r>
              <a:rPr lang="en-US" sz="4400" b="1" dirty="0">
                <a:solidFill>
                  <a:srgbClr val="FFFFFF"/>
                </a:solidFill>
                <a:latin typeface="Cambria" pitchFamily="34" charset="0"/>
                <a:ea typeface="Cambria" pitchFamily="34" charset="-122"/>
                <a:cs typeface="Cambria" pitchFamily="34" charset="-120"/>
              </a:rPr>
              <a:t>Access Policies and Applications</a:t>
            </a:r>
            <a:endParaRPr lang="en-US" sz="4400" dirty="0"/>
          </a:p>
        </p:txBody>
      </p:sp>
      <p:sp>
        <p:nvSpPr>
          <p:cNvPr id="3" name="Text 1"/>
          <p:cNvSpPr txBox="1"/>
          <p:nvPr/>
        </p:nvSpPr>
        <p:spPr>
          <a:xfrm>
            <a:off x="548640" y="3429000"/>
            <a:ext cx="11094415" cy="1463040"/>
          </a:xfrm>
          <a:prstGeom prst="rect">
            <a:avLst/>
          </a:prstGeom>
          <a:noFill/>
          <a:ln/>
        </p:spPr>
        <p:txBody>
          <a:bodyPr wrap="square" lIns="0" tIns="0" rIns="0" bIns="0" rtlCol="0" anchor="t"/>
          <a:lstStyle/>
          <a:p>
            <a:pPr indent="0" marL="0">
              <a:buNone/>
            </a:pPr>
            <a:r>
              <a:rPr lang="en-US" sz="2400" dirty="0">
                <a:solidFill>
                  <a:srgbClr val="DFEEE2"/>
                </a:solidFill>
                <a:latin typeface="Calibri" pitchFamily="34" charset="0"/>
                <a:ea typeface="Calibri" pitchFamily="34" charset="-122"/>
                <a:cs typeface="Calibri" pitchFamily="34" charset="-120"/>
              </a:rPr>
              <a:t>Part 15.3 · Core reading</a:t>
            </a:r>
            <a:endParaRPr lang="en-US" sz="2400" dirty="0"/>
          </a:p>
          <a:p>
            <a:pPr indent="0" marL="0">
              <a:buNone/>
            </a:pPr>
            <a:r>
              <a:rPr lang="en-US" sz="2400" dirty="0">
                <a:solidFill>
                  <a:srgbClr val="DFEEE2"/>
                </a:solidFill>
                <a:latin typeface="Calibri" pitchFamily="34" charset="0"/>
                <a:ea typeface="Calibri" pitchFamily="34" charset="-122"/>
                <a:cs typeface="Calibri" pitchFamily="34" charset="-120"/>
              </a:rPr>
              <a:t>Computer Science in C#</a:t>
            </a:r>
            <a:endParaRPr lang="en-US" sz="2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Goals for this reading</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Choose a worklist from its policy.</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Keep undo and redo as separate histories.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State a fairness bound precisely.</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Start with the business question</a:t>
            </a:r>
            <a:endParaRPr lang="en-US" sz="3600" dirty="0"/>
          </a:p>
        </p:txBody>
      </p:sp>
      <p:sp>
        <p:nvSpPr>
          <p:cNvPr id="3" name="Text 1"/>
          <p:cNvSpPr txBox="1"/>
          <p:nvPr/>
        </p:nvSpPr>
        <p:spPr>
          <a:xfrm>
            <a:off x="548640" y="1280160"/>
            <a:ext cx="11094415" cy="1371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An urgent stack serves the newest urgent ticket; a normal queue serves ordinary arrivals FIFO. That choice is a business policy, not a universal fairness guarantee.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Name the model</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The access rule determines which pending item becomes next. Undo/redo requires two histories; a new edit invalidates an abandoned redo branch.</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State the contract</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Document whether urgent restoration happens at the front and whether normal work can starve. A completion-count bound is not a wall-clock bound.</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Worked example 15.3</a:t>
            </a:r>
            <a:endParaRPr lang="en-US" sz="3600" dirty="0"/>
          </a:p>
        </p:txBody>
      </p:sp>
      <p:sp>
        <p:nvSpPr>
          <p:cNvPr id="3" name="Text 1"/>
          <p:cNvSpPr txBox="1"/>
          <p:nvPr/>
        </p:nvSpPr>
        <p:spPr>
          <a:xfrm>
            <a:off x="548640" y="1280160"/>
            <a:ext cx="11094415" cy="2560320"/>
          </a:xfrm>
          <a:prstGeom prst="rect">
            <a:avLst/>
          </a:prstGeom>
          <a:solidFill>
            <a:srgbClr val="F6F8FA"/>
          </a:solidFill>
          <a:ln w="9525">
            <a:solidFill>
              <a:srgbClr val="E1E4E8"/>
            </a:solidFill>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using System;</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using System.Collections.Generic;</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var urgent = new Stack&lt;string&gt;(); var normal = new Queue&lt;string&gt;();</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urgent.Push("U-1"); urgent.Push("U-2");</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normal.Enqueue("N-1"); normal.Enqueue("N-2");</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if (urgent.Count &gt; 0) Console.WriteLine(urgent.Pop());</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else if (normal.Count &gt; 0) Console.WriteLine(normal.Dequeue());</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else Console.WriteLine("No tickets waiting.");</a:t>
            </a:r>
            <a:endParaRPr lang="en-US" sz="1800" dirty="0"/>
          </a:p>
        </p:txBody>
      </p:sp>
      <p:sp>
        <p:nvSpPr>
          <p:cNvPr id="4" name="Text 2"/>
          <p:cNvSpPr txBox="1"/>
          <p:nvPr/>
        </p:nvSpPr>
        <p:spPr>
          <a:xfrm>
            <a:off x="548640" y="4023360"/>
            <a:ext cx="11094415" cy="560070"/>
          </a:xfrm>
          <a:prstGeom prst="rect">
            <a:avLst/>
          </a:prstGeom>
          <a:solidFill>
            <a:srgbClr val="FFFFFF"/>
          </a:solidFill>
          <a:ln w="19050">
            <a:solidFill>
              <a:srgbClr val="C9D1D9"/>
            </a:solidFill>
            <a:prstDash val="dash"/>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U-2</a:t>
            </a:r>
            <a:endParaRPr lang="en-US" sz="18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Trace one change at a time</a:t>
            </a:r>
            <a:endParaRPr lang="en-US" sz="36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2773604"/>
                <a:gridCol w="2773604"/>
                <a:gridCol w="2773604"/>
                <a:gridCol w="2773604"/>
              </a:tblGrid>
              <a:tr h="411480">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Action</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Undo</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Redo</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Current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Edit Reviewed</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Draft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empty</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Reviewed</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Edit Approved</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Draft, Reviewed</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empty</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Approved</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Undo</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Draft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Approved</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Reviewed</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Edit Revised</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Draft, Reviewed</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empty</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Revised</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bl>
          </a:graphicData>
        </a:graphic>
      </p:graphicFrame>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a:t>
            </a:r>
            <a:endParaRPr lang="en-US" sz="3600" dirty="0"/>
          </a:p>
        </p:txBody>
      </p:sp>
      <p:sp>
        <p:nvSpPr>
          <p:cNvPr id="3" name="Text 1"/>
          <p:cNvSpPr txBox="1"/>
          <p:nvPr/>
        </p:nvSpPr>
        <p:spPr>
          <a:xfrm>
            <a:off x="548640" y="1280160"/>
            <a:ext cx="11094415" cy="609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After undo, a new edit occurs. What happens to redo?</a:t>
            </a:r>
            <a:endParaRPr lang="en-US" sz="2400" dirty="0"/>
          </a:p>
        </p:txBody>
      </p:sp>
      <p:sp>
        <p:nvSpPr>
          <p:cNvPr id="4" name="Choice A"/>
          <p:cNvSpPr txBox="1"/>
          <p:nvPr/>
        </p:nvSpPr>
        <p:spPr>
          <a:xfrm>
            <a:off x="548640" y="198120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Keep the abandoned branch</a:t>
            </a:r>
            <a:endParaRPr lang="en-US" sz="2400" dirty="0"/>
          </a:p>
        </p:txBody>
      </p:sp>
      <p:sp>
        <p:nvSpPr>
          <p:cNvPr id="5" name="Choice B"/>
          <p:cNvSpPr txBox="1"/>
          <p:nvPr/>
        </p:nvSpPr>
        <p:spPr>
          <a:xfrm>
            <a:off x="548640" y="2804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Clear it</a:t>
            </a:r>
            <a:endParaRPr lang="en-US" sz="2400" dirty="0"/>
          </a:p>
        </p:txBody>
      </p:sp>
      <p:sp>
        <p:nvSpPr>
          <p:cNvPr id="6" name="Choice C"/>
          <p:cNvSpPr txBox="1"/>
          <p:nvPr/>
        </p:nvSpPr>
        <p:spPr>
          <a:xfrm>
            <a:off x="548640" y="3627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Move every undo state into it</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Compare the choices</a:t>
            </a:r>
            <a:endParaRPr lang="en-US" sz="360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5547208"/>
                <a:gridCol w="5547208"/>
              </a:tblGrid>
              <a:tr h="411480">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Work rule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Useful structure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Latest completed action first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Stack</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Earliest waiting request first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Queue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Restore at either boundary</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Deque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Nearest discovered layer first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Queue with discovery tracking</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bl>
          </a:graphicData>
        </a:graphic>
      </p:graphicFrame>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A defect worth detecting</a:t>
            </a:r>
            <a:endParaRPr lang="en-US" sz="3600" dirty="0"/>
          </a:p>
        </p:txBody>
      </p:sp>
      <p:sp>
        <p:nvSpPr>
          <p:cNvPr id="3" name="Text 1"/>
          <p:cNvSpPr txBox="1"/>
          <p:nvPr/>
        </p:nvSpPr>
        <p:spPr>
          <a:xfrm>
            <a:off x="548640" y="1280160"/>
            <a:ext cx="11094415" cy="1371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An endless supply of urgent work can postpone normal work indefinitely. The data structure expresses a policy; it does not make that policy fair by itself.</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a:t>
            </a:r>
            <a:endParaRPr lang="en-US" sz="3600" dirty="0"/>
          </a:p>
        </p:txBody>
      </p:sp>
      <p:sp>
        <p:nvSpPr>
          <p:cNvPr id="3" name="Text 1"/>
          <p:cNvSpPr txBox="1"/>
          <p:nvPr/>
        </p:nvSpPr>
        <p:spPr>
          <a:xfrm>
            <a:off x="548640" y="1280160"/>
            <a:ext cx="11094415" cy="609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Serve at most two urgent items between normal services. What is bounded?</a:t>
            </a:r>
            <a:endParaRPr lang="en-US" sz="2400" dirty="0"/>
          </a:p>
        </p:txBody>
      </p:sp>
      <p:sp>
        <p:nvSpPr>
          <p:cNvPr id="4" name="Choice A"/>
          <p:cNvSpPr txBox="1"/>
          <p:nvPr/>
        </p:nvSpPr>
        <p:spPr>
          <a:xfrm>
            <a:off x="548640" y="198120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Elapsed waiting time in seconds</a:t>
            </a:r>
            <a:endParaRPr lang="en-US" sz="2400" dirty="0"/>
          </a:p>
        </p:txBody>
      </p:sp>
      <p:sp>
        <p:nvSpPr>
          <p:cNvPr id="5" name="Choice B"/>
          <p:cNvSpPr txBox="1"/>
          <p:nvPr/>
        </p:nvSpPr>
        <p:spPr>
          <a:xfrm>
            <a:off x="548640" y="2804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All ticket service durations</a:t>
            </a:r>
            <a:endParaRPr lang="en-US" sz="2400" dirty="0"/>
          </a:p>
        </p:txBody>
      </p:sp>
      <p:sp>
        <p:nvSpPr>
          <p:cNvPr id="6" name="Choice C"/>
          <p:cNvSpPr txBox="1"/>
          <p:nvPr/>
        </p:nvSpPr>
        <p:spPr>
          <a:xfrm>
            <a:off x="548640" y="3627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Urgent completions between normal services</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Change one assumption</a:t>
            </a:r>
            <a:endParaRPr lang="en-US" sz="3600" dirty="0"/>
          </a:p>
        </p:txBody>
      </p:sp>
      <p:sp>
        <p:nvSpPr>
          <p:cNvPr id="3" name="Text 1"/>
          <p:cNvSpPr txBox="1"/>
          <p:nvPr/>
        </p:nvSpPr>
        <p:spPr>
          <a:xfrm>
            <a:off x="548640" y="1280160"/>
            <a:ext cx="11094415" cy="609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Remove both urgent Push calls. What prints from the worked example?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Your turn</a:t>
            </a:r>
            <a:endParaRPr lang="en-US" sz="3600" dirty="0"/>
          </a:p>
        </p:txBody>
      </p:sp>
      <p:sp>
        <p:nvSpPr>
          <p:cNvPr id="3" name="Text 1"/>
          <p:cNvSpPr txBox="1"/>
          <p:nvPr/>
        </p:nvSpPr>
        <p:spPr>
          <a:xfrm>
            <a:off x="548640" y="1280160"/>
            <a:ext cx="11094415" cy="150876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Complete Split Urgent and Normal Tickets in the lesson. Print one urgent item, otherwise one normal item, otherwise the empty message.</a:t>
            </a:r>
            <a:endParaRPr lang="en-US" sz="2400" dirty="0"/>
          </a:p>
          <a:p>
            <a:pPr indent="0" marL="0">
              <a:spcAft>
                <a:spcPts val="1000"/>
              </a:spcAft>
              <a:buNone/>
            </a:pPr>
            <a:r>
              <a:rPr lang="en-US" sz="2400" u="sng" dirty="0">
                <a:solidFill>
                  <a:srgbClr val="1F232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Open the lesson exercise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Verify more than one example</a:t>
            </a:r>
            <a:endParaRPr lang="en-US" sz="3600" dirty="0"/>
          </a:p>
        </p:txBody>
      </p:sp>
      <p:sp>
        <p:nvSpPr>
          <p:cNvPr id="3" name="Text 1"/>
          <p:cNvSpPr txBox="1"/>
          <p:nvPr/>
        </p:nvSpPr>
        <p:spPr>
          <a:xfrm>
            <a:off x="548640" y="1280160"/>
            <a:ext cx="11094415" cy="1371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Check urgent-only, normal-only, both-empty, repeated serve/restore, and a new edit after undo. Explain how the policy affects a waiting normal ticket.</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Recap</a:t>
            </a:r>
            <a:endParaRPr lang="en-US"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Choose a worklist from its policy.</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Keep undo and redo as separate histories.</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State a fairness bound precisely.</a:t>
            </a:r>
            <a:endParaRPr lang="en-US" sz="2400" dirty="0"/>
          </a:p>
        </p:txBody>
      </p:sp>
      <p:sp>
        <p:nvSpPr>
          <p:cNvPr id="4" name="Text 2"/>
          <p:cNvSpPr txBox="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Recap</a:t>
            </a:r>
            <a:endParaRPr lang="en-US" sz="3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46</Slides>
  <Notes>46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46</vt:i4>
      </vt:variant>
    </vt:vector>
  </HeadingPairs>
  <TitlesOfParts>
    <vt:vector size="4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Stacks, Queues, and Deques</dc:title>
  <dc:subject>PptxGenJS Presentation</dc:subject>
  <dc:creator>ThinkPress</dc:creator>
  <cp:lastModifiedBy>ThinkPress</cp:lastModifiedBy>
  <cp:revision>1</cp:revision>
  <dcterms:created xsi:type="dcterms:W3CDTF">2026-10-21T20:22:45Z</dcterms:created>
  <dcterms:modified xsi:type="dcterms:W3CDTF">2026-10-21T20:22:45Z</dcterms:modified>
</cp:coreProperties>
</file>