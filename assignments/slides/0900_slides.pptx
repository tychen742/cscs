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9.1: File Foundations: Reading and Writing, starts on slide 2.
Part 9.2: File Workflows, Paths, and Resources, starts on slide 17.
Part 9.3: Text Operations, starts on slide 32.
Part 9.4: Regular Expressions, starts on slide 47.
Part 9.5: Privacy and Security in Code, starts on slide 52.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coffee cart closes with three register totals. The saved report must contain one total per line and must be readable after writing finishes.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A writer buffers output. End its scope before another operation depends on the completed file. A reader advances after each ReadLine call.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coffee cart closes with three register totals. The saved report must contain one total per line and must be readable after writing finishes.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I/O moves data across a program boundary. A path names the resource; a reader or writer owns a handle to it.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writer buffers output. End its scope before another operation depends on the completed file. A reader advances after each ReadLine call.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Invoice 41. Connect each observation to the contract: A writer buffers output. End its scope before another operation depends on the completed file. A reader advances after each ReadLine call.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Event: File / handle state. Open writer: New output resource. Write Invoice 41: Output may still be buffered. Dispose writer: Buffered output flushed; handle released. Read file: Invoice 41 is available.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Disposal flushes and releases the writer. A reader cannot complete another object's pending writes; assigning a path does no I/O.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 Result. ReadAllText: One string containing all text. ReadLine: One line and an advanced position. WriteLine: Text plus a line ending. A writer buffers output. End its scope before another operation depends on the completed file. A reader advances after each ReadLine call.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Calling ReadLine twice examines two different lines. Store one returned line, inspect it, and reuse that stored value.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A. Null marks end of stream; an empty line returns the empty string. Neither result is a numeric conversion.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Yes: a line is still a line. A separate policy may skip blank records, but that changes the question being counted.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Add the missing writer.WriteLine call, dispose the writer, then count every successful ReadLine result. Do not increment only when the returned text is nonempty. Watch for this defect: Calling ReadLine twice examines two different lines. Store one returned line, inspect it, and reuse that stored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an empty file, a blank middle line, and a final line without a newline. Predict each line count before running.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writer buffers output. End its scope before another operation depends on the completed file. A reader advances after each ReadLine call.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40 minutes of selected explanation, prediction, code runs, and practice. Reading parts are not extra meetings; this chapter remains a three-meeting, 110-minute unit. A closing total must be added to an existing daily log. A failed import must release its writer without pretending partial output is a complete report.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Path.Combine creates a string, not a directory. Append preserves previous rows; overwrite replaces them. Using bounds the lifetime even during exception unwinding.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closing total must be added to an existing daily log. A failed import must release its writer without pretending partial output is a complete report.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construction, acquisition, processing, and disposal are separate steps. Resource availability is different from record validity.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Path.Combine creates a string, not a directory. Append preserves previous rows; overwrite replaces them. Using bounds the lifetime even during exception unwinding.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20|30. Connect each observation to the contract: Path.Combine creates a string, not a directory. Append preserves previous rows; overwrite replaces them. Using bounds the lifetime even during exception unwinding.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Event: Report contents. Initial write: 20. Append 30: 20, 30. Read after disposal: Two complete lines. Overwrite instead: Only the replacement line.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Directory.CreateDirectory is a separate operation. A valid-looking path does not establish existence or permissions.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Interpretation. Missing input: No readable source was acquired. Existing empty input: A valid source has zero rows. Malformed row: A record failed its parsing contract. Path.Combine creates a string, not a directory. Append preserves previous rows; overwrite replaces them. Using bounds the lifetime even during exception unwinding.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File.Exists before opening is not a guarantee: another process or permissions may change. Handle the open operation according to the stated failure policy.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C. Cleanup releases the resource and may flush prior rows; it does not undo them. Atomic publication needs a separate design.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An empty partial file may have been created. The failure signal still matters; empty output does not prove successful processing.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The first two accepted amounts remain; the invalid third line stops processing. The using scope releases the writer so reading or exclusive reopening can succeed. Watch for this defect: File.Exists before opening is not a guarantee: another process or permissions may change. Handle the open operation according to the stated failure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Compare missing input with an existing empty file; test append to an empty file and failure after two accepted rows.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Path.Combine creates a string, not a directory. Append preserves previous rows; overwrite replaces them. Using bounds the lifetime even during exception unwinding.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stock import accepts SKU,quantity records. A syntactically valid negative quantity still violates the business rule.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Never index fields[1] until two fields are established. On rejection, keep output parameters at their documented empty defaults.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stock import accepts SKU,quantity records. A syntactically valid negative quantity still violates the business rule.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Parsing converts representation; validation decides acceptance. Check field count, required text, numeric syntax, and business range in that order.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index fields[1] until two fields are established. On rejection, keep output parameters at their documented empty defaults.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True; False; False. Connect each observation to the contract: Never index fields[1] until two fields are established. On rejection, keep output parameters at their documented empty defaults.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Record: Decision. PEN,4: Accept. BOOK,-2: Reject domain. PEN: Reject shape. ,3: Reject missing SKU.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Parsing recognizes an integer; the stock contract separately permits or rejects negative quantities.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Question. Shape: Are the required fields present?. Syntax: Can the number be converted?. Domain: Is that number allowed here?. Never index fields[1] until two fields are established. On rejection, keep output parameters at their documented empty defaults.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prepared suggestion that directly calls Parse on fields[1] can fail before it checks the contract. Review it against missing, malformed, and out-of-range examples.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C. Initialize outputs, validate into local variables, then commit accepted values. This prevents a rejected record from leaking partial state.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Not under an exactly-two-field schema. Reject the extra field rather than silently changing the format.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Initialize SKU to empty and quantity to zero. Require exactly two fields, trim and require SKU text, TryParse a local quantity, check its range, then assign both outputs and return true. Watch for this defect: A prepared suggestion that directly calls Parse on fields[1] can fail before it checks the contract. Review it against missing, malformed, and out-of-range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Use missing/extra fields, blank SKU, whitespace, malformed digits, zero, and the specified quantity boundary. Do not introduce regex or general CSV quoting.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index fields[1] until two fields are established. On rejection, keep output parameters at their documented empty defaults.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supporting material, not an extra required meeting or an automatic assessment prerequisite. Goal: Regex as a whole-record contract. The instructor selects its depth according to course policy and available time. Match Ticket=4821 as a complete record and extract only its four digits. Anchors constrain the whole input; a named group supplies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Ticket=4821 as a complete record and extract only its four digits. Anchors constrain the whole input; a named group supplies the result. An unanchored pattern accepts prefix Ticket=4821. Use ^Ticket=(?&lt;id&gt;[0-9]{4})$ and read id only after Success. Connect this extension to the core contract rather than introducing it as a prerequisite for the standard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No, plus means one or more. B: No, syntax matching is not domain validation. Ask students to justify each answer using the stated contract. These checks are optional review, not a change to existing assessment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existing exercise only if this supporting reading was selected. Answer: Anchor both ends, name the group id, and return rejected on a failed match. Expected results are 4821, rejected, rejected. Retain the original exercise identity and do not require unsupported syntax in a core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both ends, name the group id, and return rejected on a failed match. Expected results are 4821, rejected, rejected. The core chapter remains complete without an extra meeting. Keep these notes available for students taking the recommended extension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supporting material, not an extra required meeting or an automatic assessment prerequisite. Goal: Privacy in a useful log. The instructor selects its depth according to course policy and available time. Show only the last four card digits in a synthetic support view. A useful diagnostic need not reproduce the original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the last four card digits in a synthetic support view. A useful diagnostic need not reproduce the original secret. Masking changes what is displayed; it does not erase the original value or make stored data anonymous. Connect this extension to the core contract rather than introducing it as a prerequisite for the standard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Both no. Control storage and access separately; logs must not collect secrets merely because they help debugging. Ask students to justify each answer using the stated contract. These checks are optional review, not a change to existing assessment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existing exercise only if this supporting reading was selected. Answer: For 4111111111111234 return **** **** **** 1234; for a value shorter than four digits return (invalid card). Test exactly four digits too. Retain the original exercise identity and do not require unsupported syntax in a core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4111111111111234 return **** **** **** 1234; for a value shorter than four digits return (invalid card). Test exactly four digits too. The core chapter remains complete without an extra meeting. Keep these notes available for students taking the recommended extension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9</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9</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09_files_text/0901_stream_file.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09_files_text/0902_file_operation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09_files_text/0903_text_operations.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cscs.thinkpress.org/chapters/09_files_text/0904_regex.html" TargetMode="Externa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hyperlink" Target="https://cscs.thinkpress.org/chapters/09_files_text/0905_privacy_security.html" TargetMode="Externa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Files and Text</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9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File Foundations: Reading and Writing</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9.1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and write a text file.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stream position from stored text.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Dispose a writer before reading its output.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coffee cart closes with three register totals. The saved report must contain one total per line and must be readable after writing finishes.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File I/O moves data across a program boundary. A path names the resource; a reader or writer owns a handle to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writer buffers output. End its scope before another operation depends on the completed file. A reader advances after each ReadLine call.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9.1</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System.IO;</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string path = Path.GetTempFileName();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try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using (var writer = new StreamWriter(path)) writer.WriteLine("Invoice 41");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Console.Write(File.ReadAllText(path));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finally { File.Delete(path); }</a:t>
            </a:r>
            <a:endParaRPr lang="en-US" sz="1800" dirty="0"/>
          </a:p>
        </p:txBody>
      </p:sp>
      <p:sp>
        <p:nvSpPr>
          <p:cNvPr id="4" name="Text 2"/>
          <p:cNvSpPr txBox="1"/>
          <p:nvPr/>
        </p:nvSpPr>
        <p:spPr>
          <a:xfrm>
            <a:off x="548640" y="40233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Invoice 41</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File / handle state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Open writer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New output resource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Write Invoice 41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Output may still be buffered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Dispose writer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Buffered output flushed; handle released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 file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Invoice 41 is available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Which action completes buffered output?</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Construct a reader</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Dispose the writer</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Assign the path again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Operation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ReadAllText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string containing all text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line and an advanced 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WriteLine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Text plus a line ending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Calling ReadLine twice examines two different lines. Store one returned line, inspect it, and reuse that stored value.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A reader returns null. What does that mean?</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End of input</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An empty line</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zero numeric value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receipt contains an empty middle line. Should a line counter count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 Write a Receipt and Read It Back, repair the missing writer call. Confirm three receipt lines and Lines read: 3.</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an empty file, a blank middle line, and a final line without a newline. Predict each line count before running.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Read and write a text file.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stream position from stored text.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Dispose a writer before reading its output.</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File Workflows, Paths, and Resources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9.2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Build a path without hard-coded separators.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overwrite or append intentionally.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cleanup after an exception.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closing total must be added to an existing daily log. A failed import must release its writer without pretending partial output is a complete report.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Path construction, acquisition, processing, and disposal are separate steps. Resource availability is different from record validity.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Path.Combine creates a string, not a directory. Append preserves previous rows; overwrite replaces them. Using bounds the lifetime even during exception unwinding.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9.2</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System.IO;</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string path = Path.GetTempFileName();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try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File.WriteAllText(path, "20\n");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using (var writer = new StreamWriter(path, append: true)) writer.WriteLine(30);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Console.WriteLine(string.Join("|", File.ReadAllLines(path)));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finally { File.Delete(path); }</a:t>
            </a:r>
            <a:endParaRPr lang="en-US" sz="1800" dirty="0"/>
          </a:p>
        </p:txBody>
      </p:sp>
      <p:sp>
        <p:nvSpPr>
          <p:cNvPr id="4" name="Text 2"/>
          <p:cNvSpPr txBox="1"/>
          <p:nvPr/>
        </p:nvSpPr>
        <p:spPr>
          <a:xfrm>
            <a:off x="548640" y="43091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20|30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Report contents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Initial write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Append 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20, 30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 after disposal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Two complete lines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Overwrite instead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Only the replacement 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Does Path.Combine create the directory?</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if the name is valid</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it builds a path string</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on Windows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Outcome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Interpretation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Missing input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readable source was acquired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Existing empty input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valid source has zero rows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Malformed row</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record failed its parsing contract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File.Exists before opening is not a guarantee: another process or permissions may change. Handle the open operation according to the stated failure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writer is disposed after row three fails. Which guarantee holds?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Previous output is rolled back</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file is always complete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handle is released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first imported line is malformed. What can the output contain?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Run the section's partial-output scenario. Predict what remains after the third amount fails, then reopen the report.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Compare missing input with an existing empty file; test append to an empty file and failure after two accepted rows.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Build a path without hard-coded separators.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overwrite or append intentionally.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cleanup after an exception.</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Text Operations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9.3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splitting from validation.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shape before indexing.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Assign output values only after acceptance.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stock import accepts SKU,quantity records. A syntactically valid negative quantity still violates the business rule.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Parsing converts representation; validation decides acceptance. Check field count, required text, numeric syntax, and business range in that 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Never index fields[1] until two fields are established. On rejection, keep output parameters at their documented empty defaults.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9.3</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(string line in new[] { "PEN,4", "BOOK,-2", "PEN"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string[] fields = line.Split(',');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bool ok = fields.Length == 2 &amp;&amp; fields[0].Trim().Length &gt;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&amp;&amp; int.TryParse(fields[1], out int count) &amp;&amp; count &gt;=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Console.WriteLine(ok);</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37376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Record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Decision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PEN,4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BOOK,-2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 domain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 shape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 missing SKU</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TryParse accepts -2. Is the record valid?</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Always</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if the domain permits it</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Never for any program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Check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Shape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Are the required fields present?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Syntax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Can the number be converted?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Domain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Is that number allowed here?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prepared suggestion that directly calls Parse on fields[1] can fail before it checks the contract. Review it against missing, malformed, and out-of-range examples.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should reject output parameters contain?</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Half-parsed values</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previous call's values</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Their documented empty defaults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Add a third field to PEN,4. Is it harmless?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TryReadStockLine in the section's prepared-import review. Keep the synthetic schema and predict acceptance before running.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missing/extra fields, blank SKU, whitespace, malformed digits, zero, and the specified quantity boundary. Do not introduce regex or general CSV quoting.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splitting from validation.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Check shape before indexing.</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Assign output values only after acceptance.</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Regular Expressions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9.4 · Supporting / optional reference</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Selected depth; no additional required meeting.</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Regex as a whole-record contract</a:t>
            </a:r>
            <a:endParaRPr lang="en-US" sz="3600" dirty="0"/>
          </a:p>
        </p:txBody>
      </p:sp>
      <p:sp>
        <p:nvSpPr>
          <p:cNvPr id="3" name="Text 1"/>
          <p:cNvSpPr txBox="1"/>
          <p:nvPr/>
        </p:nvSpPr>
        <p:spPr>
          <a:xfrm>
            <a:off x="548640" y="1280160"/>
            <a:ext cx="11094415" cy="1889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Match Ticket=4821 as a complete record and extract only its four digits. Anchors constrain the whole input; a named group supplies the result.</a:t>
            </a:r>
            <a:endParaRPr lang="en-US" sz="2400" dirty="0"/>
          </a:p>
          <a:p>
            <a:pPr indent="0" marL="0">
              <a:buNone/>
            </a:pPr>
            <a:r>
              <a:rPr lang="en-US" sz="2400" dirty="0">
                <a:solidFill>
                  <a:srgbClr val="1F2328"/>
                </a:solidFill>
                <a:latin typeface="Calibri" pitchFamily="34" charset="0"/>
                <a:ea typeface="Calibri" pitchFamily="34" charset="-122"/>
                <a:cs typeface="Calibri" pitchFamily="34" charset="-120"/>
              </a:rPr>
              <a:t>An unanchored pattern accepts prefix Ticket=4821. Use ^Ticket=(?</a:t>
            </a:r>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[0-9]{4})$ and read id only after Success.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Two quick checks</a:t>
            </a:r>
            <a:endParaRPr lang="en-US" sz="3600" dirty="0"/>
          </a:p>
        </p:txBody>
      </p:sp>
      <p:sp>
        <p:nvSpPr>
          <p:cNvPr id="3" name="Text 1"/>
          <p:cNvSpPr txBox="1"/>
          <p:nvPr/>
        </p:nvSpPr>
        <p:spPr>
          <a:xfrm>
            <a:off x="548640" y="1280160"/>
            <a:ext cx="11094415" cy="1127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Does [0-9]+ mean exactly four digits?</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 Does a successful match prove the record's business meaning?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selected practice</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Repair the lesson's Ticket extraction exercise; reject Ticket=48x1 and prefix Ticket=4821.</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supporting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Reference recap</a:t>
            </a:r>
            <a:endParaRPr lang="en-US"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buSzPct val="100000"/>
              <a:buChar char="•"/>
            </a:pPr>
            <a:r>
              <a:rPr lang="en-US" sz="2400" dirty="0">
                <a:solidFill>
                  <a:srgbClr val="FFFFFF"/>
                </a:solidFill>
                <a:latin typeface="Calibri" pitchFamily="34" charset="0"/>
                <a:ea typeface="Calibri" pitchFamily="34" charset="-122"/>
                <a:cs typeface="Calibri" pitchFamily="34" charset="-120"/>
              </a:rPr>
              <a:t>An unanchored pattern accepts prefix Ticket=4821. Use ^Ticket=(?</a:t>
            </a:r>
            <a:pPr indent="0" marL="0">
              <a:spcAft>
                <a:spcPts val="800"/>
              </a:spcAft>
              <a:buNone/>
            </a:pPr>
            <a:r>
              <a:rPr lang="en-US" sz="2400" dirty="0">
                <a:solidFill>
                  <a:srgbClr val="FFFFFF"/>
                </a:solidFill>
                <a:latin typeface="Calibri" pitchFamily="34" charset="0"/>
                <a:ea typeface="Calibri" pitchFamily="34" charset="-122"/>
                <a:cs typeface="Calibri" pitchFamily="34" charset="-120"/>
              </a:rPr>
              <a:t>[0-9]{4})$ and read id only after Success.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Return to the core sequence when this reference question is resolved.</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Reference recap</a:t>
            </a:r>
            <a:endParaRPr lang="en-US" sz="3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Privacy and Security in Code</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9.5 · Supporting / optional reference</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Selected depth; no additional required meeting.</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Privacy in a useful log</a:t>
            </a:r>
            <a:endParaRPr lang="en-US" sz="3600" dirty="0"/>
          </a:p>
        </p:txBody>
      </p:sp>
      <p:sp>
        <p:nvSpPr>
          <p:cNvPr id="3" name="Text 1"/>
          <p:cNvSpPr txBox="1"/>
          <p:nvPr/>
        </p:nvSpPr>
        <p:spPr>
          <a:xfrm>
            <a:off x="548640" y="1280160"/>
            <a:ext cx="11094415" cy="1889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Show only the last four card digits in a synthetic support view. A useful diagnostic need not reproduce the original secret.</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Masking changes what is displayed; it does not erase the original value or make stored data anonymous.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Two quick checks</a:t>
            </a:r>
            <a:endParaRPr lang="en-US" sz="3600" dirty="0"/>
          </a:p>
        </p:txBody>
      </p:sp>
      <p:sp>
        <p:nvSpPr>
          <p:cNvPr id="3" name="Text 1"/>
          <p:cNvSpPr txBox="1"/>
          <p:nvPr/>
        </p:nvSpPr>
        <p:spPr>
          <a:xfrm>
            <a:off x="548640" y="1280160"/>
            <a:ext cx="11094415" cy="1127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Is masking the same as deleting the source?</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 Should a private support log store a password?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selected practice</a:t>
            </a:r>
            <a:endParaRPr lang="en-US" sz="3600" dirty="0"/>
          </a:p>
        </p:txBody>
      </p:sp>
      <p:sp>
        <p:nvSpPr>
          <p:cNvPr id="3" name="Text 1"/>
          <p:cNvSpPr txBox="1"/>
          <p:nvPr/>
        </p:nvSpPr>
        <p:spPr>
          <a:xfrm>
            <a:off x="548640" y="1280160"/>
            <a:ext cx="11094415" cy="1127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Mask a Card Number in the optional privacy reading.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supporting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Reference recap</a:t>
            </a:r>
            <a:endParaRPr lang="en-US"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Masking changes what is displayed; it does not erase the original value or make stored data anonymous.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Return to the core sequence when this reference question is resolved.</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Reference 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Files and Text</dc:title>
  <dc:subject>PptxGenJS Presentation</dc:subject>
  <dc:creator>ThinkPress</dc:creator>
  <cp:lastModifiedBy>ThinkPress</cp:lastModifiedBy>
  <cp:revision>1</cp:revision>
  <dcterms:created xsi:type="dcterms:W3CDTF">2026-10-21T20:22:37Z</dcterms:created>
  <dcterms:modified xsi:type="dcterms:W3CDTF">2026-10-21T20:22:37Z</dcterms:modified>
</cp:coreProperties>
</file>