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3.1 Boolean Expressions and Logical Operators: slide 2; 3.2 Conditional Selection with if and switch: slide 18. Meeting 1: Boolean rules in 3.1, 35 minutes; meeting 2: if/else and ordered tiers in 3.2, 40 minutes; meeting 3: switch/default and transfer practice in 3.2, 35 minutes. Total 110 minutes.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Boolean rules in 3.1, 35 minutes; meeting 2: if/else and ordered tiers in 3.2, 40 minutes; meeting 3: switch/default and transfer practice in 3.2, 35 minutes. Total 110 minutes. This part belongs to that allocation; slides are teaching choices, not separate timed lectures. Introduce the business question before syntax. An order ships free when its total is at least 50 and it is not international. Both conditions belong to the rule; meeting only one is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Boolean rules in 3.1, 35 minutes; meeting 2: if/else and ordered tiers in 3.2, 40 minutes; meeting 3: switch/default and transfer practice in 3.2,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ships free when its total is at least 50 and it is not international. Both conditions belong to the rule; meeting only one is insufficient.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statements, sometimes referred to as conditional statements, are one of the three basic constructs (sequence, selection, iteration) in programming. Selection statements provide the logic to perform decision-making: taking different actions based on different conditions. When selecting from possible paths for execution, the decisions are made based on the value of an expression. C# has the following conditional statements: - The `if` statement specifies a block of code to be executed, only if a provided Boolean expression evaluates to `true`. - The `if-else` statement allows you to choose which of the two code paths to follow based on a Boolean expression. - The `else if` statement specifies a new `condition` to `test`. - `switch` statement selects from a list of code to execute based on a pattern match with an expression. The basic syntax for an if statement is:  Teaching cue: explain why each step matters in this specific business case, then have a student restate the rule before the worked trace. The equal-to case distinguishes &gt;= from &gt;. The international rows distinguish AND from OR. Ask which single row is enough to refute a candidate that uses OR: total 50 and international true is one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`condition` is a **Boolean expression** — an expression that evaluates to either `true` or `false`. The parentheses around it are required syntax: they tell the compiler where the condition begins and ends, distinguishing it from the body of the `if` statement. This is different from parentheses in arithmetic expressions, where they are used to control the order of operations.  Teaching cue: explain why each step matters in this specific business case, then have a student restate the rule before the worked trace. The equal-to case distinguishes &gt;= from &gt;. The international rows distinguish AND from OR. Ask which single row is enough to refute a candidate that uses OR: total 50 and international true is one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equal-to case distinguishes &gt;= from &gt;. The international rows distinguish AND from OR. Ask which single row is enough to refute a candidate that uses OR: total 50 and international true is one counterexample.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'True\nFalse\n'. The equal-to case distinguishes &gt;= from &gt;. The international rows distinguish AND from OR. Ask which single row is enough to refute a candidate that uses OR: total 50 and international true is one counterexample.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NOT international is false, so the AND condition is false even though the total qualifies.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pattern on a real decision before reading about the other forms. A store charges shipping unless the order total reaches 50:  The equal-to case distinguishes &gt;= from &gt;. The international rows distinguish AND from OR. Ask which single row is enough to refute a candidate that uses OR: total 50 and international true is one counterexample.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text != null AND text.Length &gt;0, the second test runs only if a line exists. Reverse the order and the missing-input protection is lost. This is a reason to preserve evaluation dependencies when translating nested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 compound expression can combine appropriate tests, but it does not automatically preserve different actions or evaluation dependencies. The trace provides an independent explanation of the ordinary case. The equal-to case distinguishes &gt;= from &gt;. The international rows distinguish AND from OR. Ask which single row is enough to refute a candidate that uses OR: total 50 and international true is one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compound expression can combine appropriate tests, but it does not automatically preserve different actions or evaluation dependencies.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p4_c40102fa98. Expected lines True and False. Use total &gt;= 50 AND NOT international; preserve the provided assessment identity and avoid introducing methods.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equal-to case distinguishes &gt;= from &gt;. The international rows distinguish AND from OR. Ask which single row is enough to refute a candidate that uses OR: total 50 and international true is one counterexample. For the Your Turn activity, the instructor answer is: Exercise cell p4_c40102fa98. Expected lines True and False. Use total &gt;= 50 AND NOT international; preserve the provided assessment identity and avoid introducing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Translate a business rule into a Boolean expression; Combine conditions with AND, OR and NOT; Choose boundary and counterexample inputs.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equal-to case distinguishes &gt;= from &gt;. The international rows distinguish AND from OR. Ask which single row is enough to refute a candidate that uses OR: total 50 and international true is one counterexample. Use the existing lab for connected practice and homework for independent transfer. Assessment IDs remain unchanged. Meeting 1: Boolean rules in 3.1, 35 minutes; meeting 2: if/else and ordered tiers in 3.2, 40 minutes; meeting 3: switch/default and transfer practice in 3.2,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Boolean rules in 3.1, 35 minutes; meeting 2: if/else and ordered tiers in 3.2, 40 minutes; meeting 3: switch/default and transfer practice in 3.2, 35 minutes. Total 110 minutes. This part belongs to that allocation; slides are teaching choices, not separate timed lectures. Introduce the business question before syntax. A delivery desk recognizes free pickup and paid shipping. An unknown service code must not accidentally receive the valid pickup charge of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Boolean rules in 3.1, 35 minutes; meeting 2: if/else and ordered tiers in 3.2, 40 minutes; meeting 3: switch/default and transfer practice in 3.2,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delivery desk recognizes free pickup and paid shipping. An unknown service code must not accidentally receive the valid pickup charge of zero.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desk needs one charge for each service code: express `E` costs 8, standard `S` costs 3, and pickup `P` costs 0. An unknown code must be reported as invalid. Keep this rule in mind while learning the selection forms below. After `if`, `else if`, nesting, and `switch`, the final comparison returns to the same rule and tests whether different forms preserve it.  Teaching cue: explain why each step matters in this specific business case, then have a student restate the rule before the worked trace. A zero charge is legitimate for P and cannot double as an unknown-code sentinel. In a top-level program, return can stop the program before a later charge report. A break only leaves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statement specifies a block of C# code to be executed if a condition is True. :::{note} Note that C# is case sensitive, so `If` is not the same as `if`. "If" or "IF" will generate an error. ::: In `if` statements, the comparison operators (`&gt;`, `=`, `&lt;=`, `==`, and `!=`) are used to evaluate the comparison expressions to derive a value of either `true` or `false` from the Boolean expression. The first step to learn about the `if` statements is to perform some tests on the operators with `csharprepl`, `Run C#`, or a small test project, such as: with the output: When coding, we often play with variables rather than simple values. Observe the following code and test it with `csharprepl`, `Run C#`, or a small VS Code project to practice `if` statements with variables: Consider simple arithmetic comparisons that directly translate from math into C#. Run this C# code: Now think of which of these expressions below are true and which false, and then enter each one into your csharp session to test: You see that the expressions evaluate to either `true` or `false`. These are the only possible *Boolean* values. Run the example program below. Try it at least twice, with inputs: 30 and then 55. As you can see, you get different results, depending on the input. The main code is:  Teaching cue: explain why each step matters in this specific business case, then have a student restate the rule before the worked trace. A zero charge is legitimate for P and cannot double as an unknown-code sentinel. In a top-level program, return can stop the program before a later charge report. A break only leaves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zero charge is legitimate for P and cannot double as an unknown-code sentinel. In a top-level program, return can stop the program before a later charge report. A break only leaves the switch.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'Unknown service\n'. A zero charge is legitimate for P and cannot double as an unknown-code sentinel. In a top-level program, return can stop the program before a later charge report. A break only leaves the switch.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chain commits to its first true branch. Put a top tier before a broader passing tier when that is the intended policy.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`weight` to 50 and then 55. At 50 the charge is skipped; at 55 it is printed. The thank-you message follows the `if` block and always runs. You can see from this code that: 1. the general C# syntax for a simple `if` statement is: 2. If the condition is `true`, then `execute` the statement(s) in braces. If the condition is `not true`, then `skip` the statements in braces. 3. The `condition` is an `expression` that evaluates to either true or false, of type **boolean**. 4. An `if` statement only affects the normal sequential order *inside* the `if` statement itself (e.g., skipping the extra charge block when the condition is not true and still print the “thank you” line). Another code fragment of banking account transaction as an example: if (balance &lt; 0) { transfer = - balance; // transfer enough from the backup account: backupAccount = backupAccount - transfer; balance = balance + transfer; } The assumption in the example above is that if an account goes negative, it is brought back to 0 by transferring money from a backup account. Note that the choice is between - **doing something** (if the condition is `true`) or - **nothing** (if the condition is `false`). A zero charge is legitimate for P and cannot double as an unknown-code sentinel. In a top-level program, return can stop the program before a later charge report. A break only leaves the switch.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score95, separate tests score&gt;=60 and score&gt;=90 can both print; an else-if chain prints only its first match. Ask students to compare branch actions before shortening source. Fewer lines alone is not evidence of an equivalent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To prevent a later report for an unsupported value, use an explicit failure path such as a top-level return. The trace provides an independent explanation of the ordinary case. A zero charge is legitimate for P and cannot double as an unknown-code sentinel. In a top-level program, return can stop the program before a later charge report. A break only leaves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To prevent a later report for an unsupported value, use an explicit failure path such as a top-level return.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exercise cell tabs19_invalid_starter. Instructor answer: preserve case P and its zero charge; default prints Unknown service and returns before the report. Verify P and X separately. No loops or helper methods are needed.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zero charge is legitimate for P and cannot double as an unknown-code sentinel. In a top-level program, return can stop the program before a later charge report. A break only leaves the switch. For the Your Turn activity, the instructor answer is: Existing exercise cell tabs19_invalid_starter. Instructor answer: preserve case P and its zero charge; default prints Unknown service and returns before the report. Verify P and X separately. No loops or helper methods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one-way, two-way and multiple-way selection; Trace first-match and nested decisions; Handle unsupported switch values explicitly.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zero charge is legitimate for P and cannot double as an unknown-code sentinel. In a top-level program, return can stop the program before a later charge report. A break only leaves the switch. Use the existing lab for connected practice and homework for independent transfer. Assessment IDs remain unchanged. Meeting 1: Boolean rules in 3.1, 35 minutes; meeting 2: if/else and ordered tiers in 3.2, 40 minutes; meeting 3: switch/default and transfer practice in 3.2,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3</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3</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3_decision/0301_intro_decision.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3_decision/0301_intro_decision.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3_decision/0300_conditional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3_decision/0301_intro_decision.html" TargetMode="External"/><Relationship Id="rId2" Type="http://schemas.openxmlformats.org/officeDocument/2006/relationships/hyperlink" Target="https://cscs.thinkpress.org/chapters/03_decision/assignments/lab.html" TargetMode="External"/><Relationship Id="rId3" Type="http://schemas.openxmlformats.org/officeDocument/2006/relationships/hyperlink" Target="https://cscs.thinkpress.org/chapters/03_decision/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3_decision/0302_ifstatement.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3_decision/0302_ifstatement.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3_decision/0300_conditional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3_decision/0302_ifstatement.html" TargetMode="External"/><Relationship Id="rId2" Type="http://schemas.openxmlformats.org/officeDocument/2006/relationships/hyperlink" Target="https://cscs.thinkpress.org/chapters/03_decision/assignments/lab.html" TargetMode="External"/><Relationship Id="rId3" Type="http://schemas.openxmlformats.org/officeDocument/2006/relationships/hyperlink" Target="https://cscs.thinkpress.org/chapters/03_decision/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Decisions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3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Boolean Expressions and Logical Operators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3.1 · 3.1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Translate a business rule into a Boolean expression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Combine conditions with AND, OR and NOT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boundary and counterexample inputs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ships free when its total is at least 50 and it is not international. Both conditions belong to the rule; meeting only one is insufficient.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Boolean expression answers a precise question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bool value is True or False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Comparison operators produce Boolean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Equality asks about values; assignment changes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Choose the connector from the requirement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AND requires both conditions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OR permits either condition, including both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NOT reverses a Boolean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Build a decision table first</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218883"/>
                <a:gridCol w="2218883"/>
                <a:gridCol w="2218883"/>
                <a:gridCol w="2218883"/>
                <a:gridCol w="2218883"/>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International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 ≥ 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Not international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total = 50;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international = 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freeShipping = total &gt;= 50 &amp;&amp; !international;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Console.WriteLine(freeShipping);</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international =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Console.WriteLine(total &gt;= 50 &amp;&amp; !international);</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free shipping, total ≥ 50 is true and international is true. What is the result?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True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False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rule cannot decide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Short-circuit evaluation follows left to right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AND stops when the left side is false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OR stops when the left side is true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guard can prevent an unsafe later operation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Guard the unsafe operation on the right</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missing-input check must precede a property access.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Short-circuit AND can skip an unsafe right operand.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49, 50 and 51, each with international true and false. A plausible expression needs tests that distinguish its connector and boundary.</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Can every nested decision be replaced by one compound condition without considering branch behavior?</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after checking that the decisions and actions remain equivalent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Never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Decide Free Shipping</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free-shipping expression. Predict the ordinary case, exact threshold and international exclusion before running.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49, 50 and 51, each with international true and false. A plausible expression needs tests that distinguish its connector and boundary.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Boolean: two-valued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compound condition: combined tests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short circuit: skip an unnecessary right operand</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Translate a business rule into a Boolean expression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Combine conditions with AND, OR and NOT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boundary and counterexample inputs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Conditional Selection with if and switch</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3.2 · 3.2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one-way, two-way and multiple-way selection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first-match and nested decisions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Handle unsupported switch values explicitly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delivery desk recognizes free pickup and paid shipping. An unknown service code must not accidentally receive the valid pickup charge of zero.</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branch structure expresses the policy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if selects an optional action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if/else selects one of two actions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else-if chain selects the first true condition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Ordering overlapping conditions matters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Place a narrower high-priority rule before a broader 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independent if statements can both run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Indentation helps readers; braces define the block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recognized and unsupported services</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Service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Selected path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Report charge?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Pickup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Yes: free pickup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Shipping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Yes: 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Default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unknown service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Default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unknown service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service = "X";</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charge;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switch (service)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case "P": charge = 0; break;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case "S": charge = 8; break;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default: Console.WriteLine("Unknown service"); return;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Console.WriteLine($"Charge: {charge}");</a:t>
            </a:r>
            <a:endParaRPr lang="en-US" sz="1800" dirty="0"/>
          </a:p>
        </p:txBody>
      </p:sp>
      <p:sp>
        <p:nvSpPr>
          <p:cNvPr id="4" name="Text 2"/>
          <p:cNvSpPr txBox="1"/>
          <p:nvPr/>
        </p:nvSpPr>
        <p:spPr>
          <a:xfrm>
            <a:off x="548640" y="4594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Unknown service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 an else-if chain, a score satisfies both score ≥ 60 and score ≥ 90. Which branch runs?</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Both</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first true branch</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last true branch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switch selects a discrete case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explicit recognized codes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break leaves the switch, then later statements continue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default must implement the unsupported-input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Equivalent decisions need equivalent actions</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if statements and one else-if chain do not promise the same behavior.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combined condition must preserve the original meaning and safe evaluation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every named case, an unsupported value, and each tier just below, at and above its cutoff. A successful recognized case does not verify the default path.</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break inside a switch do?</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Ends the entire program</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Leaves the switch and continues afterward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Automatically marks the input invalid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Explain an Invalid Code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Repair the existing invalid-service exercise so P remains free pickup and X produces Unknown service without a charge report.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every named case, an unsupported value, and each tier just below, at and above its cutoff. A successful recognized case does not verify the default path.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Branch: selected action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first match: one selected tier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default: unsupported-case policy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one-way, two-way and multiple-way selection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first-match and nested decisions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Handle unsupported switch values explicitly</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Decisions</dc:title>
  <dc:subject>PptxGenJS Presentation</dc:subject>
  <dc:creator>ThinkPress</dc:creator>
  <cp:lastModifiedBy>ThinkPress</cp:lastModifiedBy>
  <cp:revision>1</cp:revision>
  <dcterms:created xsi:type="dcterms:W3CDTF">2026-10-21T20:22:31Z</dcterms:created>
  <dcterms:modified xsi:type="dcterms:W3CDTF">2026-10-21T20:22:31Z</dcterms:modified>
</cp:coreProperties>
</file>