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Lst>
  <p:notesMasterIdLst>
    <p:notesMasterId r:id="rId6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notesMaster" Target="notesMasters/notesMaster1.xml"/><Relationship Id="rId64" Type="http://schemas.openxmlformats.org/officeDocument/2006/relationships/presProps" Target="presProps.xml"/><Relationship Id="rId65" Type="http://schemas.openxmlformats.org/officeDocument/2006/relationships/viewProps" Target="viewProps.xml"/><Relationship Id="rId66" Type="http://schemas.openxmlformats.org/officeDocument/2006/relationships/theme" Target="theme/theme1.xml"/><Relationship Id="rId6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17.1: Tree Structure and Recursive Models, starts on slide 2.
Part 17.2: Tree Traversal, Returned Values, and Costs, starts on slide 17.
Part 17.3: Binary Search Trees, starts on slide 32.
Part 17.4: Tree Queries and Verification, starts on slide 47.
Core reading parts share the chapter's existing three-meeting allocation, totaling 110 minutes. They are not separate fifty-minute meetings. Optional/reference parts add no required meeting. Speaker-note answers belong to the instructor output; publish student HTML with those notes stripped.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15 minutes of selected explanation, prediction, code runs, and practice. Reading parts are not extra meetings; this chapter remains a three-meeting, 110-minute unit. A department hierarchy stores one local budget per node. The total must include each node exactly once, regardless of whether keys happen to be ordered.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A null subtree contributes the operation's base answer. Recursive calls must move into smaller subtrees, and a returned summary combines their results.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 department hierarchy stores one local budget per node. The total must include each node exactly once, regardless of whether keys happen to be ordered.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binary tree has at most two children per node. Its recursive structure consists of a root plus left and right subtrees; a BST adds a separate ordering invariant.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null subtree contributes the operation's base answer. Recursive calls must move into smaller subtrees, and a returned summary combines their results.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5. Connect each observation to the contract: A null subtree contributes the operation's base answer. Recursive calls must move into smaller subtrees, and a returned summary combines their results.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Subtree: Count returned. Null: 0. Leaf 1: 1. Leaf 6: 1. Node 3 with leaves 1,6: 3. Root 8 with subtree 3 and leaf 10: 5.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B. Child subtrees are structurally smaller in an acyclic tree, and null supplies the base case.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Tree concept: Additional rule. General tree: A hierarchy may have many children. Binary tree: At most two children. Binary search tree: All descendants obey key ordering. Leaf: No children. A null subtree contributes the operation's base answer. Recursive calls must move into smaller subtrees, and a returned summary combines their results.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Counting only non-null child references misses the current node. Returning one plus both child counts states the node-count contract directly.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B. A one-child node is not a leaf. Key order is unrelated to the leaf definition.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No. Node count depends on structure, not the numeric labels or a BST ordering rule.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Return zero for null; return one when both children are null; otherwise add the two recursive leaf counts. A one-child parent is not itself an extra leaf. Watch for this defect: Counting only non-null child references misses the current node. Returning one plus both child counts states the node-count contract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Use empty, singleton, one-sided, and branching trees. Explain which value flows down and which summary returns to the caller.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null subtree contributes the operation's base answer. Recursive calls must move into smaller subtrees, and a returned summary combines their results.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20 minutes of selected explanation, prediction, code runs, and practice. Reading parts are not extra meetings; this chapter remains a three-meeting, 110-minute unit. A hierarchy report prints each department's depth. Depth travels from parent to child; a total or height returns from children to parent.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Preorder visits node-left-right; inorder visits left-node-right; postorder visits left-right-node. An uncached height computation visits all nodes even in a shallow tree.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 hierarchy report prints each department's depth. Depth travels from parent to child; a total or height returns from children to parent.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Visiting a node and returning a summary are different events. The placement of the visit around child calls defines traversal order.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Preorder visits node-left-right; inorder visits left-node-right; postorder visits left-right-node. An uncached height computation visits all nodes even in a shallow tree.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8:0 3:1 1:2 6:2 10:1. Connect each observation to the contract: Preorder visits node-left-right; inorder visits left-node-right; postorder visits left-right-node. An uncached height computation visits all nodes even in a shallow tree.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Node: Depth passed down: Preorder position. 8: 0: 1. 3: 1: 2. 1: 2: 3. 6: 2: 4. 10: 1: 5.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A. Each node is printed before either child call. The parameter carries depth down the call tree.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Quantity: Source of cost. Path lookup: One root-to-leaf path: height. Full traversal: Every visited node: n. Recursive auxiliary stack: Active call path: height. Level-order queue: Pending breadth: tree width. Preorder visits node-left-right; inorder visits left-node-right; postorder visits left-right-node. An uncached height computation visits all nodes even in a shallow tree.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Calling a full height traversal O(log n) because the tree has logarithmic height confuses active stack depth with the number of visited nodes.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B. It must inspect both child subtrees. A balanced shape limits stack depth but does not remove nodes from the computation.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Postorder: children are processed before the parent. The same shape gives a different report order because the observation point moved.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Pass depth + 1 to both children after printing the current node. The sample prints 8:0, 3:1, 1:2, 6:2, 10:1; null produces no line. Watch for this defect: Calling a full height traversal O(log n) because the tree has logarithmic height confuses active stack depth with the number of visited nodes.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Trace all three visit orders on one tree. Check empty and one-sided cases; count active frames separately from total visits.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Preorder visits node-left-right; inorder visits left-node-right; postorder visits left-right-node. An uncached height computation visits all nodes even in a shallow tree.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40 minutes of selected explanation, prediction, code runs, and practice. Reading parts are not extra meetings; this chapter remains a three-meeting, 110-minute unit. An active-ticket index must locate and close IDs. A two-child removal must preserve the successor's possible right subtree, not merely keep output sorted.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Search returns at equality, goes left for a smaller target, and right for a larger target. Updates must reattach returned subtrees and change Count once.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An active-ticket index must locate and close IDs. A two-child removal must preserve the successor's possible right subtree, not merely keep output sorted.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BST invariant applies to every descendant: all keys in a left subtree are smaller and all in a right subtree are larger under the unique-key policy.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returns at equality, goes left for a smaller target, and right for a larger target. Updates must reattach returned subtrees and change Count once.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True; False. Connect each observation to the contract: Search returns at equality, goes left for a smaller target, and right for a larger target. Updates must reattach returned subtrees and change Count once.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Search target seven: Comparison: Next subtree. At 8: 7 &lt; 8: Left. At 3: 7 &gt; 3: Right. At 6: 7 &gt; 6: Right. At 7: Equal: Found.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B. Every node in that left subtree must be below eight. Validation must carry inherited bounds.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Deletion case: Replacement. Leaf: Null subtree. One child: That child subtree. Two children: Successor key plus repaired right subtree. Missing key: Unchanged state and failure signal. Search returns at equality, goes left for a smaller target, and right for a larger target. Updates must reattach returned subtrees and change Count once.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inorder successor has no left child but may have a right child. Returning that child preserves keys when removing the successor's old location.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B. Inserting into an empty tree or removing the root changes the entry reference. Ignoring it can lose the update.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The tree can become a one-sided chain, so height and worst-case search approach n. A simple BST does not promise balanced height.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Compare target and current key. Return on equality; otherwise replace the current reference with the selected child. Return false when it becomes null. Watch for this defect: The inorder successor has no left child but may have a right child. Returning that child preserves keys when removing the successor's old location.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Test duplicates, absent keys, all deletion cases, integer extremes, emptying, and reuse. Compare expected membership and Count as well as sorted order.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Search returns at equality, goes left for a smaller target, and right for a larger target. Updates must reattach returned subtrees and change Count once.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part supports the existing chapter plan: 35 minutes of selected explanation, prediction, code runs, and practice. Reading parts are not extra meetings; this chapter remains a three-meeting, 110-minute unit. A service report lists active IDs in an inclusive interval. It should keep sorted order and avoid subtrees whose keys cannot satisfy that interval. Begin by asking what an acceptable result must look like.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part, students should demonstrate these actions rather than recite API names. For inclusive bounds, include an equal endpoint but do not visit the excluded side. A floor query keeps the greatest eligible candidate while descending one path. Reuse the business case to connect each goal to an observable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name the input, required result, and a failure that the customer would notice. A service report lists active IDs in an inclusive interval. It should keep sorted order and avoid subtrees whose keys cannot satisfy that interval. Resolve that requirement before choosing an implementation.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Pruning is a proof about the invariant, not a guess about likely data. A query contract specifies endpoints, ordering, and the meaning of reversed bounds. Use the running case to separate the data, the operation, and the rule it must preserve. Ask for one concrete observation before moving to the contract.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inclusive bounds, include an equal endpoint but do not visit the excluded side. A floor query keeps the greatest eligible candidate while descending one path. Ask which input is accepted and which observation would expose a violation. Keep the stated domain in view during the worked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this complete cell independently; it needs no earlier slide state. The predicted output is 30,40,50,60. Connect each observation to the contract: For inclusive bounds, include an equal endpoint but do not visit the excluded side. A floor query keeps the greatest eligible candidate while descending one path. If local tooling fails, use the saved output and continue the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rows before executing another example. At node forty for range thirty..sixty: Action. Left subtree may contain thirty: Visit left. Forty is in range: Emit forty. Right subtree may contain fifty, sixty: Visit right. At sixty: Include sixty; prune larger right keys. Ask students which state is logical and which belongs to the representation.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Allow thirty seconds for individual predictions, then compare reasons. Answer: A. Every left key is smaller and therefore excluded; the current node is included and right keys may still qualify. Use the trace to distinguish the relevant alternatives.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Query: Expected result / storage. Inclusive range: Sorted matching IDs. Floor: Greatest key at most target, or failure. Level order: Queue of pending nodes. SameShape: Compare structure, ignoring key equality. For inclusive bounds, include an equal endpoint but do not visit the excluded side. A floor query keeps the greatest eligible candidate while descending one path. Ask which difference changes the client result or workload rather than merely its notation.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checking sorted inorder output can miss lost keys. Use a reference set and compare operation results, Count, full membership, and ancestor bounds. Ask for an input that would distinguish the defective version from the intended contract. Do not accept compilation alone as evidence.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 again after the contrasting case. Answer: B. Shape compares null/non-null structure recursively, not the stored key values or BST order. Have a student explain the rejected alternative in terms of an observable consequence.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Pause for a prediction before changing the input or model. Answer: Failure. Do not treat the default output zero as an eligible key; interpret the success signal separately. This is a variation of the same contract, not a new required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named existing lesson exercise; keep its current identifier and starter. Give pairs two to three minutes, then inspect one prediction and one repair. Answer: If either node is null, return whether both are null. Otherwise compare left shapes and right shapes. Do not compare keys; the sample results are true, false, true. Watch for this defect: Only checking sorted inorder output can miss lost keys. Use a reference set and compare operation results, Count, full membership, and ancestor bounds.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independently predicted results. Use inclusive endpoints, reversed bounds, empty trees, a missing floor, equal-shape/different-key trees, and a model check after every mutation. Require a short account of why these cases detect a plausible defect; tests should not simply repeat the implementation's own decisions.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inclusive bounds, include an equal endpoint but do not visit the excluded side. A floor query keeps the greatest eligible candidate while descending one path. Ask students to connect one goal to the trace and one to their exercise repair. Continue with the next reading in the existing chapter sequence; the lab and homework supply transfer beyond these selected live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P_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indent="0" marL="0">
              <a:buNone/>
              <a:defRPr lang="en-US" sz="3600" b="1" dirty="0">
                <a:solidFill>
                  <a:srgbClr val="2A6B37"/>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59636E"/>
                </a:solidFill>
                <a:latin typeface="Calibri" pitchFamily="34" charset="0"/>
                <a:ea typeface="Calibri" pitchFamily="34" charset="-122"/>
                <a:cs typeface="Calibri" pitchFamily="34" charset="-120"/>
              </a:rPr>
              <a:t>Computer Science in C#  ·  Chapter 17</a:t>
            </a:r>
            <a:endParaRPr lang="en-US" sz="11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P_DARK">
    <p:bg>
      <p:bgPr>
        <a:solidFill>
          <a:srgbClr val="2A6B37"/>
        </a:solidFill>
      </p:bgPr>
    </p:bg>
    <p:spTree>
      <p:nvGrpSpPr>
        <p:cNvPr id="1" name=""/>
        <p:cNvGrpSpPr/>
        <p:nvPr/>
      </p:nvGrpSpPr>
      <p:grpSpPr>
        <a:xfrm>
          <a:off x="0" y="0"/>
          <a:ext cx="0" cy="0"/>
          <a:chOff x="0" y="0"/>
          <a:chExt cx="0" cy="0"/>
        </a:xfrm>
      </p:grpSpPr>
      <p:sp>
        <p:nvSpPr>
          <p:cNvPr id="2" name="Text 0"/>
          <p:cNvSpPr/>
          <p:nvPr/>
        </p:nvSpPr>
        <p:spPr>
          <a:xfrm>
            <a:off x="548640" y="6400800"/>
            <a:ext cx="8229600" cy="320040"/>
          </a:xfrm>
          <a:prstGeom prst="rect">
            <a:avLst/>
          </a:prstGeom>
          <a:noFill/>
          <a:ln/>
        </p:spPr>
        <p:txBody>
          <a:bodyPr wrap="square" lIns="0" tIns="0" rIns="0" bIns="0" rtlCol="0" anchor="ctr"/>
          <a:lstStyle/>
          <a:p>
            <a:pPr indent="0" marL="0">
              <a:buNone/>
            </a:pPr>
            <a:r>
              <a:rPr lang="en-US" sz="1100" dirty="0">
                <a:solidFill>
                  <a:srgbClr val="DFEEE2"/>
                </a:solidFill>
                <a:latin typeface="Calibri" pitchFamily="34" charset="0"/>
                <a:ea typeface="Calibri" pitchFamily="34" charset="-122"/>
                <a:cs typeface="Calibri" pitchFamily="34" charset="-120"/>
              </a:rPr>
              <a:t>Computer Science in C#  ·  Chapter 17</a:t>
            </a:r>
            <a:endParaRPr lang="en-US" sz="11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https://cscs.thinkpress.org/chapters/17_trees/1701_tree_structure.html" TargetMode="External"/><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hyperlink" Target="https://cscs.thinkpress.org/chapters/17_trees/1702_tree_traversal.html" TargetMode="External"/><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hyperlink" Target="https://cscs.thinkpress.org/chapters/17_trees/1703_binary_search_trees.html" TargetMode="External"/><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hyperlink" Target="https://cscs.thinkpress.org/chapters/17_trees/1704_tree_lab.html" TargetMode="External"/><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800" b="1" dirty="0">
                <a:solidFill>
                  <a:srgbClr val="FFFFFF"/>
                </a:solidFill>
                <a:latin typeface="Cambria" pitchFamily="34" charset="0"/>
                <a:ea typeface="Cambria" pitchFamily="34" charset="-122"/>
                <a:cs typeface="Cambria" pitchFamily="34" charset="-120"/>
              </a:rPr>
              <a:t>Trees and Binary Search Trees</a:t>
            </a:r>
            <a:endParaRPr lang="en-US" sz="48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Chapter 17 · Computer Science in C#</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Business models, worked traces, and verified C# examples.</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Tree Structure and Recursive Models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17.1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Identify base cases and smaller subproblems.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Distinguish general, binary, and ordered trees.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Compute returned summaries recursively.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department hierarchy stores one local budget per node. The total must include each node exactly once, regardless of whether keys happen to be ordered.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binary tree has at most two children per node. Its recursive structure consists of a root plus left and right subtrees; a BST adds a separate ordering invariant.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null subtree contributes the operation's base answer. Recursive calls must move into smaller subtrees, and a returned summary combines their results.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17.1</a:t>
            </a:r>
            <a:endParaRPr lang="en-US" sz="3600" dirty="0"/>
          </a:p>
        </p:txBody>
      </p:sp>
      <p:sp>
        <p:nvSpPr>
          <p:cNvPr id="3" name="Text 1"/>
          <p:cNvSpPr txBox="1"/>
          <p:nvPr/>
        </p:nvSpPr>
        <p:spPr>
          <a:xfrm>
            <a:off x="548640" y="1280160"/>
            <a:ext cx="11094415" cy="1703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root = new Node(8, new Node(3, new Node(1), new Node(6)), new Node(10));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Console.WriteLine(Count(root));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static int Count(Node? n) =&gt; n is null ? 0 : 1 + Count(n.Left) + Count(n.Right);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record Node(int Id, Node? Left = null, Node? Right = null);</a:t>
            </a:r>
            <a:endParaRPr lang="en-US" sz="1800" dirty="0"/>
          </a:p>
        </p:txBody>
      </p:sp>
      <p:sp>
        <p:nvSpPr>
          <p:cNvPr id="4" name="Text 2"/>
          <p:cNvSpPr txBox="1"/>
          <p:nvPr/>
        </p:nvSpPr>
        <p:spPr>
          <a:xfrm>
            <a:off x="548640" y="316611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5</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Subtree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Count returned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Null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Leaf 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Leaf 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Node 3 with leaves 1,6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Root 8 with subtree 3 and leaf 10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What ensures this recursion makes progress?</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The method has a short name</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Each call receives a smaller child subtree</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The root happens to have key eight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Tree concept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Additional rule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General tree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 hierarchy may have many children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Binary tree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At most two children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Binary search tree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All descendants obey key ordering</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Leaf</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No children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Counting only non-null child references misses the current node. Returning one plus both child counts states the node-count contract directly.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Which condition recognizes a leaf?</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Left is null OR right is null</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Left is null AND right is null</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The node has the smallest key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Change keys while preserving shape. Does Count change?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the lesson's leaf-condition and returned-combination checkpoint. Trace the base and recursive cases before running.</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Use empty, singleton, one-sided, and branching trees. Explain which value flows down and which summary returns to the caller.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Identify base cases and smaller subproblems.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Distinguish general, binary, and ordered trees.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Compute returned summaries recursively.</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Tree Traversal, Returned Values, and Costs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17.2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Trace preorder, inorder, and postorder.</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Pass depth down and combine results up.</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Separate path height from full-traversal work.</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hierarchy report prints each department's depth. Depth travels from parent to child; a total or height returns from children to parent.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Visiting a node and returning a summary are different events. The placement of the visit around child calls defines traversal order.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Preorder visits node-left-right; inorder visits left-node-right; postorder visits left-right-node. An uncached height computation visits all nodes even in a shallow tree.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17.2</a:t>
            </a:r>
            <a:endParaRPr lang="en-US" sz="3600" dirty="0"/>
          </a:p>
        </p:txBody>
      </p:sp>
      <p:sp>
        <p:nvSpPr>
          <p:cNvPr id="3" name="Text 1"/>
          <p:cNvSpPr txBox="1"/>
          <p:nvPr/>
        </p:nvSpPr>
        <p:spPr>
          <a:xfrm>
            <a:off x="548640" y="1280160"/>
            <a:ext cx="11094415" cy="284607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root = new Node(8, new Node(3, new Node(1), new Node(6)), new Node(10));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Print(root, 0); Console.WriteLine();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static void Print(Node? n, int depth)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(n is null) return;</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Console.Write($"{n.Id}:{depth}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Print(n.Left, depth + 1); Print(n.Right, depth + 1);</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record Node(int Id, Node? Left = null, Node? Right = null);</a:t>
            </a:r>
            <a:endParaRPr lang="en-US" sz="1800" dirty="0"/>
          </a:p>
        </p:txBody>
      </p:sp>
      <p:sp>
        <p:nvSpPr>
          <p:cNvPr id="4" name="Text 2"/>
          <p:cNvSpPr txBox="1"/>
          <p:nvPr/>
        </p:nvSpPr>
        <p:spPr>
          <a:xfrm>
            <a:off x="548640" y="430911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8:0 3:1 1:2 6:2 10:1 </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Node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Depth passed down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Preorder position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8</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4</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10</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5</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 Which traversal fits the worked depth listing?</a:t>
            </a:r>
            <a:endParaRPr lang="en-US" sz="3600" dirty="0"/>
          </a:p>
        </p:txBody>
      </p:sp>
      <p:sp>
        <p:nvSpPr>
          <p:cNvPr id="3" name="Choice A"/>
          <p:cNvSpPr txBox="1"/>
          <p:nvPr/>
        </p:nvSpPr>
        <p:spPr>
          <a:xfrm>
            <a:off x="548640" y="1280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Preorder</a:t>
            </a:r>
            <a:endParaRPr lang="en-US" sz="2400" dirty="0"/>
          </a:p>
        </p:txBody>
      </p:sp>
      <p:sp>
        <p:nvSpPr>
          <p:cNvPr id="4" name="Choice B"/>
          <p:cNvSpPr txBox="1"/>
          <p:nvPr/>
        </p:nvSpPr>
        <p:spPr>
          <a:xfrm>
            <a:off x="548640" y="2103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Inorder</a:t>
            </a:r>
            <a:endParaRPr lang="en-US" sz="2400" dirty="0"/>
          </a:p>
        </p:txBody>
      </p:sp>
      <p:sp>
        <p:nvSpPr>
          <p:cNvPr id="5" name="Choice C"/>
          <p:cNvSpPr txBox="1"/>
          <p:nvPr/>
        </p:nvSpPr>
        <p:spPr>
          <a:xfrm>
            <a:off x="548640" y="292608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Postorder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Quantity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Source of cost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Path lookup</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One root-to-leaf path: height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Full traversal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Every visited node: 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Recursive auxiliary stack</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Active call path: height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Level-order queue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Pending breadth: tree width</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Calling a full height traversal O(log n) because the tree has logarithmic height confuses active stack depth with the number of visited nodes.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How much work does an uncached full height calculation do?</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Only one path</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Θ(n) node visits</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Constant work for every balanced tree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Move the print after both child calls. What order results?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Label Each Node with Its Depth in preorder. Keep the root at depth zero and increment on each child call.</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Trace all three visit orders on one tree. Check empty and one-sided cases; count active frames separately from total visits.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Trace preorder, inorder, and postorder.</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Pass depth down and combine results up.</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Separate path height from full-traversal work.</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Binary Search Trees</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17.3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Maintain the ancestor-wide BST invariant.</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Choose one search branch by comparison.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Preserve all keys during insertion and deletion.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An active-ticket index must locate and close IDs. A two-child removal must preserve the successor's possible right subtree, not merely keep output sorted.</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BST invariant applies to every descendant: all keys in a left subtree are smaller and all in a right subtree are larger under the unique-key policy.</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Search returns at equality, goes left for a smaller target, and right for a larger target. Updates must reattach returned subtrees and change Count once.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17.3</a:t>
            </a:r>
            <a:endParaRPr lang="en-US" sz="3600" dirty="0"/>
          </a:p>
        </p:txBody>
      </p:sp>
      <p:sp>
        <p:nvSpPr>
          <p:cNvPr id="3" name="Text 1"/>
          <p:cNvSpPr txBox="1"/>
          <p:nvPr/>
        </p:nvSpPr>
        <p:spPr>
          <a:xfrm>
            <a:off x="548640" y="1280160"/>
            <a:ext cx="11094415" cy="31318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left = new Node(3, new Node(1), new Node(6, null, new Node(7)));</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root = new Node(8, left, new Node(10));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Console.WriteLine(Contains(root, 7)); Console.WriteLine(Contains(root, 2));</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static bool Contains(Node? n, int target)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while (n is not null) { if (target == n.Id) return true;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n = target &lt; n.Id ? n.Left : n.Right;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return false;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record Node(int Id, Node? Left = null, Node? Right = null);</a:t>
            </a:r>
            <a:endParaRPr lang="en-US" sz="1800" dirty="0"/>
          </a:p>
        </p:txBody>
      </p:sp>
      <p:sp>
        <p:nvSpPr>
          <p:cNvPr id="4" name="Text 2"/>
          <p:cNvSpPr txBox="1"/>
          <p:nvPr/>
        </p:nvSpPr>
        <p:spPr>
          <a:xfrm>
            <a:off x="548640" y="4594860"/>
            <a:ext cx="11094415" cy="84582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True</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False</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3698138"/>
                <a:gridCol w="3698138"/>
                <a:gridCol w="369813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Search target seven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Comparison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Next subtree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At 8</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7 &lt; 8</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Left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At 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7 &gt; 3</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Right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At 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7 &gt; 6</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Right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At 7</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Equal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Found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node nine is inside root eight's left subtree. Can direct-child checks prove validity?</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Yes, if nine exceeds its immediate parent</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No; the ancestor bound still applies</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Yes, if inorder visits it last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Deletion case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Replacement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Leaf</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Null subtree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One child</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That child subtree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Two children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Successor key plus repaired right subtree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Missing key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Unchanged state and failure signal</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inorder successor has no left child but may have a right child. Returning that child preserves keys when removing the successor's old location.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What must the public wrapper do with a returned root?</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Ignore it</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Assign it back to the root field</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Always create an empty tree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Insert increasing IDs into an unbalanced BST. What happens to path costs?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the lesson's Contains loop. Return true for seven and false for two, without scanning both branches.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Test duplicates, absent keys, all deletion cases, integer extremes, emptying, and reuse. Compare expected membership and Count as well as sorted order.</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Maintain the ancestor-wide BST invariant.</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Choose one search branch by comparison.</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Preserve all keys during insertion and deletion.</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548640" y="2011680"/>
            <a:ext cx="11094415" cy="1280160"/>
          </a:xfrm>
          <a:prstGeom prst="rect">
            <a:avLst/>
          </a:prstGeom>
          <a:noFill/>
          <a:ln/>
        </p:spPr>
        <p:txBody>
          <a:bodyPr wrap="square" lIns="0" tIns="0" rIns="0" bIns="0" rtlCol="0" anchor="b"/>
          <a:lstStyle/>
          <a:p>
            <a:pPr indent="0" marL="0">
              <a:buNone/>
            </a:pPr>
            <a:r>
              <a:rPr lang="en-US" sz="4400" b="1" dirty="0">
                <a:solidFill>
                  <a:srgbClr val="FFFFFF"/>
                </a:solidFill>
                <a:latin typeface="Cambria" pitchFamily="34" charset="0"/>
                <a:ea typeface="Cambria" pitchFamily="34" charset="-122"/>
                <a:cs typeface="Cambria" pitchFamily="34" charset="-120"/>
              </a:rPr>
              <a:t>Tree Queries and Verification</a:t>
            </a:r>
            <a:endParaRPr lang="en-US" sz="4400" dirty="0"/>
          </a:p>
        </p:txBody>
      </p:sp>
      <p:sp>
        <p:nvSpPr>
          <p:cNvPr id="3" name="Text 1"/>
          <p:cNvSpPr txBox="1"/>
          <p:nvPr/>
        </p:nvSpPr>
        <p:spPr>
          <a:xfrm>
            <a:off x="548640" y="3429000"/>
            <a:ext cx="11094415" cy="1463040"/>
          </a:xfrm>
          <a:prstGeom prst="rect">
            <a:avLst/>
          </a:prstGeom>
          <a:noFill/>
          <a:ln/>
        </p:spPr>
        <p:txBody>
          <a:bodyPr wrap="square" lIns="0" tIns="0" rIns="0" bIns="0" rtlCol="0" anchor="t"/>
          <a:lstStyle/>
          <a:p>
            <a:pPr indent="0" marL="0">
              <a:buNone/>
            </a:pPr>
            <a:r>
              <a:rPr lang="en-US" sz="2400" dirty="0">
                <a:solidFill>
                  <a:srgbClr val="DFEEE2"/>
                </a:solidFill>
                <a:latin typeface="Calibri" pitchFamily="34" charset="0"/>
                <a:ea typeface="Calibri" pitchFamily="34" charset="-122"/>
                <a:cs typeface="Calibri" pitchFamily="34" charset="-120"/>
              </a:rPr>
              <a:t>Part 17.4 · Core reading</a:t>
            </a:r>
            <a:endParaRPr lang="en-US" sz="2400" dirty="0"/>
          </a:p>
          <a:p>
            <a:pPr indent="0" marL="0">
              <a:buNone/>
            </a:pPr>
            <a:r>
              <a:rPr lang="en-US" sz="2400" dirty="0">
                <a:solidFill>
                  <a:srgbClr val="DFEEE2"/>
                </a:solidFill>
                <a:latin typeface="Calibri" pitchFamily="34" charset="0"/>
                <a:ea typeface="Calibri" pitchFamily="34" charset="-122"/>
                <a:cs typeface="Calibri" pitchFamily="34" charset="-120"/>
              </a:rPr>
              <a:t>Computer Science in C#</a:t>
            </a:r>
            <a:endParaRPr lang="en-US" sz="2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Goals for this reading</a:t>
            </a:r>
            <a:endParaRPr lang="en-US" sz="3600"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Prune only after proving exclusion.</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Return useful range and floor results.</a:t>
            </a:r>
            <a:endParaRPr lang="en-US" sz="2400" dirty="0"/>
          </a:p>
          <a:p>
            <a:pPr marL="254000" indent="-254000">
              <a:spcAft>
                <a:spcPts val="800"/>
              </a:spcAft>
              <a:buSzPct val="100000"/>
              <a:buChar char="•"/>
            </a:pPr>
            <a:r>
              <a:rPr lang="en-US" sz="2400" dirty="0">
                <a:solidFill>
                  <a:srgbClr val="1F2328"/>
                </a:solidFill>
                <a:latin typeface="Calibri" pitchFamily="34" charset="0"/>
                <a:ea typeface="Calibri" pitchFamily="34" charset="-122"/>
                <a:cs typeface="Calibri" pitchFamily="34" charset="-120"/>
              </a:rPr>
              <a:t>Verify updates against an independent set model.</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Start with the business question</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service report lists active IDs in an inclusive interval. It should keep sorted order and avoid subtrees whose keys cannot satisfy that interval.</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Name the model</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Pruning is a proof about the invariant, not a guess about likely data. A query contract specifies endpoints, ordering, and the meaning of reversed bounds.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State the contract</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For inclusive bounds, include an equal endpoint but do not visit the excluded side. A floor query keeps the greatest eligible candidate while descending one path.</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Worked example 17.4</a:t>
            </a:r>
            <a:endParaRPr lang="en-US" sz="3600" dirty="0"/>
          </a:p>
        </p:txBody>
      </p:sp>
      <p:sp>
        <p:nvSpPr>
          <p:cNvPr id="3" name="Text 1"/>
          <p:cNvSpPr txBox="1"/>
          <p:nvPr/>
        </p:nvSpPr>
        <p:spPr>
          <a:xfrm>
            <a:off x="548640" y="1280160"/>
            <a:ext cx="11094415" cy="3703320"/>
          </a:xfrm>
          <a:prstGeom prst="rect">
            <a:avLst/>
          </a:prstGeom>
          <a:solidFill>
            <a:srgbClr val="F6F8FA"/>
          </a:solidFill>
          <a:ln w="9525">
            <a:solidFill>
              <a:srgbClr val="E1E4E8"/>
            </a:solidFill>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using System; using System.Collections.Generic;</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left = new Node(20, null, new Node(30));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right = new Node(60, new Node(50), new Node(70));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var root = new Node(40, left, right);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Console.WriteLine(string.Join(",", Range(root, 30, 60)));</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static IEnumerable&lt;int&gt; Range(Node? n, int low, int high) {</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(n is null || low &gt; high) yield break;</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(n.Id &gt; low) foreach (int x in Range(n.Left, low, high)) yield return x;</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(n.Id &gt;= low &amp;&amp; n.Id &lt;= high) yield return n.Id;</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    if (n.Id &lt; high) foreach (int x in Range(n.Right, low, high)) yield return x;</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a:t>
            </a:r>
            <a:endParaRPr lang="en-US" sz="1800" dirty="0"/>
          </a:p>
          <a:p>
            <a:pPr indent="0" marL="0">
              <a:buNone/>
            </a:pPr>
            <a:r>
              <a:rPr lang="en-US" sz="1800" dirty="0">
                <a:solidFill>
                  <a:srgbClr val="1F2328"/>
                </a:solidFill>
                <a:latin typeface="Consolas" pitchFamily="34" charset="0"/>
                <a:ea typeface="Consolas" pitchFamily="34" charset="-122"/>
                <a:cs typeface="Consolas" pitchFamily="34" charset="-120"/>
              </a:rPr>
              <a:t>record Node(int Id, Node? Left = null, Node? Right = null);</a:t>
            </a:r>
            <a:endParaRPr lang="en-US" sz="1800" dirty="0"/>
          </a:p>
        </p:txBody>
      </p:sp>
      <p:sp>
        <p:nvSpPr>
          <p:cNvPr id="4" name="Text 2"/>
          <p:cNvSpPr txBox="1"/>
          <p:nvPr/>
        </p:nvSpPr>
        <p:spPr>
          <a:xfrm>
            <a:off x="548640" y="5166360"/>
            <a:ext cx="11094415" cy="560070"/>
          </a:xfrm>
          <a:prstGeom prst="rect">
            <a:avLst/>
          </a:prstGeom>
          <a:solidFill>
            <a:srgbClr val="FFFFFF"/>
          </a:solidFill>
          <a:ln w="19050">
            <a:solidFill>
              <a:srgbClr val="C9D1D9"/>
            </a:solidFill>
            <a:prstDash val="dash"/>
          </a:ln>
        </p:spPr>
        <p:txBody>
          <a:bodyPr wrap="square" lIns="101600" tIns="152400" rIns="152400" bIns="101600" rtlCol="0" anchor="t"/>
          <a:lstStyle/>
          <a:p>
            <a:pPr indent="0" marL="0">
              <a:buNone/>
            </a:pPr>
            <a:r>
              <a:rPr lang="en-US" sz="1800" dirty="0">
                <a:solidFill>
                  <a:srgbClr val="1F2328"/>
                </a:solidFill>
                <a:latin typeface="Consolas" pitchFamily="34" charset="0"/>
                <a:ea typeface="Consolas" pitchFamily="34" charset="-122"/>
                <a:cs typeface="Consolas" pitchFamily="34" charset="-120"/>
              </a:rPr>
              <a:t>30,40,50,60</a:t>
            </a:r>
            <a:endParaRPr lang="en-US" sz="18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Trace one change at a time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At node forty for range thirty..sixty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Action</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Left subtree may contain thirty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Visit left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Forty is in range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Emit forty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Right subtree may contain fifty, sixty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Visit right</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At sixty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Include sixty; prune larger right keys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The current key equals the lower bound. Which side can be skipped?</a:t>
            </a:r>
            <a:endParaRPr lang="en-US" sz="2400" dirty="0"/>
          </a:p>
        </p:txBody>
      </p:sp>
      <p:sp>
        <p:nvSpPr>
          <p:cNvPr id="4" name="Choice A"/>
          <p:cNvSpPr txBox="1"/>
          <p:nvPr/>
        </p:nvSpPr>
        <p:spPr>
          <a:xfrm>
            <a:off x="548640" y="1981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Left, under strict unique-key BST order</a:t>
            </a:r>
            <a:endParaRPr lang="en-US" sz="2400" dirty="0"/>
          </a:p>
        </p:txBody>
      </p:sp>
      <p:sp>
        <p:nvSpPr>
          <p:cNvPr id="5" name="Choice B"/>
          <p:cNvSpPr txBox="1"/>
          <p:nvPr/>
        </p:nvSpPr>
        <p:spPr>
          <a:xfrm>
            <a:off x="548640" y="2804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Both children always</a:t>
            </a:r>
            <a:endParaRPr lang="en-US" sz="2400" dirty="0"/>
          </a:p>
        </p:txBody>
      </p:sp>
      <p:sp>
        <p:nvSpPr>
          <p:cNvPr id="6" name="Choice C"/>
          <p:cNvSpPr txBox="1"/>
          <p:nvPr/>
        </p:nvSpPr>
        <p:spPr>
          <a:xfrm>
            <a:off x="548640" y="3627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Right, even when it contains valid larger keys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Compare the choices</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548640" y="1280160"/>
          <a:ext cx="11094415" cy="914400"/>
        </p:xfrm>
        <a:graphic>
          <a:graphicData uri="http://schemas.openxmlformats.org/drawingml/2006/table">
            <a:tbl>
              <a:tblPr/>
              <a:tblGrid>
                <a:gridCol w="5547208"/>
                <a:gridCol w="5547208"/>
              </a:tblGrid>
              <a:tr h="411480">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Query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c>
                  <a:txBody>
                    <a:bodyPr/>
                    <a:lstStyle/>
                    <a:p>
                      <a:pPr indent="0" marL="0">
                        <a:buNone/>
                      </a:pPr>
                      <a:r>
                        <a:rPr lang="en-US" sz="1800" b="1" dirty="0">
                          <a:solidFill>
                            <a:srgbClr val="FFFFFF"/>
                          </a:solidFill>
                          <a:latin typeface="Calibri" pitchFamily="34" charset="0"/>
                          <a:ea typeface="Calibri" pitchFamily="34" charset="-122"/>
                          <a:cs typeface="Calibri" pitchFamily="34" charset="-120"/>
                        </a:rPr>
                        <a:t>Expected result / storage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2A6B37"/>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Inclusive range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Sorted matching IDs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Floor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Greatest key at most target, or failure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Level order</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Queue of pending nodes</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FFFFF"/>
                    </a:solidFill>
                  </a:tcPr>
                </a:tc>
              </a:tr>
              <a:tr h="411480">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SameShape</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c>
                  <a:txBody>
                    <a:bodyPr/>
                    <a:lstStyle/>
                    <a:p>
                      <a:pPr indent="0" marL="0">
                        <a:buNone/>
                      </a:pPr>
                      <a:r>
                        <a:rPr lang="en-US" sz="1800" dirty="0">
                          <a:solidFill>
                            <a:srgbClr val="1F2328"/>
                          </a:solidFill>
                          <a:latin typeface="Calibri" pitchFamily="34" charset="0"/>
                          <a:ea typeface="Calibri" pitchFamily="34" charset="-122"/>
                          <a:cs typeface="Calibri" pitchFamily="34" charset="-120"/>
                        </a:rPr>
                        <a:t>Compare structure, ignoring key equality</a:t>
                      </a:r>
                      <a:endParaRPr lang="en-US" sz="1800" dirty="0">
                        <a:latin typeface="Calibri" charset="0"/>
                        <a:ea typeface="Calibri" charset="0"/>
                        <a:cs typeface="Calibri" charset="0"/>
                      </a:endParaRPr>
                    </a:p>
                  </a:txBody>
                  <a:tcPr marL="54864" marR="54864" marT="54864" marB="54864">
                    <a:lnL w="9525" cap="flat" cmpd="sng" algn="ctr">
                      <a:solidFill>
                        <a:srgbClr val="D0D7DE"/>
                      </a:solidFill>
                      <a:prstDash val="solid"/>
                      <a:round/>
                      <a:headEnd type="none" w="med" len="med"/>
                      <a:tailEnd type="none" w="med" len="med"/>
                    </a:lnL>
                    <a:lnR w="9525" cap="flat" cmpd="sng" algn="ctr">
                      <a:solidFill>
                        <a:srgbClr val="D0D7DE"/>
                      </a:solidFill>
                      <a:prstDash val="solid"/>
                      <a:round/>
                      <a:headEnd type="none" w="med" len="med"/>
                      <a:tailEnd type="none" w="med" len="med"/>
                    </a:lnR>
                    <a:lnT w="9525" cap="flat" cmpd="sng" algn="ctr">
                      <a:solidFill>
                        <a:srgbClr val="D0D7DE"/>
                      </a:solidFill>
                      <a:prstDash val="solid"/>
                      <a:round/>
                      <a:headEnd type="none" w="med" len="med"/>
                      <a:tailEnd type="none" w="med" len="med"/>
                    </a:lnT>
                    <a:lnB w="9525" cap="flat" cmpd="sng" algn="ctr">
                      <a:solidFill>
                        <a:srgbClr val="D0D7DE"/>
                      </a:solidFill>
                      <a:prstDash val="solid"/>
                      <a:round/>
                      <a:headEnd type="none" w="med" len="med"/>
                      <a:tailEnd type="none" w="med" len="med"/>
                    </a:lnB>
                    <a:solidFill>
                      <a:srgbClr val="F6F8FA"/>
                    </a:solidFill>
                  </a:tcPr>
                </a:tc>
              </a:tr>
            </a:tbl>
          </a:graphicData>
        </a:graphic>
      </p:graphicFrame>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A defect worth detecting</a:t>
            </a:r>
            <a:endParaRPr lang="en-US" sz="3600" dirty="0"/>
          </a:p>
        </p:txBody>
      </p:sp>
      <p:sp>
        <p:nvSpPr>
          <p:cNvPr id="3" name="Text 1"/>
          <p:cNvSpPr txBox="1"/>
          <p:nvPr/>
        </p:nvSpPr>
        <p:spPr>
          <a:xfrm>
            <a:off x="548640" y="1280160"/>
            <a:ext cx="11094415" cy="1371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Only checking sorted inorder output can miss lost keys. Use a reference set and compare operation results, Count, full membership, and ancestor bounds.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Quick check</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Two differently labeled trees have the same child structure. SameShape should return?</a:t>
            </a:r>
            <a:endParaRPr lang="en-US" sz="2400" dirty="0"/>
          </a:p>
        </p:txBody>
      </p:sp>
      <p:sp>
        <p:nvSpPr>
          <p:cNvPr id="4" name="Choice A"/>
          <p:cNvSpPr txBox="1"/>
          <p:nvPr/>
        </p:nvSpPr>
        <p:spPr>
          <a:xfrm>
            <a:off x="548640" y="236220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A   </a:t>
            </a:r>
            <a:pPr indent="0" marL="0">
              <a:buNone/>
            </a:pPr>
            <a:r>
              <a:rPr lang="en-US" sz="2400" dirty="0">
                <a:solidFill>
                  <a:srgbClr val="1F2328"/>
                </a:solidFill>
                <a:latin typeface="Calibri" pitchFamily="34" charset="0"/>
                <a:ea typeface="Calibri" pitchFamily="34" charset="-122"/>
                <a:cs typeface="Calibri" pitchFamily="34" charset="-120"/>
              </a:rPr>
              <a:t>False because keys differ</a:t>
            </a:r>
            <a:endParaRPr lang="en-US" sz="2400" dirty="0"/>
          </a:p>
        </p:txBody>
      </p:sp>
      <p:sp>
        <p:nvSpPr>
          <p:cNvPr id="5" name="Choice B"/>
          <p:cNvSpPr txBox="1"/>
          <p:nvPr/>
        </p:nvSpPr>
        <p:spPr>
          <a:xfrm>
            <a:off x="548640" y="318516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B   </a:t>
            </a:r>
            <a:pPr indent="0" marL="0">
              <a:buNone/>
            </a:pPr>
            <a:r>
              <a:rPr lang="en-US" sz="2400" dirty="0">
                <a:solidFill>
                  <a:srgbClr val="1F2328"/>
                </a:solidFill>
                <a:latin typeface="Calibri" pitchFamily="34" charset="0"/>
                <a:ea typeface="Calibri" pitchFamily="34" charset="-122"/>
                <a:cs typeface="Calibri" pitchFamily="34" charset="-120"/>
              </a:rPr>
              <a:t>True</a:t>
            </a:r>
            <a:endParaRPr lang="en-US" sz="2400" dirty="0"/>
          </a:p>
        </p:txBody>
      </p:sp>
      <p:sp>
        <p:nvSpPr>
          <p:cNvPr id="6" name="Choice C"/>
          <p:cNvSpPr txBox="1"/>
          <p:nvPr/>
        </p:nvSpPr>
        <p:spPr>
          <a:xfrm>
            <a:off x="548640" y="4008120"/>
            <a:ext cx="11094415" cy="640080"/>
          </a:xfrm>
          <a:prstGeom prst="roundRect">
            <a:avLst>
              <a:gd name="adj" fmla="val 14286"/>
            </a:avLst>
          </a:prstGeom>
          <a:solidFill>
            <a:srgbClr val="EEF5EF"/>
          </a:solidFill>
          <a:ln/>
        </p:spPr>
        <p:txBody>
          <a:bodyPr wrap="square" lIns="50800" tIns="177800" rIns="177800" bIns="50800" rtlCol="0" anchor="ctr"/>
          <a:lstStyle/>
          <a:p>
            <a:pPr indent="0" marL="0">
              <a:buNone/>
            </a:pPr>
            <a:r>
              <a:rPr lang="en-US" sz="2400" b="1" dirty="0">
                <a:solidFill>
                  <a:srgbClr val="B8860B"/>
                </a:solidFill>
                <a:latin typeface="Calibri" pitchFamily="34" charset="0"/>
                <a:ea typeface="Calibri" pitchFamily="34" charset="-122"/>
                <a:cs typeface="Calibri" pitchFamily="34" charset="-120"/>
              </a:rPr>
              <a:t>C   </a:t>
            </a:r>
            <a:pPr indent="0" marL="0">
              <a:buNone/>
            </a:pPr>
            <a:r>
              <a:rPr lang="en-US" sz="2400" dirty="0">
                <a:solidFill>
                  <a:srgbClr val="1F2328"/>
                </a:solidFill>
                <a:latin typeface="Calibri" pitchFamily="34" charset="0"/>
                <a:ea typeface="Calibri" pitchFamily="34" charset="-122"/>
                <a:cs typeface="Calibri" pitchFamily="34" charset="-120"/>
              </a:rPr>
              <a:t>True only for BSTs</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Change one assumption</a:t>
            </a:r>
            <a:endParaRPr lang="en-US" sz="3600" dirty="0"/>
          </a:p>
        </p:txBody>
      </p:sp>
      <p:sp>
        <p:nvSpPr>
          <p:cNvPr id="3" name="Text 1"/>
          <p:cNvSpPr txBox="1"/>
          <p:nvPr/>
        </p:nvSpPr>
        <p:spPr>
          <a:xfrm>
            <a:off x="548640" y="1280160"/>
            <a:ext cx="11094415" cy="609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A target is below every stored key. What does TryFloor report?</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Your turn</a:t>
            </a:r>
            <a:endParaRPr lang="en-US" sz="3600" dirty="0"/>
          </a:p>
        </p:txBody>
      </p:sp>
      <p:sp>
        <p:nvSpPr>
          <p:cNvPr id="3" name="Text 1"/>
          <p:cNvSpPr txBox="1"/>
          <p:nvPr/>
        </p:nvSpPr>
        <p:spPr>
          <a:xfrm>
            <a:off x="548640" y="1280160"/>
            <a:ext cx="11094415" cy="150876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Complete Same Shape in the lesson. Cover both-empty, one-empty, and recursively matching child positions.</a:t>
            </a:r>
            <a:endParaRPr lang="en-US" sz="2400" dirty="0"/>
          </a:p>
          <a:p>
            <a:pPr indent="0" marL="0">
              <a:spcAft>
                <a:spcPts val="1000"/>
              </a:spcAft>
              <a:buNone/>
            </a:pPr>
            <a:r>
              <a:rPr lang="en-US" sz="2400" u="sng" dirty="0">
                <a:solidFill>
                  <a:srgbClr val="1F2328"/>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Open the lesson exercise</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2A6B37"/>
                </a:solidFill>
                <a:latin typeface="Cambria" pitchFamily="34" charset="0"/>
                <a:ea typeface="Cambria" pitchFamily="34" charset="-122"/>
                <a:cs typeface="Cambria" pitchFamily="34" charset="-120"/>
              </a:rPr>
              <a:t>Verify more than one example</a:t>
            </a:r>
            <a:endParaRPr lang="en-US" sz="3600" dirty="0"/>
          </a:p>
        </p:txBody>
      </p:sp>
      <p:sp>
        <p:nvSpPr>
          <p:cNvPr id="3" name="Text 1"/>
          <p:cNvSpPr txBox="1"/>
          <p:nvPr/>
        </p:nvSpPr>
        <p:spPr>
          <a:xfrm>
            <a:off x="548640" y="1280160"/>
            <a:ext cx="11094415" cy="990600"/>
          </a:xfrm>
          <a:prstGeom prst="rect">
            <a:avLst/>
          </a:prstGeom>
          <a:noFill/>
          <a:ln/>
        </p:spPr>
        <p:txBody>
          <a:bodyPr wrap="square" lIns="0" tIns="0" rIns="0" bIns="0" rtlCol="0" anchor="t"/>
          <a:lstStyle/>
          <a:p>
            <a:pPr indent="0" marL="0">
              <a:spcAft>
                <a:spcPts val="1000"/>
              </a:spcAft>
              <a:buNone/>
            </a:pPr>
            <a:r>
              <a:rPr lang="en-US" sz="2400" dirty="0">
                <a:solidFill>
                  <a:srgbClr val="1F2328"/>
                </a:solidFill>
                <a:latin typeface="Calibri" pitchFamily="34" charset="0"/>
                <a:ea typeface="Calibri" pitchFamily="34" charset="-122"/>
                <a:cs typeface="Calibri" pitchFamily="34" charset="-120"/>
              </a:rPr>
              <a:t>Use inclusive endpoints, reversed bounds, empty trees, a missing floor, equal-shape/different-key trees, and a model check after every mutation.</a:t>
            </a:r>
            <a:endParaRPr lang="en-US" sz="2400" dirty="0"/>
          </a:p>
        </p:txBody>
      </p:sp>
      <p:sp>
        <p:nvSpPr>
          <p:cNvPr id="25" name="Slide Number Placeholder 0"/>
          <p:cNvSpPr>
            <a:spLocks noGrp="1"/>
          </p:cNvSpPr>
          <p:nvPr>
            <p:ph type="sldNum" sz="quarter" idx="4294967295"/>
          </p:nvPr>
        </p:nvSpPr>
        <p:spPr>
          <a:xfrm>
            <a:off x="11155680" y="6400800"/>
            <a:ext cx="548640" cy="320040"/>
          </a:xfrm>
          <a:prstGeom prst="rect">
            <a:avLst/>
          </a:prstGeom>
          <a:extLst>
            <a:ext uri="{C572A759-6A51-4108-AA02-DFA0A04FC94B}">
              <ma14:wrappingTextBoxFlag xmlns:ma14="http://schemas.microsoft.com/office/mac/drawingml/2011/main" val="0"/>
            </a:ext>
          </a:extLst>
        </p:spPr>
        <p:txBody>
          <a:bodyPr/>
          <a:lstStyle>
            <a:lvl1pPr>
              <a:defRPr sz="1100">
                <a:solidFill>
                  <a:srgbClr val="59636E"/>
                </a:solidFill>
                <a:latin typeface="Calibri"/>
                <a:ea typeface="Calibri"/>
                <a:cs typeface="Calibri"/>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0" y="0"/>
            <a:ext cx="9144000" cy="0"/>
          </a:xfrm>
          <a:prstGeom prst="rect">
            <a:avLst/>
          </a:prstGeom>
          <a:noFill/>
          <a:ln/>
        </p:spPr>
        <p:txBody>
          <a:bodyPr wrap="square" rtlCol="0"/>
          <a:lstStyle/>
          <a:p>
            <a:pPr indent="0" marL="0">
              <a:buNone/>
            </a:pPr>
            <a:r>
              <a:rPr lang="en-US" dirty="0"/>
              <a:t>Recap</a:t>
            </a:r>
            <a:endParaRPr lang="en-US" dirty="0"/>
          </a:p>
        </p:txBody>
      </p:sp>
      <p:sp>
        <p:nvSpPr>
          <p:cNvPr id="3" name="Text 1"/>
          <p:cNvSpPr txBox="1"/>
          <p:nvPr/>
        </p:nvSpPr>
        <p:spPr>
          <a:xfrm>
            <a:off x="548640" y="1280160"/>
            <a:ext cx="11094415" cy="1453896"/>
          </a:xfrm>
          <a:prstGeom prst="rect">
            <a:avLst/>
          </a:prstGeom>
          <a:noFill/>
          <a:ln/>
        </p:spPr>
        <p:txBody>
          <a:bodyPr wrap="square" lIns="0" tIns="0" rIns="0" bIns="0" rtlCol="0" anchor="t"/>
          <a:lstStyle/>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Prune only after proving exclusion.</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Return useful range and floor results.</a:t>
            </a:r>
            <a:endParaRPr lang="en-US" sz="2400" dirty="0"/>
          </a:p>
          <a:p>
            <a:pPr marL="254000" indent="-254000">
              <a:spcAft>
                <a:spcPts val="800"/>
              </a:spcAft>
              <a:buSzPct val="100000"/>
              <a:buChar char="•"/>
            </a:pPr>
            <a:r>
              <a:rPr lang="en-US" sz="2400" dirty="0">
                <a:solidFill>
                  <a:srgbClr val="FFFFFF"/>
                </a:solidFill>
                <a:latin typeface="Calibri" pitchFamily="34" charset="0"/>
                <a:ea typeface="Calibri" pitchFamily="34" charset="-122"/>
                <a:cs typeface="Calibri" pitchFamily="34" charset="-120"/>
              </a:rPr>
              <a:t>Verify updates against an independent set model.</a:t>
            </a:r>
            <a:endParaRPr lang="en-US" sz="2400" dirty="0"/>
          </a:p>
        </p:txBody>
      </p:sp>
      <p:sp>
        <p:nvSpPr>
          <p:cNvPr id="4" name="Text 2"/>
          <p:cNvSpPr txBox="1"/>
          <p:nvPr/>
        </p:nvSpPr>
        <p:spPr>
          <a:xfrm>
            <a:off x="548640" y="320040"/>
            <a:ext cx="11094415" cy="77724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61</Slides>
  <Notes>61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61</vt:i4>
      </vt:variant>
    </vt:vector>
  </HeadingPairs>
  <TitlesOfParts>
    <vt:vector size="6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Trees and Binary Search Trees</dc:title>
  <dc:subject>PptxGenJS Presentation</dc:subject>
  <dc:creator>ThinkPress</dc:creator>
  <cp:lastModifiedBy>ThinkPress</cp:lastModifiedBy>
  <cp:revision>1</cp:revision>
  <dcterms:created xsi:type="dcterms:W3CDTF">2026-10-21T20:22:46Z</dcterms:created>
  <dcterms:modified xsi:type="dcterms:W3CDTF">2026-10-21T20:22:46Z</dcterms:modified>
</cp:coreProperties>
</file>