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13.1: ADT Contracts, starts on slide 2.
Part 13.2: Representations and Costs, starts on slide 17.
Part 13.3: Generics for Reusable ADTs, starts on slide 32.
Part 13.4: Iterators, starts on slide 47.
Core reading parts share the chapter's existing three-meeting allocation, totaling 110 minutes. They are not separate fifty-minute meetings. Optional/reference parts add no required meeting. Speaker-note answers belong to the instructor output; publish student HTML with those notes stripped.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20 minutes of selected explanation, prediction, code runs, and practice. Reading parts are not extra meetings; this chapter remains a three-meeting, 110-minute unit. A text editor stores accepted edits and undoes the latest one. Its client cares about returned edits and Count, not whether storage is an array or linked chain.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Histories expose the contract: after Push(A), Push(B), a successful Pop returns B. A failed empty removal must preserve state.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A text editor stores accepted edits and undoes the latest one. Its client cares about returned edits and Count, not whether storage is an array or linked chain.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abstract data type specifies values and operations. An interface can name those operations while an implementation supplies representation and algorithms.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Histories expose the contract: after Push(A), Push(B), a successful Pop returns B. A failed empty removal must preserve state.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Move; 1. Connect each observation to the contract: Histories expose the contract: after Push(A), Push(B), a successful Pop returns B. A failed empty removal must preserve state.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Operation: Returned value: Count. Push Rename: None: 1. Push Move: None: 2. Pop: Move: 1. Pop: Rename: 0.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B. Representation details may explain costs but do not replace the promised behavior that a client relies on.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What it states. Contract: Accepted operations, results, failures. Representation: Stored fields and links. Implementation: Code preserving the representation invariant. Histories expose the contract: after Push(A), Push(B), a successful Pop returns B. A failed empty removal must preserve state.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queue-like implementation can keep Count correct and still violate a stack contract by returning the oldest edit. State-only tests miss result-order defects.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A. Representation independence permits different private storage while preserving client expectations.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Zero. Failure must not fabricate an edit or change state; the returned success flag is part of the contract.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The first Pop after Push(A), Push(B) must return B. Returning A is the first observable divergence even though Count becomes one in both implementations. Watch for this defect: A queue-like implementation can keep Count correct and still violate a stack contract by returning the oldest edit. State-only tests miss result-order defects.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Test returned values, success/failure, and Count after every operation. Include zero or an empty string as real stored data rather than treating a default value as failure.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Histories expose the contract: after Push(A), Push(B), a successful Pop returns B. A failed empty removal must preserve state.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15 minutes of selected explanation, prediction, code runs, and practice. Reading parts are not extra meetings; this chapter remains a three-meeting, 110-minute unit. A report list grows over many appends. Most appends write one value, but a resize copies existing values; both behaviors belong to the workload cost.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Amortized cost describes an operation sequence. It does not promise that each operation is cheap or average over random input.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A report list grows over many appends. Most appends write one value, but a resize copies existing values; both behaviors belong to the workload cost.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work before naming a growth class. Big-O bounds growth under an input size and cost model; it is not a stopwatch reading.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Amortized cost describes an operation sequence. It does not promise that each operation is cheap or average over random input.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count=8, capacity=8, copied=7. Connect each observation to the contract: Amortized cost describes an operation sequence. It does not promise that each operation is cheap or average over random input.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Before append: Capacity: Existing entries copied. First value: 1: 0. Second value: 2: 1. Third value: 4: 2. Fifth value: 8: 4.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B. Occasional linear copies can be spread over geometrically many appends. The individual operation still has a linear worst case.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class: Representative work. O(1): One indexed read. O(n): One full scan. O(log n): Repeatedly halve candidates. O(n²): A full nested pair scan. Amortized cost describes an operation sequence. It does not promise that each operation is cheap or average over random input.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Calling an append API once hides the copying it triggers. The useful primitive may be element copies, comparisons, or reference updates, not API-call count.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B. Distinguish additional working storage from the storage occupied by the source itself.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Copy 2, then 4, then 8: fourteen copies. There are also nine new-entry writes, which should be reported separately.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Count logical entries, not all possible future slots. The push crossing capacity triggers allocation and copying; a later non-growing push only writes its new entry. Watch for this defect: Calling an append API once hides the copying it triggers. The useful primitive may be element copies, comparisons, or reference updates, not API-call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Check zero, one, capacity-boundary, and just-after-boundary sizes. State the case and primitive whenever comparing two bounds.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Amortized cost describes an operation sequence. It does not promise that each operation is cheap or average over random input.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40 minutes of selected explanation, prediction, code runs, and practice. Reading parts are not extra meetings; this chapter remains a three-meeting, 110-minute unit. A count rule should work for integer IDs and decimal totals. The caller supplies the element type and the test rather than erasing all values to object.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Unconstrained T can be stored and returned. Ordering requires a suitable constraint or supplied comparer; equality and ordering are different business policies.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A count rule should work for integer IDs and decimal totals. The caller supplies the element type and the test rather than erasing all values to object.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Generics preserve a relationship between input and output types. A constraint promises a capability; a delegate passes an operation that may vary per call.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Unconstrained T can be stored and returned. Ordering requires a suitable constraint or supplied comparer; equality and ordering are different business policies.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2; 2. Connect each observation to the contract: Unconstrained T can be stored and returned. Ordering requires a suitable constraint or supplied comparer; equality and ordering are different business policies.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Input: Supplied rule: Result. 2, 7, 10: At least seven: 2. 2, 7, 10: Even: 2. Empty source: Any rule: 0. Same values: New rule: No generic algorithm rewrite.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B. No comparison occurs. Adding an ordering constraint would reject useful element types without helping the operation.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Policy: Business meaning. Ordering comparer: Which report key comes first?. Equality comparer: Do these identifiers match?. Func&lt;T,bool&gt;: Should this element be counted?. Unconstrained T can be stored and returned. Ordering requires a suitable constraint or supplied comparer; equality and ordering are different business policies.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Converting everything to text can change numeric order and lose domain meaning. Preserve types and state the required capability instead.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B. Homogeneous storage constrains types; the application still decides which fields define a key or ordering.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Either a constraint that guarantees the comparison capability or a supplied comparer that owns that policy.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If Length is zero, return fallback; otherwise return values[Length - 1]. No arithmetic, comparison, or conversion on T is needed. Watch for this defect: Converting everything to text can change numeric order and lose domain meaning. Preserve types and state the required capability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Use integer and string arrays, empty input, and singleton input. Check compile-time type relationships separately from runtime business validation.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Unconstrained T can be stored and returned. Ordering requires a suitable constraint or supplied comparer; equality and ordering are different business policies.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35 minutes of selected explanation, prediction, code runs, and practice. Reading parts are not extra meetings; this chapter remains a three-meeting, 110-minute unit. A report may request only the first matching item. A lazy sequence should not visit the remaining data before that request needs it.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Each enumeration has its own position. A sequence can be iterable without permitting indexing, and deferred work may see later source changes.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A report may request only the first matching item. A lazy sequence should not visit the remaining data before that request needs it.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iterator produces values as traversal requests them. Yield return suspends a frame; it does not finish the entire sequence.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enumeration has its own position. A sequence can be iterable without permitting indexing, and deferred work may see later source changes.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0; 0:1. Connect each observation to the contract: Each enumeration has its own position. A sequence can be iterable without permitting indexing, and deferred work may see later source changes.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Action: Source visits. Construct iterator: 0. Obtain enumerator: 0. First MoveNext: 1. Stop and dispose: Remaining values not visited.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B. The iterator remembers state and resumes on the next MoveNext. Materialization is a separate operation.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Abstraction: What is guaranteed. IEnumerable&lt;T&gt;: A traversal can be requested. IEnumerator&lt;T&gt;: One traversal has a current position. Array / List: Additional indexing operations. ToArray / ToList: A stored result of enumeration. Each enumeration has its own position. A sequence can be iterable without permitting indexing, and deferred work may see later source changes.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a single shared position for all loops makes nested enumerations interfere. Separate the collection from each enumerator's progress.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B. IEnumerable promises enumeration, not random access. Counting or finding an element may require traversing.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No snapshot was promised. Materialize explicitly when a report needs a stored result independent of later source membership changes.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Use a loop that yields the current positive value and then decrements it. Completing the body ends enumeration; do not yield an extra zero. Watch for this defect: Using a single shared position for all loops makes nested enumerations interfere. Separate the collection from each enumerator's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Check zero, one, several values, early stopping, and two separate enumerations. Instrument visits to distinguish constructing a sequence from consuming it.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enumeration has its own position. A sequence can be iterable without permitting indexing, and deferred work may see later source changes.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Computer Science in C#  ·  Chapter 13</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Computer Science in C#  ·  Chapter 13</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scs.thinkpress.org/chapters/13_abstract_data_types/1301_adt_contracts.html"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cscs.thinkpress.org/chapters/13_abstract_data_types/1302_representations_costs.html" TargetMode="Externa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hyperlink" Target="https://cscs.thinkpress.org/chapters/13_abstract_data_types/1303_generics.html" TargetMode="External"/><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hyperlink" Target="https://cscs.thinkpress.org/chapters/13_abstract_data_types/1304_iterators.html" TargetMode="External"/><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Abstract Data Types</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Chapter 13 · Computer Science in C#</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Business models, worked traces, and verified C# examples.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ADT Contracts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13.1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Specify behavior without choosing storage.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Read an observable operation history.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client promises from representation.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text editor stores accepted edits and undoes the latest one. Its client cares about returned edits and Count, not whether storage is an array or linked chain.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abstract data type specifies values and operations. An interface can name those operations while an implementation supplies representation and algorithms.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Histories expose the contract: after Push(A), Push(B), a successful Pop returns B. A failed empty removal must preserve state.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13.1</a:t>
            </a:r>
            <a:endParaRPr lang="en-US" sz="3600" dirty="0"/>
          </a:p>
        </p:txBody>
      </p:sp>
      <p:sp>
        <p:nvSpPr>
          <p:cNvPr id="3" name="Text 1"/>
          <p:cNvSpPr txBox="1"/>
          <p:nvPr/>
        </p:nvSpPr>
        <p:spPr>
          <a:xfrm>
            <a:off x="548640" y="1280160"/>
            <a:ext cx="11094415" cy="19888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using System.Collections.Generic;</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history = new Stack&lt;string&gt;();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history.Push("Rename"); history.Push("Move");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Console.WriteLine(history.Pop());</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Console.WriteLine(history.Count);</a:t>
            </a:r>
            <a:endParaRPr lang="en-US" sz="1800" dirty="0"/>
          </a:p>
        </p:txBody>
      </p:sp>
      <p:sp>
        <p:nvSpPr>
          <p:cNvPr id="4" name="Text 2"/>
          <p:cNvSpPr txBox="1"/>
          <p:nvPr/>
        </p:nvSpPr>
        <p:spPr>
          <a:xfrm>
            <a:off x="548640" y="345186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Move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1</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Operation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Returned value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Count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Push Rename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None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Push Move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None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Pop</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Move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Pop</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Rename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What belongs in an ADT contract?</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The private array capacity only</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Operations and their observable results</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The compiler's temporary filenames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Layer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What it states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Contract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Accepted operations, results, failures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Representation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Stored fields and links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Implementation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Code preserving the representation invariant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queue-like implementation can keep Count correct and still violate a stack contract by returning the oldest edit. State-only tests miss result-order defects.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Two implementations pass every observable history. May clients use either?</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 under the same contract</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all fields must match</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if their arrays have equal capacity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history is empty and TryPop fails. What should the next Count be?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Extend the lesson's stack history with a failed removal. Find the first row where returning A before B breaks the contract.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Test returned values, success/failure, and Count after every operation. Include zero or an empty string as real stored data rather than treating a default value as failure.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Specify behavior without choosing storage.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Read an observable operation history.</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Distinguish client promises from representation.</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Representations and Costs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13.2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input size and a primitive operation.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Read growth bounds under a stated case.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Explain amortized append and auxiliary space.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report list grows over many appends. Most appends write one value, but a resize copies existing values; both behaviors belong to the workload cost.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Count work before naming a growth class. Big-O bounds growth under an input size and cost model; it is not a stopwatch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Amortized cost describes an operation sequence. It does not promise that each operation is cheap or average over random input.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13.2</a:t>
            </a:r>
            <a:endParaRPr lang="en-US" sz="3600" dirty="0"/>
          </a:p>
        </p:txBody>
      </p:sp>
      <p:sp>
        <p:nvSpPr>
          <p:cNvPr id="3" name="Text 1"/>
          <p:cNvSpPr txBox="1"/>
          <p:nvPr/>
        </p:nvSpPr>
        <p:spPr>
          <a:xfrm>
            <a:off x="548640" y="1280160"/>
            <a:ext cx="11094415" cy="22745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count = 0, capacity = 1, copied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 (int value = 0; value &lt; 8; value++)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(count == capacity) { copied += count; capacity *= 2;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count++;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Console.WriteLine($"count={count}, capacity={capacity}, copied={copied}");</a:t>
            </a:r>
            <a:endParaRPr lang="en-US" sz="1800" dirty="0"/>
          </a:p>
        </p:txBody>
      </p:sp>
      <p:sp>
        <p:nvSpPr>
          <p:cNvPr id="4" name="Text 2"/>
          <p:cNvSpPr txBox="1"/>
          <p:nvPr/>
        </p:nvSpPr>
        <p:spPr>
          <a:xfrm>
            <a:off x="548640" y="373761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count=8, capacity=8, copied=7</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Before append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Capacity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Existing entries copied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First value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Second value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Third value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Fifth value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8</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One append copies n existing values. Does that disprove amortized O(1)?</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Always</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analyze the complete growth sequence</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for strings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Growth class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Representative work</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One indexed read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One full scan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O(log 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Repeatedly halve candidates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O(n²)</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 full nested pair scan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Calling an append API once hides the copying it triggers. The useful primitive may be element copies, comparisons, or reference updates, not API-call count.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scan uses one accumulator. Its auxiliary space is?</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O(n) because input has n values</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O(1) beyond the input</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Equal to elapsed milliseconds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Begin at capacity two and append nine values. How many existing entries are copied?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the lesson's array-stack growth trace: identify which push crosses capacity and count the copied prefix.</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zero, one, capacity-boundary, and just-after-boundary sizes. State the case and primitive whenever comparing two bounds.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Choose input size and a primitive operation.</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Read growth bounds under a stated case.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Explain amortized append and auxiliary space.</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Generics for Reusable ADTs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13.3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Write reusable type-parameter code.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Add constraints only when operations need them.</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Pass equality or ordering policies explicitly.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count rule should work for integer IDs and decimal totals. The caller supplies the element type and the test rather than erasing all values to object.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Generics preserve a relationship between input and output types. A constraint promises a capability; a delegate passes an operation that may vary per call.</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Unconstrained T can be stored and returned. Ordering requires a suitable constraint or supplied comparer; equality and ordering are different business policies.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13.3</a:t>
            </a:r>
            <a:endParaRPr lang="en-US" sz="3600" dirty="0"/>
          </a:p>
        </p:txBody>
      </p:sp>
      <p:sp>
        <p:nvSpPr>
          <p:cNvPr id="3" name="Text 1"/>
          <p:cNvSpPr txBox="1"/>
          <p:nvPr/>
        </p:nvSpPr>
        <p:spPr>
          <a:xfrm>
            <a:off x="548640" y="1280160"/>
            <a:ext cx="11094415" cy="2846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ids = { 2, 7, 10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Console.WriteLine(Count(ids, value =&gt; value &gt;= 7));</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Console.WriteLine(Count(ids, value =&gt; value % 2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static int Count&lt;T&gt;(T[] values, Func&lt;T, bool&gt; test)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int count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foreach (T value in values) if (test(value)) count++;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return count;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430911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2</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Input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Supplied rule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Result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2, 7, 10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At least seven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2, 7, 10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Even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Empty source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Any rule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Same values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New rule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 generic algorithm rewrite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LastOr only indexes and returns an array value. What ordering constraint is needed?</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IComparable</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None</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Every type must be a class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Policy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Business meaning</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Ordering comparer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Which report key comes first?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Equality comparer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Do these identifiers match?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Func&lt;T,bool&gt;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Should this element be counted?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Converting everything to text can change numeric order and lose domain meaning. Preserve types and state the required capability instead.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Does generic List choose invoice equality for you?</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 all invoices become identical</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type safety does not choose business identity</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Yes, it always uses price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method compares values with CompareTo. What must its definition establish?</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A Generic Last Element: return the final array element or the supplied fallback without adding a constraint.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Use integer and string arrays, empty input, and singleton input. Check compile-time type relationships separately from runtime business validation.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Write reusable type-parameter code.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Add constraints only when operations need them.</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Pass equality or ordering policies explicitly.</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Iterators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13.4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Separate a sequence from a stored collection.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yield suspension and resumption.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Keep enumerations independent.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report may request only the first matching item. A lazy sequence should not visit the remaining data before that request needs it.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iterator produces values as traversal requests them. Yield return suspends a frame; it does not finish the entire sequence.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Each enumeration has its own position. A sequence can be iterable without permitting indexing, and deferred work may see later source changes.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13.4</a:t>
            </a:r>
            <a:endParaRPr lang="en-US" sz="3600" dirty="0"/>
          </a:p>
        </p:txBody>
      </p:sp>
      <p:sp>
        <p:nvSpPr>
          <p:cNvPr id="3" name="Text 1"/>
          <p:cNvSpPr txBox="1"/>
          <p:nvPr/>
        </p:nvSpPr>
        <p:spPr>
          <a:xfrm>
            <a:off x="548640" y="1280160"/>
            <a:ext cx="11094415" cy="2846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using System.Collections.Generic;</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visits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IEnumerable&lt;int&gt; Source()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for (int i = 0; i &lt; 3; i++) { visits++; yield return i;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using (var it = Source().GetEnumerator())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Console.WriteLine(visits); it.MoveNext(); Console.WriteLine($"{it.Current}:{visits}");</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430911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0:1</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Action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Source visits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Construct iterator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Obtain enumerator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First MoveNext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Stop and dispose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Remaining values not visited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What happens when yield return supplies one value?</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The method permanently exits</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Its progress is suspended until another request</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All remaining values are stored in an array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Abstraction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What is guaranteed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IEnumerable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 traversal can be requested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IEnumerator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One traversal has a current position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Array / List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Additional indexing operations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ToArray / ToList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 stored result of enumeration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Using a single shared position for all loops makes nested enumerations interfere. Separate the collection from each enumerator's progress.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Can an iterable be indexed at position ten?</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Always</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Only if the type supplies indexing too</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Never for any collection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iterator reads a list after it changes. Must it reproduce the earlier contents?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Count Down in the lesson: yield from through one; CountDown(0) yields nothing.</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zero, one, several values, early stopping, and two separate enumerations. Instrument visits to distinguish constructing a sequence from consuming it.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Separate a sequence from a stored collection.</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Trace yield suspension and resumption.</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Keep enumerations independent.</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 Data Types</dc:title>
  <dc:subject>PptxGenJS Presentation</dc:subject>
  <dc:creator>ThinkPress</dc:creator>
  <cp:lastModifiedBy>ThinkPress</cp:lastModifiedBy>
  <cp:revision>1</cp:revision>
  <dcterms:created xsi:type="dcterms:W3CDTF">2026-10-21T20:22:42Z</dcterms:created>
  <dcterms:modified xsi:type="dcterms:W3CDTF">2026-10-21T20:22:42Z</dcterms:modified>
</cp:coreProperties>
</file>